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ad0bf38-ff9e-9b9a-e542-c7b11c872cd0}">
          <p14:sldIdLst>
            <p14:sldId id="256"/>
            <p14:sldId id="257"/>
            <p14:sldId id="258"/>
            <p14:sldId id="259"/>
          </p14:sldIdLst>
        </p14:section>
        <p14:section name="Pipelines" id="{bcc490c4-36a5-018a-6e50-4970b2e83c60}">
          <p14:sldIdLst>
            <p14:sldId id="260"/>
            <p14:sldId id="261"/>
            <p14:sldId id="262"/>
            <p14:sldId id="263"/>
          </p14:sldIdLst>
        </p14:section>
        <p14:section name="Model and results" id="{7ef36da4-8f2d-7171-6e3d-d95fa58b9d4e}">
          <p14:sldIdLst>
            <p14:sldId id="264"/>
            <p14:sldId id="265"/>
          </p14:sldIdLst>
        </p14:section>
        <p14:section name="Working prototype" id="{f3c47ad9-371a-0bcc-781e-d7ea7c97a133}">
          <p14:sldIdLst>
            <p14:sldId id="266"/>
            <p14:sldId id="267"/>
          </p14:sldIdLst>
        </p14:section>
        <p14:section name="Close" id="{25a3a566-7676-4601-b008-d272aa4f77a0}">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mn-lt"/>
              </a:defRPr>
            </a:pPr>
            <a:r>
              <a:rPr sz="1400" b="0" i="0" u="none" strike="noStrike">
                <a:solidFill>
                  <a:srgbClr val="0B1F3A"/>
                </a:solidFill>
                <a:latin typeface="+mn-lt"/>
              </a:rPr>
              <a:t>MAE and RMSE (lower is better)</a:t>
            </a:r>
          </a:p>
        </c:rich>
      </c:tx>
      <c:layout/>
      <c:overlay val="0"/>
    </c:title>
    <c:autoTitleDeleted val="0"/>
    <c:plotArea>
      <c:layout/>
      <c:barChart>
        <c:barDir val="col"/>
        <c:grouping val="clustered"/>
        <c:varyColors val="0"/>
        <c:ser>
          <c:idx val="0"/>
          <c:order val="0"/>
          <c:tx>
            <c:strRef>
              <c:f>Sheet1!$B$1</c:f>
              <c:strCache>
                <c:ptCount val="1"/>
                <c:pt idx="0">
                  <c:v>Persistence baseline</c:v>
                </c:pt>
              </c:strCache>
            </c:strRef>
          </c:tx>
          <c:spPr>
            <a:solidFill>
              <a:srgbClr val="8A97A6"/>
            </a:solidFill>
            <a:effectLst/>
          </c:spPr>
          <c:invertIfNegative val="0"/>
          <c:dLbls>
            <c:numFmt formatCode="0.000" sourceLinked="0"/>
            <c:txPr>
              <a:bodyPr/>
              <a:lstStyle/>
              <a:p>
                <a:pPr>
                  <a:defRPr b="0" i="0" strike="noStrike" sz="1200" u="none">
                    <a:solidFill>
                      <a:srgbClr val="0B1F3A"/>
                    </a:solidFill>
                    <a:latin typeface="+mn-lt"/>
                  </a:defRPr>
                </a:pPr>
              </a:p>
            </c:txPr>
            <c:showLegendKey val="0"/>
            <c:showVal val="1"/>
            <c:showCatName val="0"/>
            <c:showSerName val="0"/>
            <c:showPercent val="0"/>
            <c:showBubbleSize val="0"/>
            <c:showLeaderLines val="0"/>
          </c:dLbls>
          <c:cat>
            <c:multiLvlStrRef>
              <c:f>Sheet1!$A$2:$A$3</c:f>
              <c:multiLvlStrCache>
                <c:ptCount val="2"/>
                <c:lvl>
                  <c:pt idx="0">
                    <c:v>MAE</c:v>
                  </c:pt>
                  <c:pt idx="1">
                    <c:v>RMSE</c:v>
                  </c:pt>
                </c:lvl>
              </c:multiLvlStrCache>
            </c:multiLvlStrRef>
          </c:cat>
          <c:val>
            <c:numRef>
              <c:f>Sheet1!$B$2:$B$3</c:f>
              <c:numCache>
                <c:formatCode>General</c:formatCode>
                <c:ptCount val="2"/>
                <c:pt idx="0">
                  <c:v>33.474</c:v>
                </c:pt>
                <c:pt idx="1">
                  <c:v>46.229</c:v>
                </c:pt>
              </c:numCache>
            </c:numRef>
          </c:val>
        </c:ser>
        <c:ser>
          <c:idx val="1"/>
          <c:order val="1"/>
          <c:tx>
            <c:strRef>
              <c:f>Sheet1!$C$1</c:f>
              <c:strCache>
                <c:ptCount val="1"/>
                <c:pt idx="0">
                  <c:v>HistGradientBoostingRegressor</c:v>
                </c:pt>
              </c:strCache>
            </c:strRef>
          </c:tx>
          <c:spPr>
            <a:solidFill>
              <a:srgbClr val="0E8C9A"/>
            </a:solidFill>
            <a:effectLst/>
          </c:spPr>
          <c:invertIfNegative val="0"/>
          <c:dLbls>
            <c:numFmt formatCode="0.000" sourceLinked="0"/>
            <c:txPr>
              <a:bodyPr/>
              <a:lstStyle/>
              <a:p>
                <a:pPr>
                  <a:defRPr b="0" i="0" strike="noStrike" sz="1200" u="none">
                    <a:solidFill>
                      <a:srgbClr val="0B1F3A"/>
                    </a:solidFill>
                    <a:latin typeface="+mn-lt"/>
                  </a:defRPr>
                </a:pPr>
              </a:p>
            </c:txPr>
            <c:showLegendKey val="0"/>
            <c:showVal val="1"/>
            <c:showCatName val="0"/>
            <c:showSerName val="0"/>
            <c:showPercent val="0"/>
            <c:showBubbleSize val="0"/>
            <c:showLeaderLines val="0"/>
          </c:dLbls>
          <c:cat>
            <c:multiLvlStrRef>
              <c:f>Sheet1!$A$2:$A$3</c:f>
              <c:multiLvlStrCache>
                <c:ptCount val="2"/>
                <c:lvl>
                  <c:pt idx="0">
                    <c:v>MAE</c:v>
                  </c:pt>
                  <c:pt idx="1">
                    <c:v>RMSE</c:v>
                  </c:pt>
                </c:lvl>
              </c:multiLvlStrCache>
            </c:multiLvlStrRef>
          </c:cat>
          <c:val>
            <c:numRef>
              <c:f>Sheet1!$C$2:$C$3</c:f>
              <c:numCache>
                <c:formatCode>General</c:formatCode>
                <c:ptCount val="2"/>
                <c:pt idx="0">
                  <c:v>30.234</c:v>
                </c:pt>
                <c:pt idx="1">
                  <c:v>39.879</c:v>
                </c:pt>
              </c:numCache>
            </c:numRef>
          </c:val>
        </c:ser>
        <c:dLbls>
          <c:numFmt formatCode="0.000" sourceLinked="0"/>
          <c:txPr>
            <a:bodyPr/>
            <a:lstStyle/>
            <a:p>
              <a:pPr>
                <a:defRPr b="0" i="0" strike="noStrike" sz="1200" u="none">
                  <a:solidFill>
                    <a:srgbClr val="0B1F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B1F3A"/>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9525" cap="flat">
              <a:solidFill>
                <a:srgbClr val="E3E9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33B4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Emphasise that this is an experimental proof of concept built on historical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the broader Digital Twin vision from what is actually implemented in this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of the prototype, from data quality through to dashboard visualization.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EHR CSV files were processed with zero processing failures in the recorded run. The two datasets are separate; no individual-level mapping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EHR CSV files go through inspection and preprocessing and end as quality reports. This pipeline is independent of the wearable forecasting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Wearable glucose data is inspected, cleaned and turned into forecasting features. The sampling interval is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24-step shift at five-minute sampling corresponds to a 120-minute prediction horizon. The target is the label and is excluded from the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Rebuilt from the System Architecture document. The EHR pipeline does not feed the forecasting model. The wearable chain runs from data through features and the model to the Flask API and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model in simple terms and why a persistence baseline is a fair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recorded values: baseline MAE 33.474, RMSE 46.229, R2 0.1376; model MAE 30.234, RMSE 39.879, R2 0.3583. The MAE is approximately 9.7%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screenshots are from the actual dashboard and show participant HUPA0015P. This example is separate from the HUPA0001P API example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root page lists the history, participants and prediction endpoints and reports status running. The recorded response for HUPA0001P is a historical-dataset example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the limits of the prototype and what further work would be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four implemented components and repeat the disclaimer. Share the repository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25880"/>
            <a:ext cx="6766560" cy="21945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txBox="1"/>
          <p:nvPr/>
        </p:nvSpPr>
        <p:spPr>
          <a:xfrm>
            <a:off x="457200" y="6446520"/>
            <a:ext cx="5943600" cy="274320"/>
          </a:xfrm>
          <a:prstGeom prst="rect">
            <a:avLst/>
          </a:prstGeom>
          <a:noFill/>
          <a:ln/>
        </p:spPr>
        <p:txBody>
          <a:bodyPr wrap="square" lIns="0" tIns="0" rIns="0" bIns="0" rtlCol="0" anchor="ctr"/>
          <a:lstStyle/>
          <a:p>
            <a:pPr indent="0" marL="0">
              <a:buNone/>
            </a:pPr>
            <a:r>
              <a:rPr lang="en-US" sz="1100" dirty="0">
                <a:solidFill>
                  <a:schemeClr val="accent4"/>
                </a:solidFill>
              </a:rPr>
              <a:t>Transcendental-Coders  |  Happiest Health Digital Twin Challenge 2026</a:t>
            </a:r>
            <a:endParaRPr lang="en-US" sz="1100" dirty="0"/>
          </a:p>
        </p:txBody>
      </p:sp>
      <p:sp>
        <p:nvSpPr>
          <p:cNvPr id="4" name="Text 1"/>
          <p:cNvSpPr txBox="1"/>
          <p:nvPr/>
        </p:nvSpPr>
        <p:spPr>
          <a:xfrm>
            <a:off x="6400800" y="6446520"/>
            <a:ext cx="4206240" cy="274320"/>
          </a:xfrm>
          <a:prstGeom prst="rect">
            <a:avLst/>
          </a:prstGeom>
          <a:noFill/>
          <a:ln/>
        </p:spPr>
        <p:txBody>
          <a:bodyPr wrap="square" lIns="0" tIns="0" rIns="0" bIns="0" rtlCol="0" anchor="ctr"/>
          <a:lstStyle/>
          <a:p>
            <a:pPr algn="r" indent="0" marL="0">
              <a:buNone/>
            </a:pPr>
            <a:r>
              <a:rPr lang="en-US" sz="1100" b="1" dirty="0">
                <a:solidFill>
                  <a:schemeClr val="accent3"/>
                </a:solidFill>
              </a:rPr>
              <a:t>Experimental prototype - not clinically validated</a:t>
            </a:r>
            <a:endParaRPr lang="en-US" sz="1100" dirty="0"/>
          </a:p>
        </p:txBody>
      </p:sp>
      <p:sp>
        <p:nvSpPr>
          <p:cNvPr id="25" name="Slide Number Placeholder 0"/>
          <p:cNvSpPr>
            <a:spLocks noGrp="1"/>
          </p:cNvSpPr>
          <p:nvPr>
            <p:ph type="sldNum" sz="quarter" idx="4294967295"/>
          </p:nvPr>
        </p:nvSpPr>
        <p:spPr>
          <a:xfrm>
            <a:off x="10972800" y="6446520"/>
            <a:ext cx="75895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46520"/>
            <a:ext cx="75895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5" Type="http://schemas.openxmlformats.org/officeDocument/2006/relationships/hyperlink" Target="https://github.com/shubhampanchal6376/digital-twin" TargetMode="External"/><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777240"/>
            <a:ext cx="7315200" cy="320040"/>
          </a:xfrm>
          <a:prstGeom prst="rect">
            <a:avLst/>
          </a:prstGeom>
          <a:noFill/>
          <a:ln/>
        </p:spPr>
        <p:txBody>
          <a:bodyPr wrap="square" lIns="0" tIns="0" rIns="0" bIns="0" rtlCol="0" anchor="t"/>
          <a:lstStyle/>
          <a:p>
            <a:pPr indent="0" marL="0">
              <a:buNone/>
            </a:pPr>
            <a:r>
              <a:rPr lang="en-US" sz="1400" b="1" spc="200" kern="0" dirty="0">
                <a:solidFill>
                  <a:srgbClr val="7FD6DE"/>
                </a:solidFill>
              </a:rPr>
              <a:t>HAPPIEST HEALTH DIGITAL TWIN CHALLENGE 2026</a:t>
            </a:r>
            <a:endParaRPr lang="en-US" sz="1400" dirty="0"/>
          </a:p>
        </p:txBody>
      </p:sp>
      <p:sp>
        <p:nvSpPr>
          <p:cNvPr id="3" name="Text 0"/>
          <p:cNvSpPr/>
          <p:nvPr>
            <p:ph idx="100" type="title" hasCustomPrompt="1"/>
          </p:nvPr>
        </p:nvSpPr>
        <p:spPr>
          <a:xfrm>
            <a:off x="731520" y="1325880"/>
            <a:ext cx="6766560" cy="2194560"/>
          </a:xfrm>
          <a:prstGeom prst="rect">
            <a:avLst/>
          </a:prstGeom>
          <a:noFill/>
          <a:ln/>
        </p:spPr>
        <p:txBody>
          <a:bodyPr wrap="square" lIns="0" tIns="0" rIns="0" bIns="0" rtlCol="0" anchor="t"/>
          <a:lstStyle/>
          <a:p>
            <a:pPr algn="l" indent="0" marL="0">
              <a:buNone/>
            </a:pPr>
            <a:r>
              <a:rPr lang="en-US" sz="4000" b="1" dirty="0">
                <a:solidFill>
                  <a:schemeClr val="bg1"/>
                </a:solidFill>
              </a:rPr>
              <a:t>AI-Based Digital Twin Prototype for Two-Hour Glucose Forecasting</a:t>
            </a:r>
            <a:endParaRPr lang="en-US" sz="4000" dirty="0"/>
          </a:p>
        </p:txBody>
      </p:sp>
      <p:sp>
        <p:nvSpPr>
          <p:cNvPr id="4" name="Text 2"/>
          <p:cNvSpPr txBox="1"/>
          <p:nvPr/>
        </p:nvSpPr>
        <p:spPr>
          <a:xfrm>
            <a:off x="731520" y="3429000"/>
            <a:ext cx="6766560" cy="365760"/>
          </a:xfrm>
          <a:prstGeom prst="rect">
            <a:avLst/>
          </a:prstGeom>
          <a:noFill/>
          <a:ln/>
        </p:spPr>
        <p:txBody>
          <a:bodyPr wrap="square" lIns="0" tIns="0" rIns="0" bIns="0" rtlCol="0" anchor="t"/>
          <a:lstStyle/>
          <a:p>
            <a:pPr indent="0" marL="0">
              <a:buNone/>
            </a:pPr>
            <a:r>
              <a:rPr lang="en-US" sz="1800" dirty="0">
                <a:solidFill>
                  <a:srgbClr val="CADCFC"/>
                </a:solidFill>
              </a:rPr>
              <a:t>An experimental glucose forecasting proof of concept</a:t>
            </a:r>
            <a:endParaRPr lang="en-US" sz="1800" dirty="0"/>
          </a:p>
        </p:txBody>
      </p:sp>
      <p:sp>
        <p:nvSpPr>
          <p:cNvPr id="5" name="Text 3"/>
          <p:cNvSpPr txBox="1"/>
          <p:nvPr/>
        </p:nvSpPr>
        <p:spPr>
          <a:xfrm>
            <a:off x="731520" y="4069080"/>
            <a:ext cx="1554480" cy="365760"/>
          </a:xfrm>
          <a:prstGeom prst="rect">
            <a:avLst/>
          </a:prstGeom>
          <a:noFill/>
          <a:ln/>
        </p:spPr>
        <p:txBody>
          <a:bodyPr wrap="square" lIns="0" tIns="0" rIns="0" bIns="0" rtlCol="0" anchor="ctr"/>
          <a:lstStyle/>
          <a:p>
            <a:pPr indent="0" marL="0">
              <a:buNone/>
            </a:pPr>
            <a:r>
              <a:rPr lang="en-US" sz="1200" b="1" spc="100" kern="0" dirty="0">
                <a:solidFill>
                  <a:srgbClr val="7FD6DE"/>
                </a:solidFill>
              </a:rPr>
              <a:t>TEAM</a:t>
            </a:r>
            <a:endParaRPr lang="en-US" sz="1200" dirty="0"/>
          </a:p>
        </p:txBody>
      </p:sp>
      <p:sp>
        <p:nvSpPr>
          <p:cNvPr id="6" name="Text 4"/>
          <p:cNvSpPr txBox="1"/>
          <p:nvPr/>
        </p:nvSpPr>
        <p:spPr>
          <a:xfrm>
            <a:off x="2286000" y="4069080"/>
            <a:ext cx="5852160" cy="365760"/>
          </a:xfrm>
          <a:prstGeom prst="rect">
            <a:avLst/>
          </a:prstGeom>
          <a:noFill/>
          <a:ln/>
        </p:spPr>
        <p:txBody>
          <a:bodyPr wrap="square" lIns="0" tIns="0" rIns="0" bIns="0" rtlCol="0" anchor="ctr"/>
          <a:lstStyle/>
          <a:p>
            <a:pPr indent="0" marL="0">
              <a:buNone/>
            </a:pPr>
            <a:r>
              <a:rPr lang="en-US" sz="1600" dirty="0">
                <a:solidFill>
                  <a:schemeClr val="bg1"/>
                </a:solidFill>
              </a:rPr>
              <a:t>Transcendental-Coders</a:t>
            </a:r>
            <a:endParaRPr lang="en-US" sz="1600" dirty="0"/>
          </a:p>
        </p:txBody>
      </p:sp>
      <p:sp>
        <p:nvSpPr>
          <p:cNvPr id="7" name="Text 5"/>
          <p:cNvSpPr txBox="1"/>
          <p:nvPr/>
        </p:nvSpPr>
        <p:spPr>
          <a:xfrm>
            <a:off x="731520" y="4526280"/>
            <a:ext cx="1554480" cy="365760"/>
          </a:xfrm>
          <a:prstGeom prst="rect">
            <a:avLst/>
          </a:prstGeom>
          <a:noFill/>
          <a:ln/>
        </p:spPr>
        <p:txBody>
          <a:bodyPr wrap="square" lIns="0" tIns="0" rIns="0" bIns="0" rtlCol="0" anchor="ctr"/>
          <a:lstStyle/>
          <a:p>
            <a:pPr indent="0" marL="0">
              <a:buNone/>
            </a:pPr>
            <a:r>
              <a:rPr lang="en-US" sz="1200" b="1" spc="100" kern="0" dirty="0">
                <a:solidFill>
                  <a:srgbClr val="7FD6DE"/>
                </a:solidFill>
              </a:rPr>
              <a:t>TEAM LEADER</a:t>
            </a:r>
            <a:endParaRPr lang="en-US" sz="1200" dirty="0"/>
          </a:p>
        </p:txBody>
      </p:sp>
      <p:sp>
        <p:nvSpPr>
          <p:cNvPr id="8" name="Text 6"/>
          <p:cNvSpPr txBox="1"/>
          <p:nvPr/>
        </p:nvSpPr>
        <p:spPr>
          <a:xfrm>
            <a:off x="2286000" y="4526280"/>
            <a:ext cx="5852160" cy="365760"/>
          </a:xfrm>
          <a:prstGeom prst="rect">
            <a:avLst/>
          </a:prstGeom>
          <a:noFill/>
          <a:ln/>
        </p:spPr>
        <p:txBody>
          <a:bodyPr wrap="square" lIns="0" tIns="0" rIns="0" bIns="0" rtlCol="0" anchor="ctr"/>
          <a:lstStyle/>
          <a:p>
            <a:pPr indent="0" marL="0">
              <a:buNone/>
            </a:pPr>
            <a:r>
              <a:rPr lang="en-US" sz="1600" b="1" dirty="0">
                <a:solidFill>
                  <a:schemeClr val="bg1"/>
                </a:solidFill>
              </a:rPr>
              <a:t>Madhav Kumar</a:t>
            </a:r>
            <a:endParaRPr lang="en-US" sz="1600" dirty="0"/>
          </a:p>
        </p:txBody>
      </p:sp>
      <p:sp>
        <p:nvSpPr>
          <p:cNvPr id="9" name="Text 7"/>
          <p:cNvSpPr txBox="1"/>
          <p:nvPr/>
        </p:nvSpPr>
        <p:spPr>
          <a:xfrm>
            <a:off x="731520" y="4983480"/>
            <a:ext cx="1554480" cy="365760"/>
          </a:xfrm>
          <a:prstGeom prst="rect">
            <a:avLst/>
          </a:prstGeom>
          <a:noFill/>
          <a:ln/>
        </p:spPr>
        <p:txBody>
          <a:bodyPr wrap="square" lIns="0" tIns="0" rIns="0" bIns="0" rtlCol="0" anchor="ctr"/>
          <a:lstStyle/>
          <a:p>
            <a:pPr indent="0" marL="0">
              <a:buNone/>
            </a:pPr>
            <a:r>
              <a:rPr lang="en-US" sz="1200" b="1" spc="100" kern="0" dirty="0">
                <a:solidFill>
                  <a:srgbClr val="7FD6DE"/>
                </a:solidFill>
              </a:rPr>
              <a:t>MEMBERS</a:t>
            </a:r>
            <a:endParaRPr lang="en-US" sz="1200" dirty="0"/>
          </a:p>
        </p:txBody>
      </p:sp>
      <p:sp>
        <p:nvSpPr>
          <p:cNvPr id="10" name="Text 8"/>
          <p:cNvSpPr txBox="1"/>
          <p:nvPr/>
        </p:nvSpPr>
        <p:spPr>
          <a:xfrm>
            <a:off x="2286000" y="4983480"/>
            <a:ext cx="5852160" cy="365760"/>
          </a:xfrm>
          <a:prstGeom prst="rect">
            <a:avLst/>
          </a:prstGeom>
          <a:noFill/>
          <a:ln/>
        </p:spPr>
        <p:txBody>
          <a:bodyPr wrap="square" lIns="0" tIns="0" rIns="0" bIns="0" rtlCol="0" anchor="ctr"/>
          <a:lstStyle/>
          <a:p>
            <a:pPr indent="0" marL="0">
              <a:buNone/>
            </a:pPr>
            <a:r>
              <a:rPr lang="en-US" sz="1600" dirty="0">
                <a:solidFill>
                  <a:schemeClr val="bg1"/>
                </a:solidFill>
              </a:rPr>
              <a:t>Madhav Kumar, Sunny Kumar, Shubham Panchal</a:t>
            </a:r>
            <a:endParaRPr lang="en-US" sz="1600" dirty="0"/>
          </a:p>
        </p:txBody>
      </p:sp>
      <p:sp>
        <p:nvSpPr>
          <p:cNvPr id="11" name="Text 9"/>
          <p:cNvSpPr txBox="1"/>
          <p:nvPr/>
        </p:nvSpPr>
        <p:spPr>
          <a:xfrm>
            <a:off x="731520" y="5440680"/>
            <a:ext cx="1554480" cy="365760"/>
          </a:xfrm>
          <a:prstGeom prst="rect">
            <a:avLst/>
          </a:prstGeom>
          <a:noFill/>
          <a:ln/>
        </p:spPr>
        <p:txBody>
          <a:bodyPr wrap="square" lIns="0" tIns="0" rIns="0" bIns="0" rtlCol="0" anchor="ctr"/>
          <a:lstStyle/>
          <a:p>
            <a:pPr indent="0" marL="0">
              <a:buNone/>
            </a:pPr>
            <a:r>
              <a:rPr lang="en-US" sz="1200" b="1" spc="100" kern="0" dirty="0">
                <a:solidFill>
                  <a:srgbClr val="7FD6DE"/>
                </a:solidFill>
              </a:rPr>
              <a:t>COLLEGE</a:t>
            </a:r>
            <a:endParaRPr lang="en-US" sz="1200" dirty="0"/>
          </a:p>
        </p:txBody>
      </p:sp>
      <p:sp>
        <p:nvSpPr>
          <p:cNvPr id="12" name="Text 10"/>
          <p:cNvSpPr txBox="1"/>
          <p:nvPr/>
        </p:nvSpPr>
        <p:spPr>
          <a:xfrm>
            <a:off x="2286000" y="5440680"/>
            <a:ext cx="5852160" cy="365760"/>
          </a:xfrm>
          <a:prstGeom prst="rect">
            <a:avLst/>
          </a:prstGeom>
          <a:noFill/>
          <a:ln/>
        </p:spPr>
        <p:txBody>
          <a:bodyPr wrap="square" lIns="0" tIns="0" rIns="0" bIns="0" rtlCol="0" anchor="ctr"/>
          <a:lstStyle/>
          <a:p>
            <a:pPr indent="0" marL="0">
              <a:buNone/>
            </a:pPr>
            <a:r>
              <a:rPr lang="en-US" sz="1600" dirty="0">
                <a:solidFill>
                  <a:schemeClr val="bg1"/>
                </a:solidFill>
              </a:rPr>
              <a:t>Kamla Nehru Institute of Technology</a:t>
            </a:r>
            <a:endParaRPr lang="en-US" sz="1600" dirty="0"/>
          </a:p>
        </p:txBody>
      </p:sp>
      <p:sp>
        <p:nvSpPr>
          <p:cNvPr id="13" name="Text 11"/>
          <p:cNvSpPr txBox="1"/>
          <p:nvPr/>
        </p:nvSpPr>
        <p:spPr>
          <a:xfrm>
            <a:off x="731520" y="5897880"/>
            <a:ext cx="1554480" cy="365760"/>
          </a:xfrm>
          <a:prstGeom prst="rect">
            <a:avLst/>
          </a:prstGeom>
          <a:noFill/>
          <a:ln/>
        </p:spPr>
        <p:txBody>
          <a:bodyPr wrap="square" lIns="0" tIns="0" rIns="0" bIns="0" rtlCol="0" anchor="ctr"/>
          <a:lstStyle/>
          <a:p>
            <a:pPr indent="0" marL="0">
              <a:buNone/>
            </a:pPr>
            <a:r>
              <a:rPr lang="en-US" sz="1200" b="1" spc="100" kern="0" dirty="0">
                <a:solidFill>
                  <a:srgbClr val="7FD6DE"/>
                </a:solidFill>
              </a:rPr>
              <a:t>INCUBATOR</a:t>
            </a:r>
            <a:endParaRPr lang="en-US" sz="1200" dirty="0"/>
          </a:p>
        </p:txBody>
      </p:sp>
      <p:sp>
        <p:nvSpPr>
          <p:cNvPr id="14" name="Text 12"/>
          <p:cNvSpPr txBox="1"/>
          <p:nvPr/>
        </p:nvSpPr>
        <p:spPr>
          <a:xfrm>
            <a:off x="2286000" y="5897880"/>
            <a:ext cx="5852160" cy="365760"/>
          </a:xfrm>
          <a:prstGeom prst="rect">
            <a:avLst/>
          </a:prstGeom>
          <a:noFill/>
          <a:ln/>
        </p:spPr>
        <p:txBody>
          <a:bodyPr wrap="square" lIns="0" tIns="0" rIns="0" bIns="0" rtlCol="0" anchor="ctr"/>
          <a:lstStyle/>
          <a:p>
            <a:pPr indent="0" marL="0">
              <a:buNone/>
            </a:pPr>
            <a:r>
              <a:rPr lang="en-US" sz="1600" dirty="0">
                <a:solidFill>
                  <a:schemeClr val="bg1"/>
                </a:solidFill>
              </a:rPr>
              <a:t>N/A</a:t>
            </a:r>
            <a:endParaRPr lang="en-US" sz="1600" dirty="0"/>
          </a:p>
        </p:txBody>
      </p:sp>
      <p:sp>
        <p:nvSpPr>
          <p:cNvPr id="15" name="ring-outer"/>
          <p:cNvSpPr/>
          <p:nvPr/>
        </p:nvSpPr>
        <p:spPr>
          <a:xfrm>
            <a:off x="8001000" y="1097280"/>
            <a:ext cx="3749040" cy="3749040"/>
          </a:xfrm>
          <a:prstGeom prst="ellipse">
            <a:avLst/>
          </a:prstGeom>
          <a:ln w="19050">
            <a:solidFill>
              <a:schemeClr val="accent1">
                <a:alpha val="60000"/>
              </a:schemeClr>
            </a:solidFill>
            <a:prstDash val="solid"/>
          </a:ln>
        </p:spPr>
      </p:sp>
      <p:sp>
        <p:nvSpPr>
          <p:cNvPr id="16" name="ring-mid"/>
          <p:cNvSpPr/>
          <p:nvPr/>
        </p:nvSpPr>
        <p:spPr>
          <a:xfrm>
            <a:off x="8503920" y="1600200"/>
            <a:ext cx="2743200" cy="2743200"/>
          </a:xfrm>
          <a:prstGeom prst="ellipse">
            <a:avLst/>
          </a:prstGeom>
          <a:ln w="19050">
            <a:solidFill>
              <a:schemeClr val="accent1">
                <a:alpha val="80000"/>
              </a:schemeClr>
            </a:solidFill>
            <a:prstDash val="solid"/>
          </a:ln>
        </p:spPr>
      </p:sp>
      <p:sp>
        <p:nvSpPr>
          <p:cNvPr id="17" name="ring-core"/>
          <p:cNvSpPr/>
          <p:nvPr/>
        </p:nvSpPr>
        <p:spPr>
          <a:xfrm>
            <a:off x="9006840" y="2103120"/>
            <a:ext cx="1737360" cy="1737360"/>
          </a:xfrm>
          <a:prstGeom prst="ellipse">
            <a:avLst/>
          </a:prstGeom>
          <a:solidFill>
            <a:schemeClr val="accent1"/>
          </a:solidFill>
          <a:ln w="12700">
            <a:solidFill>
              <a:schemeClr val="accent1"/>
            </a:solidFill>
            <a:prstDash val="solid"/>
          </a:ln>
        </p:spPr>
      </p:sp>
      <p:pic>
        <p:nvPicPr>
          <p:cNvPr id="18" name="Image 0" descr="Heartbeat icon">    </p:cNvPr>
          <p:cNvPicPr>
            <a:picLocks noChangeAspect="1"/>
          </p:cNvPicPr>
          <p:nvPr/>
        </p:nvPicPr>
        <p:blipFill>
          <a:blip r:embed="rId1"/>
          <a:stretch>
            <a:fillRect/>
          </a:stretch>
        </p:blipFill>
        <p:spPr>
          <a:xfrm>
            <a:off x="9509760" y="2606040"/>
            <a:ext cx="731520" cy="731520"/>
          </a:xfrm>
          <a:prstGeom prst="rect">
            <a:avLst/>
          </a:prstGeom>
        </p:spPr>
      </p:pic>
      <p:sp>
        <p:nvSpPr>
          <p:cNvPr id="19" name="card"/>
          <p:cNvSpPr/>
          <p:nvPr/>
        </p:nvSpPr>
        <p:spPr>
          <a:xfrm>
            <a:off x="7818120" y="5257800"/>
            <a:ext cx="3931920" cy="777240"/>
          </a:xfrm>
          <a:prstGeom prst="roundRect">
            <a:avLst>
              <a:gd name="adj" fmla="val 11765"/>
            </a:avLst>
          </a:prstGeom>
          <a:solidFill>
            <a:schemeClr val="accent3">
              <a:alpha val="20000"/>
            </a:schemeClr>
          </a:solidFill>
          <a:ln w="15875">
            <a:solidFill>
              <a:schemeClr val="accent3"/>
            </a:solidFill>
            <a:prstDash val="solid"/>
          </a:ln>
        </p:spPr>
      </p:sp>
      <p:sp>
        <p:nvSpPr>
          <p:cNvPr id="20" name="Text 17"/>
          <p:cNvSpPr txBox="1"/>
          <p:nvPr/>
        </p:nvSpPr>
        <p:spPr>
          <a:xfrm>
            <a:off x="7955280" y="5257800"/>
            <a:ext cx="3657600" cy="777240"/>
          </a:xfrm>
          <a:prstGeom prst="rect">
            <a:avLst/>
          </a:prstGeom>
          <a:noFill/>
          <a:ln/>
        </p:spPr>
        <p:txBody>
          <a:bodyPr wrap="square" lIns="0" tIns="0" rIns="0" bIns="0" rtlCol="0" anchor="ctr"/>
          <a:lstStyle/>
          <a:p>
            <a:pPr indent="0" marL="0">
              <a:buNone/>
            </a:pPr>
            <a:r>
              <a:rPr lang="en-US" sz="1300" b="1" dirty="0">
                <a:solidFill>
                  <a:schemeClr val="bg1"/>
                </a:solidFill>
              </a:rPr>
              <a:t>Experimental prototype - not clinically validated. Based on historical datasets.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ctr"/>
          <a:lstStyle/>
          <a:p>
            <a:pPr algn="l" indent="0" marL="0">
              <a:buNone/>
            </a:pPr>
            <a:r>
              <a:rPr lang="en-US" sz="3200" b="1" dirty="0">
                <a:solidFill>
                  <a:schemeClr val="tx1"/>
                </a:solidFill>
              </a:rPr>
              <a:t>The challenge: making sense of historical health data</a:t>
            </a:r>
            <a:endParaRPr lang="en-US" sz="3200" dirty="0"/>
          </a:p>
        </p:txBody>
      </p:sp>
      <p:sp>
        <p:nvSpPr>
          <p:cNvPr id="3" name="card"/>
          <p:cNvSpPr/>
          <p:nvPr/>
        </p:nvSpPr>
        <p:spPr>
          <a:xfrm>
            <a:off x="457200" y="1280160"/>
            <a:ext cx="5394960" cy="1371600"/>
          </a:xfrm>
          <a:prstGeom prst="roundRect">
            <a:avLst>
              <a:gd name="adj" fmla="val 6667"/>
            </a:avLst>
          </a:prstGeom>
          <a:solidFill>
            <a:schemeClr val="bg2"/>
          </a:solidFill>
          <a:ln w="12700">
            <a:solidFill>
              <a:schemeClr val="bg1"/>
            </a:solidFill>
            <a:prstDash val="solid"/>
          </a:ln>
        </p:spPr>
      </p:sp>
      <p:sp>
        <p:nvSpPr>
          <p:cNvPr id="4" name="icon-circle"/>
          <p:cNvSpPr/>
          <p:nvPr/>
        </p:nvSpPr>
        <p:spPr>
          <a:xfrm>
            <a:off x="640080" y="1682496"/>
            <a:ext cx="566928" cy="566928"/>
          </a:xfrm>
          <a:prstGeom prst="ellipse">
            <a:avLst/>
          </a:prstGeom>
          <a:solidFill>
            <a:schemeClr val="accent1"/>
          </a:solidFill>
          <a:ln w="12700">
            <a:solidFill>
              <a:schemeClr val="accent1"/>
            </a:solidFill>
            <a:prstDash val="solid"/>
          </a:ln>
        </p:spPr>
      </p:sp>
      <p:pic>
        <p:nvPicPr>
          <p:cNvPr id="5" name="Image 0" descr="FileMedical icon">    </p:cNvPr>
          <p:cNvPicPr>
            <a:picLocks noChangeAspect="1"/>
          </p:cNvPicPr>
          <p:nvPr/>
        </p:nvPicPr>
        <p:blipFill>
          <a:blip r:embed="rId1"/>
          <a:stretch>
            <a:fillRect/>
          </a:stretch>
        </p:blipFill>
        <p:spPr>
          <a:xfrm>
            <a:off x="781812" y="1824228"/>
            <a:ext cx="283464" cy="283464"/>
          </a:xfrm>
          <a:prstGeom prst="rect">
            <a:avLst/>
          </a:prstGeom>
        </p:spPr>
      </p:pic>
      <p:sp>
        <p:nvSpPr>
          <p:cNvPr id="6" name="Text 3"/>
          <p:cNvSpPr txBox="1"/>
          <p:nvPr/>
        </p:nvSpPr>
        <p:spPr>
          <a:xfrm>
            <a:off x="1417320" y="1444752"/>
            <a:ext cx="4297680" cy="365760"/>
          </a:xfrm>
          <a:prstGeom prst="rect">
            <a:avLst/>
          </a:prstGeom>
          <a:noFill/>
          <a:ln/>
        </p:spPr>
        <p:txBody>
          <a:bodyPr wrap="square" lIns="0" tIns="0" rIns="0" bIns="0" rtlCol="0" anchor="t"/>
          <a:lstStyle/>
          <a:p>
            <a:pPr indent="0" marL="0">
              <a:buNone/>
            </a:pPr>
            <a:r>
              <a:rPr lang="en-US" sz="1800" b="1" dirty="0">
                <a:solidFill>
                  <a:schemeClr val="tx1"/>
                </a:solidFill>
              </a:rPr>
              <a:t>Health records arrive as many files</a:t>
            </a:r>
            <a:endParaRPr lang="en-US" sz="1800" dirty="0"/>
          </a:p>
        </p:txBody>
      </p:sp>
      <p:sp>
        <p:nvSpPr>
          <p:cNvPr id="7" name="Text 4"/>
          <p:cNvSpPr txBox="1"/>
          <p:nvPr/>
        </p:nvSpPr>
        <p:spPr>
          <a:xfrm>
            <a:off x="1417320" y="1828800"/>
            <a:ext cx="4251960" cy="731520"/>
          </a:xfrm>
          <a:prstGeom prst="rect">
            <a:avLst/>
          </a:prstGeom>
          <a:noFill/>
          <a:ln/>
        </p:spPr>
        <p:txBody>
          <a:bodyPr wrap="square" lIns="0" tIns="0" rIns="0" bIns="0" rtlCol="0" anchor="t"/>
          <a:lstStyle/>
          <a:p>
            <a:pPr indent="0" marL="0">
              <a:buNone/>
            </a:pPr>
            <a:r>
              <a:rPr lang="en-US" sz="1400" dirty="0">
                <a:solidFill>
                  <a:schemeClr val="tx2"/>
                </a:solidFill>
              </a:rPr>
              <a:t>EHR data comes as CSV files that must be inspected for missing values and duplicates.</a:t>
            </a:r>
            <a:endParaRPr lang="en-US" sz="1400" dirty="0"/>
          </a:p>
        </p:txBody>
      </p:sp>
      <p:sp>
        <p:nvSpPr>
          <p:cNvPr id="8" name="card"/>
          <p:cNvSpPr/>
          <p:nvPr/>
        </p:nvSpPr>
        <p:spPr>
          <a:xfrm>
            <a:off x="457200" y="2834640"/>
            <a:ext cx="5394960" cy="1371600"/>
          </a:xfrm>
          <a:prstGeom prst="roundRect">
            <a:avLst>
              <a:gd name="adj" fmla="val 6667"/>
            </a:avLst>
          </a:prstGeom>
          <a:solidFill>
            <a:schemeClr val="bg2"/>
          </a:solidFill>
          <a:ln w="12700">
            <a:solidFill>
              <a:schemeClr val="bg1"/>
            </a:solidFill>
            <a:prstDash val="solid"/>
          </a:ln>
        </p:spPr>
      </p:sp>
      <p:sp>
        <p:nvSpPr>
          <p:cNvPr id="9" name="icon-circle"/>
          <p:cNvSpPr/>
          <p:nvPr/>
        </p:nvSpPr>
        <p:spPr>
          <a:xfrm>
            <a:off x="640080" y="3236976"/>
            <a:ext cx="566928" cy="566928"/>
          </a:xfrm>
          <a:prstGeom prst="ellipse">
            <a:avLst/>
          </a:prstGeom>
          <a:solidFill>
            <a:schemeClr val="accent1"/>
          </a:solidFill>
          <a:ln w="12700">
            <a:solidFill>
              <a:schemeClr val="accent1"/>
            </a:solidFill>
            <a:prstDash val="solid"/>
          </a:ln>
        </p:spPr>
      </p:sp>
      <p:pic>
        <p:nvPicPr>
          <p:cNvPr id="10" name="Image 1" descr="Heartbeat icon">    </p:cNvPr>
          <p:cNvPicPr>
            <a:picLocks noChangeAspect="1"/>
          </p:cNvPicPr>
          <p:nvPr/>
        </p:nvPicPr>
        <p:blipFill>
          <a:blip r:embed="rId2"/>
          <a:stretch>
            <a:fillRect/>
          </a:stretch>
        </p:blipFill>
        <p:spPr>
          <a:xfrm>
            <a:off x="781812" y="3378708"/>
            <a:ext cx="283464" cy="283464"/>
          </a:xfrm>
          <a:prstGeom prst="rect">
            <a:avLst/>
          </a:prstGeom>
        </p:spPr>
      </p:pic>
      <p:sp>
        <p:nvSpPr>
          <p:cNvPr id="11" name="Text 7"/>
          <p:cNvSpPr txBox="1"/>
          <p:nvPr/>
        </p:nvSpPr>
        <p:spPr>
          <a:xfrm>
            <a:off x="1417320" y="2999232"/>
            <a:ext cx="4297680" cy="365760"/>
          </a:xfrm>
          <a:prstGeom prst="rect">
            <a:avLst/>
          </a:prstGeom>
          <a:noFill/>
          <a:ln/>
        </p:spPr>
        <p:txBody>
          <a:bodyPr wrap="square" lIns="0" tIns="0" rIns="0" bIns="0" rtlCol="0" anchor="t"/>
          <a:lstStyle/>
          <a:p>
            <a:pPr indent="0" marL="0">
              <a:buNone/>
            </a:pPr>
            <a:r>
              <a:rPr lang="en-US" sz="1800" b="1" dirty="0">
                <a:solidFill>
                  <a:schemeClr val="tx1"/>
                </a:solidFill>
              </a:rPr>
              <a:t>Wearable glucose is a time series</a:t>
            </a:r>
            <a:endParaRPr lang="en-US" sz="1800" dirty="0"/>
          </a:p>
        </p:txBody>
      </p:sp>
      <p:sp>
        <p:nvSpPr>
          <p:cNvPr id="12" name="Text 8"/>
          <p:cNvSpPr txBox="1"/>
          <p:nvPr/>
        </p:nvSpPr>
        <p:spPr>
          <a:xfrm>
            <a:off x="1417320" y="3383280"/>
            <a:ext cx="4251960" cy="731520"/>
          </a:xfrm>
          <a:prstGeom prst="rect">
            <a:avLst/>
          </a:prstGeom>
          <a:noFill/>
          <a:ln/>
        </p:spPr>
        <p:txBody>
          <a:bodyPr wrap="square" lIns="0" tIns="0" rIns="0" bIns="0" rtlCol="0" anchor="t"/>
          <a:lstStyle/>
          <a:p>
            <a:pPr indent="0" marL="0">
              <a:buNone/>
            </a:pPr>
            <a:r>
              <a:rPr lang="en-US" sz="1400" dirty="0">
                <a:solidFill>
                  <a:schemeClr val="tx2"/>
                </a:solidFill>
              </a:rPr>
              <a:t>Readings every 5 minutes need preprocessing and feature engineering before any forecasting.</a:t>
            </a:r>
            <a:endParaRPr lang="en-US" sz="1400" dirty="0"/>
          </a:p>
        </p:txBody>
      </p:sp>
      <p:sp>
        <p:nvSpPr>
          <p:cNvPr id="13" name="card"/>
          <p:cNvSpPr/>
          <p:nvPr/>
        </p:nvSpPr>
        <p:spPr>
          <a:xfrm>
            <a:off x="457200" y="4389120"/>
            <a:ext cx="5394960" cy="1371600"/>
          </a:xfrm>
          <a:prstGeom prst="roundRect">
            <a:avLst>
              <a:gd name="adj" fmla="val 6667"/>
            </a:avLst>
          </a:prstGeom>
          <a:solidFill>
            <a:schemeClr val="bg2"/>
          </a:solidFill>
          <a:ln w="12700">
            <a:solidFill>
              <a:schemeClr val="bg1"/>
            </a:solidFill>
            <a:prstDash val="solid"/>
          </a:ln>
        </p:spPr>
      </p:sp>
      <p:sp>
        <p:nvSpPr>
          <p:cNvPr id="14" name="icon-circle"/>
          <p:cNvSpPr/>
          <p:nvPr/>
        </p:nvSpPr>
        <p:spPr>
          <a:xfrm>
            <a:off x="640080" y="4791456"/>
            <a:ext cx="566928" cy="566928"/>
          </a:xfrm>
          <a:prstGeom prst="ellipse">
            <a:avLst/>
          </a:prstGeom>
          <a:solidFill>
            <a:schemeClr val="accent3"/>
          </a:solidFill>
          <a:ln w="12700">
            <a:solidFill>
              <a:schemeClr val="accent3"/>
            </a:solidFill>
            <a:prstDash val="solid"/>
          </a:ln>
        </p:spPr>
      </p:sp>
      <p:pic>
        <p:nvPicPr>
          <p:cNvPr id="15" name="Image 2" descr="Unlink icon">    </p:cNvPr>
          <p:cNvPicPr>
            <a:picLocks noChangeAspect="1"/>
          </p:cNvPicPr>
          <p:nvPr/>
        </p:nvPicPr>
        <p:blipFill>
          <a:blip r:embed="rId3"/>
          <a:stretch>
            <a:fillRect/>
          </a:stretch>
        </p:blipFill>
        <p:spPr>
          <a:xfrm>
            <a:off x="781812" y="4933188"/>
            <a:ext cx="283464" cy="283464"/>
          </a:xfrm>
          <a:prstGeom prst="rect">
            <a:avLst/>
          </a:prstGeom>
        </p:spPr>
      </p:pic>
      <p:sp>
        <p:nvSpPr>
          <p:cNvPr id="16" name="Text 11"/>
          <p:cNvSpPr txBox="1"/>
          <p:nvPr/>
        </p:nvSpPr>
        <p:spPr>
          <a:xfrm>
            <a:off x="1417320" y="4553712"/>
            <a:ext cx="4297680" cy="365760"/>
          </a:xfrm>
          <a:prstGeom prst="rect">
            <a:avLst/>
          </a:prstGeom>
          <a:noFill/>
          <a:ln/>
        </p:spPr>
        <p:txBody>
          <a:bodyPr wrap="square" lIns="0" tIns="0" rIns="0" bIns="0" rtlCol="0" anchor="t"/>
          <a:lstStyle/>
          <a:p>
            <a:pPr indent="0" marL="0">
              <a:buNone/>
            </a:pPr>
            <a:r>
              <a:rPr lang="en-US" sz="1800" b="1" dirty="0">
                <a:solidFill>
                  <a:schemeClr val="tx1"/>
                </a:solidFill>
              </a:rPr>
              <a:t>The two datasets are not linked</a:t>
            </a:r>
            <a:endParaRPr lang="en-US" sz="1800" dirty="0"/>
          </a:p>
        </p:txBody>
      </p:sp>
      <p:sp>
        <p:nvSpPr>
          <p:cNvPr id="17" name="Text 12"/>
          <p:cNvSpPr txBox="1"/>
          <p:nvPr/>
        </p:nvSpPr>
        <p:spPr>
          <a:xfrm>
            <a:off x="1417320" y="4937760"/>
            <a:ext cx="4251960" cy="731520"/>
          </a:xfrm>
          <a:prstGeom prst="rect">
            <a:avLst/>
          </a:prstGeom>
          <a:noFill/>
          <a:ln/>
        </p:spPr>
        <p:txBody>
          <a:bodyPr wrap="square" lIns="0" tIns="0" rIns="0" bIns="0" rtlCol="0" anchor="t"/>
          <a:lstStyle/>
          <a:p>
            <a:pPr indent="0" marL="0">
              <a:buNone/>
            </a:pPr>
            <a:r>
              <a:rPr lang="en-US" sz="1400" dirty="0">
                <a:solidFill>
                  <a:schemeClr val="tx2"/>
                </a:solidFill>
              </a:rPr>
              <a:t>Individual-level mapping between EHR and wearable data has not been established.</a:t>
            </a:r>
            <a:endParaRPr lang="en-US" sz="1400" dirty="0"/>
          </a:p>
        </p:txBody>
      </p:sp>
      <p:sp>
        <p:nvSpPr>
          <p:cNvPr id="18" name="card"/>
          <p:cNvSpPr/>
          <p:nvPr/>
        </p:nvSpPr>
        <p:spPr>
          <a:xfrm>
            <a:off x="6217920" y="1280160"/>
            <a:ext cx="5513832" cy="1737360"/>
          </a:xfrm>
          <a:prstGeom prst="roundRect">
            <a:avLst>
              <a:gd name="adj" fmla="val 5263"/>
            </a:avLst>
          </a:prstGeom>
          <a:solidFill>
            <a:schemeClr val="bg2"/>
          </a:solidFill>
          <a:ln w="15875">
            <a:solidFill>
              <a:schemeClr val="accent4"/>
            </a:solidFill>
            <a:prstDash val="dash"/>
          </a:ln>
        </p:spPr>
      </p:sp>
      <p:sp>
        <p:nvSpPr>
          <p:cNvPr id="19" name="Text 14"/>
          <p:cNvSpPr txBox="1"/>
          <p:nvPr/>
        </p:nvSpPr>
        <p:spPr>
          <a:xfrm>
            <a:off x="6446520" y="1417320"/>
            <a:ext cx="5120640" cy="365760"/>
          </a:xfrm>
          <a:prstGeom prst="rect">
            <a:avLst/>
          </a:prstGeom>
          <a:noFill/>
          <a:ln/>
        </p:spPr>
        <p:txBody>
          <a:bodyPr wrap="square" lIns="0" tIns="0" rIns="0" bIns="0" rtlCol="0" anchor="t"/>
          <a:lstStyle/>
          <a:p>
            <a:pPr indent="0" marL="0">
              <a:buNone/>
            </a:pPr>
            <a:r>
              <a:rPr lang="en-US" sz="1800" b="1" dirty="0">
                <a:solidFill>
                  <a:schemeClr val="accent4"/>
                </a:solidFill>
              </a:rPr>
              <a:t>Broader Digital Twin vision (not claimed here)</a:t>
            </a:r>
            <a:endParaRPr lang="en-US" sz="1800" dirty="0"/>
          </a:p>
        </p:txBody>
      </p:sp>
      <p:sp>
        <p:nvSpPr>
          <p:cNvPr id="20" name="Text 15"/>
          <p:cNvSpPr txBox="1"/>
          <p:nvPr/>
        </p:nvSpPr>
        <p:spPr>
          <a:xfrm>
            <a:off x="6446520" y="1828800"/>
            <a:ext cx="5074920" cy="1097280"/>
          </a:xfrm>
          <a:prstGeom prst="rect">
            <a:avLst/>
          </a:prstGeom>
          <a:noFill/>
          <a:ln/>
        </p:spPr>
        <p:txBody>
          <a:bodyPr wrap="square" lIns="0" tIns="0" rIns="0" bIns="0" rtlCol="0" anchor="t"/>
          <a:lstStyle/>
          <a:p>
            <a:pPr indent="0" marL="0">
              <a:buNone/>
            </a:pPr>
            <a:r>
              <a:rPr lang="en-US" sz="1400" dirty="0">
                <a:solidFill>
                  <a:schemeClr val="tx2"/>
                </a:solidFill>
              </a:rPr>
              <a:t>A personalized model that combines health records and wearable data for an individual. This prototype does not establish patient-level integration, clinical validation, real-time monitoring or clinical decision support.</a:t>
            </a:r>
            <a:endParaRPr lang="en-US" sz="1400" dirty="0"/>
          </a:p>
        </p:txBody>
      </p:sp>
      <p:sp>
        <p:nvSpPr>
          <p:cNvPr id="21" name="card"/>
          <p:cNvSpPr/>
          <p:nvPr/>
        </p:nvSpPr>
        <p:spPr>
          <a:xfrm>
            <a:off x="6217920" y="3246120"/>
            <a:ext cx="5513832" cy="2651760"/>
          </a:xfrm>
          <a:prstGeom prst="roundRect">
            <a:avLst>
              <a:gd name="adj" fmla="val 3448"/>
            </a:avLst>
          </a:prstGeom>
          <a:solidFill>
            <a:schemeClr val="accent6"/>
          </a:solidFill>
          <a:ln w="19050">
            <a:solidFill>
              <a:schemeClr val="accent1"/>
            </a:solidFill>
            <a:prstDash val="solid"/>
          </a:ln>
        </p:spPr>
      </p:sp>
      <p:sp>
        <p:nvSpPr>
          <p:cNvPr id="22" name="Text 17"/>
          <p:cNvSpPr txBox="1"/>
          <p:nvPr/>
        </p:nvSpPr>
        <p:spPr>
          <a:xfrm>
            <a:off x="6446520" y="3383280"/>
            <a:ext cx="5120640" cy="365760"/>
          </a:xfrm>
          <a:prstGeom prst="rect">
            <a:avLst/>
          </a:prstGeom>
          <a:noFill/>
          <a:ln/>
        </p:spPr>
        <p:txBody>
          <a:bodyPr wrap="square" lIns="0" tIns="0" rIns="0" bIns="0" rtlCol="0" anchor="t"/>
          <a:lstStyle/>
          <a:p>
            <a:pPr indent="0" marL="0">
              <a:buNone/>
            </a:pPr>
            <a:r>
              <a:rPr lang="en-US" sz="1800" b="1" dirty="0">
                <a:solidFill>
                  <a:schemeClr val="tx1"/>
                </a:solidFill>
              </a:rPr>
              <a:t>What this prototype actually implements</a:t>
            </a:r>
            <a:endParaRPr lang="en-US" sz="1800" dirty="0"/>
          </a:p>
        </p:txBody>
      </p:sp>
      <p:pic>
        <p:nvPicPr>
          <p:cNvPr id="23" name="Image 3" descr="check">    </p:cNvPr>
          <p:cNvPicPr>
            <a:picLocks noChangeAspect="1"/>
          </p:cNvPicPr>
          <p:nvPr/>
        </p:nvPicPr>
        <p:blipFill>
          <a:blip r:embed="rId4"/>
          <a:stretch>
            <a:fillRect/>
          </a:stretch>
        </p:blipFill>
        <p:spPr>
          <a:xfrm>
            <a:off x="6446520" y="3913632"/>
            <a:ext cx="237744" cy="237744"/>
          </a:xfrm>
          <a:prstGeom prst="rect">
            <a:avLst/>
          </a:prstGeom>
        </p:spPr>
      </p:pic>
      <p:sp>
        <p:nvSpPr>
          <p:cNvPr id="24" name="Text 18"/>
          <p:cNvSpPr txBox="1"/>
          <p:nvPr/>
        </p:nvSpPr>
        <p:spPr>
          <a:xfrm>
            <a:off x="6812280" y="3877056"/>
            <a:ext cx="4754880" cy="310896"/>
          </a:xfrm>
          <a:prstGeom prst="rect">
            <a:avLst/>
          </a:prstGeom>
          <a:noFill/>
          <a:ln/>
        </p:spPr>
        <p:txBody>
          <a:bodyPr wrap="square" lIns="0" tIns="0" rIns="0" bIns="0" rtlCol="0" anchor="ctr"/>
          <a:lstStyle/>
          <a:p>
            <a:pPr indent="0" marL="0">
              <a:buNone/>
            </a:pPr>
            <a:r>
              <a:rPr lang="en-US" sz="1400" dirty="0">
                <a:solidFill>
                  <a:schemeClr val="tx2"/>
                </a:solidFill>
              </a:rPr>
              <a:t>EHR data quality pipeline</a:t>
            </a:r>
            <a:endParaRPr lang="en-US" sz="1400" dirty="0"/>
          </a:p>
        </p:txBody>
      </p:sp>
      <p:pic>
        <p:nvPicPr>
          <p:cNvPr id="25" name="Image 4" descr="check">    </p:cNvPr>
          <p:cNvPicPr>
            <a:picLocks noChangeAspect="1"/>
          </p:cNvPicPr>
          <p:nvPr/>
        </p:nvPicPr>
        <p:blipFill>
          <a:blip r:embed="rId5"/>
          <a:stretch>
            <a:fillRect/>
          </a:stretch>
        </p:blipFill>
        <p:spPr>
          <a:xfrm>
            <a:off x="6446520" y="4279392"/>
            <a:ext cx="237744" cy="237744"/>
          </a:xfrm>
          <a:prstGeom prst="rect">
            <a:avLst/>
          </a:prstGeom>
        </p:spPr>
      </p:pic>
      <p:sp>
        <p:nvSpPr>
          <p:cNvPr id="26" name="Text 19"/>
          <p:cNvSpPr txBox="1"/>
          <p:nvPr/>
        </p:nvSpPr>
        <p:spPr>
          <a:xfrm>
            <a:off x="6812280" y="4242816"/>
            <a:ext cx="4754880" cy="310896"/>
          </a:xfrm>
          <a:prstGeom prst="rect">
            <a:avLst/>
          </a:prstGeom>
          <a:noFill/>
          <a:ln/>
        </p:spPr>
        <p:txBody>
          <a:bodyPr wrap="square" lIns="0" tIns="0" rIns="0" bIns="0" rtlCol="0" anchor="ctr"/>
          <a:lstStyle/>
          <a:p>
            <a:pPr indent="0" marL="0">
              <a:buNone/>
            </a:pPr>
            <a:r>
              <a:rPr lang="en-US" sz="1400" dirty="0">
                <a:solidFill>
                  <a:schemeClr val="tx2"/>
                </a:solidFill>
              </a:rPr>
              <a:t>Wearable glucose preprocessing and features</a:t>
            </a:r>
            <a:endParaRPr lang="en-US" sz="1400" dirty="0"/>
          </a:p>
        </p:txBody>
      </p:sp>
      <p:pic>
        <p:nvPicPr>
          <p:cNvPr id="27" name="Image 5" descr="check">    </p:cNvPr>
          <p:cNvPicPr>
            <a:picLocks noChangeAspect="1"/>
          </p:cNvPicPr>
          <p:nvPr/>
        </p:nvPicPr>
        <p:blipFill>
          <a:blip r:embed="rId6"/>
          <a:stretch>
            <a:fillRect/>
          </a:stretch>
        </p:blipFill>
        <p:spPr>
          <a:xfrm>
            <a:off x="6446520" y="4645152"/>
            <a:ext cx="237744" cy="237744"/>
          </a:xfrm>
          <a:prstGeom prst="rect">
            <a:avLst/>
          </a:prstGeom>
        </p:spPr>
      </p:pic>
      <p:sp>
        <p:nvSpPr>
          <p:cNvPr id="28" name="Text 20"/>
          <p:cNvSpPr txBox="1"/>
          <p:nvPr/>
        </p:nvSpPr>
        <p:spPr>
          <a:xfrm>
            <a:off x="6812280" y="4608576"/>
            <a:ext cx="4754880" cy="310896"/>
          </a:xfrm>
          <a:prstGeom prst="rect">
            <a:avLst/>
          </a:prstGeom>
          <a:noFill/>
          <a:ln/>
        </p:spPr>
        <p:txBody>
          <a:bodyPr wrap="square" lIns="0" tIns="0" rIns="0" bIns="0" rtlCol="0" anchor="ctr"/>
          <a:lstStyle/>
          <a:p>
            <a:pPr indent="0" marL="0">
              <a:buNone/>
            </a:pPr>
            <a:r>
              <a:rPr lang="en-US" sz="1400" dirty="0">
                <a:solidFill>
                  <a:schemeClr val="tx2"/>
                </a:solidFill>
              </a:rPr>
              <a:t>Experimental two-hour glucose forecast</a:t>
            </a:r>
            <a:endParaRPr lang="en-US" sz="1400" dirty="0"/>
          </a:p>
        </p:txBody>
      </p:sp>
      <p:pic>
        <p:nvPicPr>
          <p:cNvPr id="29" name="Image 6" descr="check">    </p:cNvPr>
          <p:cNvPicPr>
            <a:picLocks noChangeAspect="1"/>
          </p:cNvPicPr>
          <p:nvPr/>
        </p:nvPicPr>
        <p:blipFill>
          <a:blip r:embed="rId7"/>
          <a:stretch>
            <a:fillRect/>
          </a:stretch>
        </p:blipFill>
        <p:spPr>
          <a:xfrm>
            <a:off x="6446520" y="5010912"/>
            <a:ext cx="237744" cy="237744"/>
          </a:xfrm>
          <a:prstGeom prst="rect">
            <a:avLst/>
          </a:prstGeom>
        </p:spPr>
      </p:pic>
      <p:sp>
        <p:nvSpPr>
          <p:cNvPr id="30" name="Text 21"/>
          <p:cNvSpPr txBox="1"/>
          <p:nvPr/>
        </p:nvSpPr>
        <p:spPr>
          <a:xfrm>
            <a:off x="6812280" y="4974336"/>
            <a:ext cx="4754880" cy="310896"/>
          </a:xfrm>
          <a:prstGeom prst="rect">
            <a:avLst/>
          </a:prstGeom>
          <a:noFill/>
          <a:ln/>
        </p:spPr>
        <p:txBody>
          <a:bodyPr wrap="square" lIns="0" tIns="0" rIns="0" bIns="0" rtlCol="0" anchor="ctr"/>
          <a:lstStyle/>
          <a:p>
            <a:pPr indent="0" marL="0">
              <a:buNone/>
            </a:pPr>
            <a:r>
              <a:rPr lang="en-US" sz="1400" dirty="0">
                <a:solidFill>
                  <a:schemeClr val="tx2"/>
                </a:solidFill>
              </a:rPr>
              <a:t>Flask API serving readings and predictions</a:t>
            </a:r>
            <a:endParaRPr lang="en-US" sz="1400" dirty="0"/>
          </a:p>
        </p:txBody>
      </p:sp>
      <p:pic>
        <p:nvPicPr>
          <p:cNvPr id="31" name="Image 7" descr="check">    </p:cNvPr>
          <p:cNvPicPr>
            <a:picLocks noChangeAspect="1"/>
          </p:cNvPicPr>
          <p:nvPr/>
        </p:nvPicPr>
        <p:blipFill>
          <a:blip r:embed="rId8"/>
          <a:stretch>
            <a:fillRect/>
          </a:stretch>
        </p:blipFill>
        <p:spPr>
          <a:xfrm>
            <a:off x="6446520" y="5376672"/>
            <a:ext cx="237744" cy="237744"/>
          </a:xfrm>
          <a:prstGeom prst="rect">
            <a:avLst/>
          </a:prstGeom>
        </p:spPr>
      </p:pic>
      <p:sp>
        <p:nvSpPr>
          <p:cNvPr id="32" name="Text 22"/>
          <p:cNvSpPr txBox="1"/>
          <p:nvPr/>
        </p:nvSpPr>
        <p:spPr>
          <a:xfrm>
            <a:off x="6812280" y="5340096"/>
            <a:ext cx="4754880" cy="310896"/>
          </a:xfrm>
          <a:prstGeom prst="rect">
            <a:avLst/>
          </a:prstGeom>
          <a:noFill/>
          <a:ln/>
        </p:spPr>
        <p:txBody>
          <a:bodyPr wrap="square" lIns="0" tIns="0" rIns="0" bIns="0" rtlCol="0" anchor="ctr"/>
          <a:lstStyle/>
          <a:p>
            <a:pPr indent="0" marL="0">
              <a:buNone/>
            </a:pPr>
            <a:r>
              <a:rPr lang="en-US" sz="1400" dirty="0">
                <a:solidFill>
                  <a:schemeClr val="tx2"/>
                </a:solidFill>
              </a:rPr>
              <a:t>Web dashboard for history and forecast</a:t>
            </a:r>
            <a:endParaRPr lang="en-US" sz="1400" dirty="0"/>
          </a:p>
        </p:txBody>
      </p:sp>
      <p:sp>
        <p:nvSpPr>
          <p:cNvPr id="25" name="Slide Number Placeholder 0"/>
          <p:cNvSpPr>
            <a:spLocks noGrp="1"/>
          </p:cNvSpPr>
          <p:nvPr>
            <p:ph type="sldNum" sz="quarter" idx="4294967295"/>
          </p:nvPr>
        </p:nvSpPr>
        <p:spPr>
          <a:xfrm>
            <a:off x="10972800" y="6446520"/>
            <a:ext cx="75895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ctr"/>
          <a:lstStyle/>
          <a:p>
            <a:pPr algn="l" indent="0" marL="0">
              <a:buNone/>
            </a:pPr>
            <a:r>
              <a:rPr lang="en-US" sz="3200" b="1" dirty="0">
                <a:solidFill>
                  <a:schemeClr val="tx1"/>
                </a:solidFill>
              </a:rPr>
              <a:t>Project objectives</a:t>
            </a:r>
            <a:endParaRPr lang="en-US" sz="3200" dirty="0"/>
          </a:p>
        </p:txBody>
      </p:sp>
      <p:sp>
        <p:nvSpPr>
          <p:cNvPr id="3" name="card"/>
          <p:cNvSpPr/>
          <p:nvPr/>
        </p:nvSpPr>
        <p:spPr>
          <a:xfrm>
            <a:off x="457200" y="1280160"/>
            <a:ext cx="3611880" cy="2331720"/>
          </a:xfrm>
          <a:prstGeom prst="roundRect">
            <a:avLst>
              <a:gd name="adj" fmla="val 3922"/>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4" name="icon-circle"/>
          <p:cNvSpPr/>
          <p:nvPr/>
        </p:nvSpPr>
        <p:spPr>
          <a:xfrm>
            <a:off x="731520" y="1554480"/>
            <a:ext cx="640080" cy="640080"/>
          </a:xfrm>
          <a:prstGeom prst="ellipse">
            <a:avLst/>
          </a:prstGeom>
          <a:solidFill>
            <a:schemeClr val="accent1"/>
          </a:solidFill>
          <a:ln w="12700">
            <a:solidFill>
              <a:schemeClr val="accent1"/>
            </a:solidFill>
            <a:prstDash val="solid"/>
          </a:ln>
        </p:spPr>
      </p:sp>
      <p:pic>
        <p:nvPicPr>
          <p:cNvPr id="5" name="Image 0" descr="ClipboardCheck icon">    </p:cNvPr>
          <p:cNvPicPr>
            <a:picLocks noChangeAspect="1"/>
          </p:cNvPicPr>
          <p:nvPr/>
        </p:nvPicPr>
        <p:blipFill>
          <a:blip r:embed="rId1"/>
          <a:stretch>
            <a:fillRect/>
          </a:stretch>
        </p:blipFill>
        <p:spPr>
          <a:xfrm>
            <a:off x="891540" y="1714500"/>
            <a:ext cx="320040" cy="320040"/>
          </a:xfrm>
          <a:prstGeom prst="rect">
            <a:avLst/>
          </a:prstGeom>
        </p:spPr>
      </p:pic>
      <p:sp>
        <p:nvSpPr>
          <p:cNvPr id="6" name="Text 3"/>
          <p:cNvSpPr txBox="1"/>
          <p:nvPr/>
        </p:nvSpPr>
        <p:spPr>
          <a:xfrm>
            <a:off x="3200400" y="1554480"/>
            <a:ext cx="640080" cy="457200"/>
          </a:xfrm>
          <a:prstGeom prst="rect">
            <a:avLst/>
          </a:prstGeom>
          <a:noFill/>
          <a:ln/>
        </p:spPr>
        <p:txBody>
          <a:bodyPr wrap="square" lIns="0" tIns="0" rIns="0" bIns="0" rtlCol="0" anchor="t"/>
          <a:lstStyle/>
          <a:p>
            <a:pPr algn="r" indent="0" marL="0">
              <a:buNone/>
            </a:pPr>
            <a:r>
              <a:rPr lang="en-US" sz="2800" b="1" dirty="0">
                <a:solidFill>
                  <a:schemeClr val="accent5"/>
                </a:solidFill>
              </a:rPr>
              <a:t>01</a:t>
            </a:r>
            <a:endParaRPr lang="en-US" sz="2800" dirty="0"/>
          </a:p>
        </p:txBody>
      </p:sp>
      <p:sp>
        <p:nvSpPr>
          <p:cNvPr id="7" name="Text 4"/>
          <p:cNvSpPr txBox="1"/>
          <p:nvPr/>
        </p:nvSpPr>
        <p:spPr>
          <a:xfrm>
            <a:off x="731520" y="2331720"/>
            <a:ext cx="3108960" cy="365760"/>
          </a:xfrm>
          <a:prstGeom prst="rect">
            <a:avLst/>
          </a:prstGeom>
          <a:noFill/>
          <a:ln/>
        </p:spPr>
        <p:txBody>
          <a:bodyPr wrap="square" lIns="0" tIns="0" rIns="0" bIns="0" rtlCol="0" anchor="t"/>
          <a:lstStyle/>
          <a:p>
            <a:pPr indent="0" marL="0">
              <a:buNone/>
            </a:pPr>
            <a:r>
              <a:rPr lang="en-US" sz="1800" b="1" dirty="0">
                <a:solidFill>
                  <a:schemeClr val="tx1"/>
                </a:solidFill>
              </a:rPr>
              <a:t>EHR data quality assessment</a:t>
            </a:r>
            <a:endParaRPr lang="en-US" sz="1800" dirty="0"/>
          </a:p>
        </p:txBody>
      </p:sp>
      <p:sp>
        <p:nvSpPr>
          <p:cNvPr id="8" name="Text 5"/>
          <p:cNvSpPr txBox="1"/>
          <p:nvPr/>
        </p:nvSpPr>
        <p:spPr>
          <a:xfrm>
            <a:off x="731520" y="2743200"/>
            <a:ext cx="3108960" cy="777240"/>
          </a:xfrm>
          <a:prstGeom prst="rect">
            <a:avLst/>
          </a:prstGeom>
          <a:noFill/>
          <a:ln/>
        </p:spPr>
        <p:txBody>
          <a:bodyPr wrap="square" lIns="0" tIns="0" rIns="0" bIns="0" rtlCol="0" anchor="t"/>
          <a:lstStyle/>
          <a:p>
            <a:pPr indent="0" marL="0">
              <a:buNone/>
            </a:pPr>
            <a:r>
              <a:rPr lang="en-US" sz="1400" dirty="0">
                <a:solidFill>
                  <a:schemeClr val="tx2"/>
                </a:solidFill>
              </a:rPr>
              <a:t>Inspect EHR CSV files and report missing values, duplicates and column-level quality.</a:t>
            </a:r>
            <a:endParaRPr lang="en-US" sz="1400" dirty="0"/>
          </a:p>
        </p:txBody>
      </p:sp>
      <p:sp>
        <p:nvSpPr>
          <p:cNvPr id="9" name="card"/>
          <p:cNvSpPr/>
          <p:nvPr/>
        </p:nvSpPr>
        <p:spPr>
          <a:xfrm>
            <a:off x="4288536" y="1280160"/>
            <a:ext cx="3611880" cy="2331720"/>
          </a:xfrm>
          <a:prstGeom prst="roundRect">
            <a:avLst>
              <a:gd name="adj" fmla="val 3922"/>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10" name="icon-circle"/>
          <p:cNvSpPr/>
          <p:nvPr/>
        </p:nvSpPr>
        <p:spPr>
          <a:xfrm>
            <a:off x="4562856" y="1554480"/>
            <a:ext cx="640080" cy="640080"/>
          </a:xfrm>
          <a:prstGeom prst="ellipse">
            <a:avLst/>
          </a:prstGeom>
          <a:solidFill>
            <a:schemeClr val="accent1"/>
          </a:solidFill>
          <a:ln w="12700">
            <a:solidFill>
              <a:schemeClr val="accent1"/>
            </a:solidFill>
            <a:prstDash val="solid"/>
          </a:ln>
        </p:spPr>
      </p:sp>
      <p:pic>
        <p:nvPicPr>
          <p:cNvPr id="11" name="Image 1" descr="Broom icon">    </p:cNvPr>
          <p:cNvPicPr>
            <a:picLocks noChangeAspect="1"/>
          </p:cNvPicPr>
          <p:nvPr/>
        </p:nvPicPr>
        <p:blipFill>
          <a:blip r:embed="rId2"/>
          <a:stretch>
            <a:fillRect/>
          </a:stretch>
        </p:blipFill>
        <p:spPr>
          <a:xfrm>
            <a:off x="4722876" y="1714500"/>
            <a:ext cx="320040" cy="320040"/>
          </a:xfrm>
          <a:prstGeom prst="rect">
            <a:avLst/>
          </a:prstGeom>
        </p:spPr>
      </p:pic>
      <p:sp>
        <p:nvSpPr>
          <p:cNvPr id="12" name="Text 8"/>
          <p:cNvSpPr txBox="1"/>
          <p:nvPr/>
        </p:nvSpPr>
        <p:spPr>
          <a:xfrm>
            <a:off x="7031736" y="1554480"/>
            <a:ext cx="640080" cy="457200"/>
          </a:xfrm>
          <a:prstGeom prst="rect">
            <a:avLst/>
          </a:prstGeom>
          <a:noFill/>
          <a:ln/>
        </p:spPr>
        <p:txBody>
          <a:bodyPr wrap="square" lIns="0" tIns="0" rIns="0" bIns="0" rtlCol="0" anchor="t"/>
          <a:lstStyle/>
          <a:p>
            <a:pPr algn="r" indent="0" marL="0">
              <a:buNone/>
            </a:pPr>
            <a:r>
              <a:rPr lang="en-US" sz="2800" b="1" dirty="0">
                <a:solidFill>
                  <a:schemeClr val="accent5"/>
                </a:solidFill>
              </a:rPr>
              <a:t>02</a:t>
            </a:r>
            <a:endParaRPr lang="en-US" sz="2800" dirty="0"/>
          </a:p>
        </p:txBody>
      </p:sp>
      <p:sp>
        <p:nvSpPr>
          <p:cNvPr id="13" name="Text 9"/>
          <p:cNvSpPr txBox="1"/>
          <p:nvPr/>
        </p:nvSpPr>
        <p:spPr>
          <a:xfrm>
            <a:off x="4562856" y="2331720"/>
            <a:ext cx="3108960" cy="365760"/>
          </a:xfrm>
          <a:prstGeom prst="rect">
            <a:avLst/>
          </a:prstGeom>
          <a:noFill/>
          <a:ln/>
        </p:spPr>
        <p:txBody>
          <a:bodyPr wrap="square" lIns="0" tIns="0" rIns="0" bIns="0" rtlCol="0" anchor="t"/>
          <a:lstStyle/>
          <a:p>
            <a:pPr indent="0" marL="0">
              <a:buNone/>
            </a:pPr>
            <a:r>
              <a:rPr lang="en-US" sz="1800" b="1" dirty="0">
                <a:solidFill>
                  <a:schemeClr val="tx1"/>
                </a:solidFill>
              </a:rPr>
              <a:t>Wearable glucose preprocessing</a:t>
            </a:r>
            <a:endParaRPr lang="en-US" sz="1800" dirty="0"/>
          </a:p>
        </p:txBody>
      </p:sp>
      <p:sp>
        <p:nvSpPr>
          <p:cNvPr id="14" name="Text 10"/>
          <p:cNvSpPr txBox="1"/>
          <p:nvPr/>
        </p:nvSpPr>
        <p:spPr>
          <a:xfrm>
            <a:off x="4562856" y="2743200"/>
            <a:ext cx="3108960" cy="777240"/>
          </a:xfrm>
          <a:prstGeom prst="rect">
            <a:avLst/>
          </a:prstGeom>
          <a:noFill/>
          <a:ln/>
        </p:spPr>
        <p:txBody>
          <a:bodyPr wrap="square" lIns="0" tIns="0" rIns="0" bIns="0" rtlCol="0" anchor="t"/>
          <a:lstStyle/>
          <a:p>
            <a:pPr indent="0" marL="0">
              <a:buNone/>
            </a:pPr>
            <a:r>
              <a:rPr lang="en-US" sz="1400" dirty="0">
                <a:solidFill>
                  <a:schemeClr val="tx2"/>
                </a:solidFill>
              </a:rPr>
              <a:t>Inspect and prepare historical glucose time-series data.</a:t>
            </a:r>
            <a:endParaRPr lang="en-US" sz="1400" dirty="0"/>
          </a:p>
        </p:txBody>
      </p:sp>
      <p:sp>
        <p:nvSpPr>
          <p:cNvPr id="15" name="card"/>
          <p:cNvSpPr/>
          <p:nvPr/>
        </p:nvSpPr>
        <p:spPr>
          <a:xfrm>
            <a:off x="8119872" y="1280160"/>
            <a:ext cx="3611880" cy="2331720"/>
          </a:xfrm>
          <a:prstGeom prst="roundRect">
            <a:avLst>
              <a:gd name="adj" fmla="val 3922"/>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16" name="icon-circle"/>
          <p:cNvSpPr/>
          <p:nvPr/>
        </p:nvSpPr>
        <p:spPr>
          <a:xfrm>
            <a:off x="8394192" y="1554480"/>
            <a:ext cx="640080" cy="640080"/>
          </a:xfrm>
          <a:prstGeom prst="ellipse">
            <a:avLst/>
          </a:prstGeom>
          <a:solidFill>
            <a:schemeClr val="accent1"/>
          </a:solidFill>
          <a:ln w="12700">
            <a:solidFill>
              <a:schemeClr val="accent1"/>
            </a:solidFill>
            <a:prstDash val="solid"/>
          </a:ln>
        </p:spPr>
      </p:sp>
      <p:pic>
        <p:nvPicPr>
          <p:cNvPr id="17" name="Image 2" descr="LayerGroup icon">    </p:cNvPr>
          <p:cNvPicPr>
            <a:picLocks noChangeAspect="1"/>
          </p:cNvPicPr>
          <p:nvPr/>
        </p:nvPicPr>
        <p:blipFill>
          <a:blip r:embed="rId3"/>
          <a:stretch>
            <a:fillRect/>
          </a:stretch>
        </p:blipFill>
        <p:spPr>
          <a:xfrm>
            <a:off x="8554212" y="1714500"/>
            <a:ext cx="320040" cy="320040"/>
          </a:xfrm>
          <a:prstGeom prst="rect">
            <a:avLst/>
          </a:prstGeom>
        </p:spPr>
      </p:pic>
      <p:sp>
        <p:nvSpPr>
          <p:cNvPr id="18" name="Text 13"/>
          <p:cNvSpPr txBox="1"/>
          <p:nvPr/>
        </p:nvSpPr>
        <p:spPr>
          <a:xfrm>
            <a:off x="10863072" y="1554480"/>
            <a:ext cx="640080" cy="457200"/>
          </a:xfrm>
          <a:prstGeom prst="rect">
            <a:avLst/>
          </a:prstGeom>
          <a:noFill/>
          <a:ln/>
        </p:spPr>
        <p:txBody>
          <a:bodyPr wrap="square" lIns="0" tIns="0" rIns="0" bIns="0" rtlCol="0" anchor="t"/>
          <a:lstStyle/>
          <a:p>
            <a:pPr algn="r" indent="0" marL="0">
              <a:buNone/>
            </a:pPr>
            <a:r>
              <a:rPr lang="en-US" sz="2800" b="1" dirty="0">
                <a:solidFill>
                  <a:schemeClr val="accent5"/>
                </a:solidFill>
              </a:rPr>
              <a:t>03</a:t>
            </a:r>
            <a:endParaRPr lang="en-US" sz="2800" dirty="0"/>
          </a:p>
        </p:txBody>
      </p:sp>
      <p:sp>
        <p:nvSpPr>
          <p:cNvPr id="19" name="Text 14"/>
          <p:cNvSpPr txBox="1"/>
          <p:nvPr/>
        </p:nvSpPr>
        <p:spPr>
          <a:xfrm>
            <a:off x="8394192" y="2331720"/>
            <a:ext cx="3108960" cy="365760"/>
          </a:xfrm>
          <a:prstGeom prst="rect">
            <a:avLst/>
          </a:prstGeom>
          <a:noFill/>
          <a:ln/>
        </p:spPr>
        <p:txBody>
          <a:bodyPr wrap="square" lIns="0" tIns="0" rIns="0" bIns="0" rtlCol="0" anchor="t"/>
          <a:lstStyle/>
          <a:p>
            <a:pPr indent="0" marL="0">
              <a:buNone/>
            </a:pPr>
            <a:r>
              <a:rPr lang="en-US" sz="1800" b="1" dirty="0">
                <a:solidFill>
                  <a:schemeClr val="tx1"/>
                </a:solidFill>
              </a:rPr>
              <a:t>Time-series feature engineering</a:t>
            </a:r>
            <a:endParaRPr lang="en-US" sz="1800" dirty="0"/>
          </a:p>
        </p:txBody>
      </p:sp>
      <p:sp>
        <p:nvSpPr>
          <p:cNvPr id="20" name="Text 15"/>
          <p:cNvSpPr txBox="1"/>
          <p:nvPr/>
        </p:nvSpPr>
        <p:spPr>
          <a:xfrm>
            <a:off x="8394192" y="2743200"/>
            <a:ext cx="3108960" cy="777240"/>
          </a:xfrm>
          <a:prstGeom prst="rect">
            <a:avLst/>
          </a:prstGeom>
          <a:noFill/>
          <a:ln/>
        </p:spPr>
        <p:txBody>
          <a:bodyPr wrap="square" lIns="0" tIns="0" rIns="0" bIns="0" rtlCol="0" anchor="t"/>
          <a:lstStyle/>
          <a:p>
            <a:pPr indent="0" marL="0">
              <a:buNone/>
            </a:pPr>
            <a:r>
              <a:rPr lang="en-US" sz="1400" dirty="0">
                <a:solidFill>
                  <a:schemeClr val="tx2"/>
                </a:solidFill>
              </a:rPr>
              <a:t>Build lag, rolling, recent-change and activity features.</a:t>
            </a:r>
            <a:endParaRPr lang="en-US" sz="1400" dirty="0"/>
          </a:p>
        </p:txBody>
      </p:sp>
      <p:sp>
        <p:nvSpPr>
          <p:cNvPr id="21" name="card"/>
          <p:cNvSpPr/>
          <p:nvPr/>
        </p:nvSpPr>
        <p:spPr>
          <a:xfrm>
            <a:off x="457200" y="3840480"/>
            <a:ext cx="3611880" cy="2331720"/>
          </a:xfrm>
          <a:prstGeom prst="roundRect">
            <a:avLst>
              <a:gd name="adj" fmla="val 3922"/>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22" name="icon-circle"/>
          <p:cNvSpPr/>
          <p:nvPr/>
        </p:nvSpPr>
        <p:spPr>
          <a:xfrm>
            <a:off x="731520" y="4114800"/>
            <a:ext cx="640080" cy="640080"/>
          </a:xfrm>
          <a:prstGeom prst="ellipse">
            <a:avLst/>
          </a:prstGeom>
          <a:solidFill>
            <a:schemeClr val="accent1"/>
          </a:solidFill>
          <a:ln w="12700">
            <a:solidFill>
              <a:schemeClr val="accent1"/>
            </a:solidFill>
            <a:prstDash val="solid"/>
          </a:ln>
        </p:spPr>
      </p:sp>
      <p:pic>
        <p:nvPicPr>
          <p:cNvPr id="23" name="Image 3" descr="ChartLine icon">    </p:cNvPr>
          <p:cNvPicPr>
            <a:picLocks noChangeAspect="1"/>
          </p:cNvPicPr>
          <p:nvPr/>
        </p:nvPicPr>
        <p:blipFill>
          <a:blip r:embed="rId4"/>
          <a:stretch>
            <a:fillRect/>
          </a:stretch>
        </p:blipFill>
        <p:spPr>
          <a:xfrm>
            <a:off x="891540" y="4274820"/>
            <a:ext cx="320040" cy="320040"/>
          </a:xfrm>
          <a:prstGeom prst="rect">
            <a:avLst/>
          </a:prstGeom>
        </p:spPr>
      </p:pic>
      <p:sp>
        <p:nvSpPr>
          <p:cNvPr id="24" name="Text 18"/>
          <p:cNvSpPr txBox="1"/>
          <p:nvPr/>
        </p:nvSpPr>
        <p:spPr>
          <a:xfrm>
            <a:off x="3200400" y="4114800"/>
            <a:ext cx="640080" cy="457200"/>
          </a:xfrm>
          <a:prstGeom prst="rect">
            <a:avLst/>
          </a:prstGeom>
          <a:noFill/>
          <a:ln/>
        </p:spPr>
        <p:txBody>
          <a:bodyPr wrap="square" lIns="0" tIns="0" rIns="0" bIns="0" rtlCol="0" anchor="t"/>
          <a:lstStyle/>
          <a:p>
            <a:pPr algn="r" indent="0" marL="0">
              <a:buNone/>
            </a:pPr>
            <a:r>
              <a:rPr lang="en-US" sz="2800" b="1" dirty="0">
                <a:solidFill>
                  <a:schemeClr val="accent5"/>
                </a:solidFill>
              </a:rPr>
              <a:t>04</a:t>
            </a:r>
            <a:endParaRPr lang="en-US" sz="2800" dirty="0"/>
          </a:p>
        </p:txBody>
      </p:sp>
      <p:sp>
        <p:nvSpPr>
          <p:cNvPr id="25" name="Text 19"/>
          <p:cNvSpPr txBox="1"/>
          <p:nvPr/>
        </p:nvSpPr>
        <p:spPr>
          <a:xfrm>
            <a:off x="731520" y="4892040"/>
            <a:ext cx="3108960" cy="365760"/>
          </a:xfrm>
          <a:prstGeom prst="rect">
            <a:avLst/>
          </a:prstGeom>
          <a:noFill/>
          <a:ln/>
        </p:spPr>
        <p:txBody>
          <a:bodyPr wrap="square" lIns="0" tIns="0" rIns="0" bIns="0" rtlCol="0" anchor="t"/>
          <a:lstStyle/>
          <a:p>
            <a:pPr indent="0" marL="0">
              <a:buNone/>
            </a:pPr>
            <a:r>
              <a:rPr lang="en-US" sz="1800" b="1" dirty="0">
                <a:solidFill>
                  <a:schemeClr val="tx1"/>
                </a:solidFill>
              </a:rPr>
              <a:t>Experimental 2-hour forecasting</a:t>
            </a:r>
            <a:endParaRPr lang="en-US" sz="1800" dirty="0"/>
          </a:p>
        </p:txBody>
      </p:sp>
      <p:sp>
        <p:nvSpPr>
          <p:cNvPr id="26" name="Text 20"/>
          <p:cNvSpPr txBox="1"/>
          <p:nvPr/>
        </p:nvSpPr>
        <p:spPr>
          <a:xfrm>
            <a:off x="731520" y="5303520"/>
            <a:ext cx="3108960" cy="777240"/>
          </a:xfrm>
          <a:prstGeom prst="rect">
            <a:avLst/>
          </a:prstGeom>
          <a:noFill/>
          <a:ln/>
        </p:spPr>
        <p:txBody>
          <a:bodyPr wrap="square" lIns="0" tIns="0" rIns="0" bIns="0" rtlCol="0" anchor="t"/>
          <a:lstStyle/>
          <a:p>
            <a:pPr indent="0" marL="0">
              <a:buNone/>
            </a:pPr>
            <a:r>
              <a:rPr lang="en-US" sz="1400" dirty="0">
                <a:solidFill>
                  <a:schemeClr val="tx2"/>
                </a:solidFill>
              </a:rPr>
              <a:t>Predict glucose about 120 minutes ahead with a machine-learning model.</a:t>
            </a:r>
            <a:endParaRPr lang="en-US" sz="1400" dirty="0"/>
          </a:p>
        </p:txBody>
      </p:sp>
      <p:sp>
        <p:nvSpPr>
          <p:cNvPr id="27" name="card"/>
          <p:cNvSpPr/>
          <p:nvPr/>
        </p:nvSpPr>
        <p:spPr>
          <a:xfrm>
            <a:off x="4288536" y="3840480"/>
            <a:ext cx="3611880" cy="2331720"/>
          </a:xfrm>
          <a:prstGeom prst="roundRect">
            <a:avLst>
              <a:gd name="adj" fmla="val 3922"/>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28" name="icon-circle"/>
          <p:cNvSpPr/>
          <p:nvPr/>
        </p:nvSpPr>
        <p:spPr>
          <a:xfrm>
            <a:off x="4562856" y="4114800"/>
            <a:ext cx="640080" cy="640080"/>
          </a:xfrm>
          <a:prstGeom prst="ellipse">
            <a:avLst/>
          </a:prstGeom>
          <a:solidFill>
            <a:schemeClr val="accent1"/>
          </a:solidFill>
          <a:ln w="12700">
            <a:solidFill>
              <a:schemeClr val="accent1"/>
            </a:solidFill>
            <a:prstDash val="solid"/>
          </a:ln>
        </p:spPr>
      </p:sp>
      <p:pic>
        <p:nvPicPr>
          <p:cNvPr id="29" name="Image 4" descr="Server icon">    </p:cNvPr>
          <p:cNvPicPr>
            <a:picLocks noChangeAspect="1"/>
          </p:cNvPicPr>
          <p:nvPr/>
        </p:nvPicPr>
        <p:blipFill>
          <a:blip r:embed="rId5"/>
          <a:stretch>
            <a:fillRect/>
          </a:stretch>
        </p:blipFill>
        <p:spPr>
          <a:xfrm>
            <a:off x="4722876" y="4274820"/>
            <a:ext cx="320040" cy="320040"/>
          </a:xfrm>
          <a:prstGeom prst="rect">
            <a:avLst/>
          </a:prstGeom>
        </p:spPr>
      </p:pic>
      <p:sp>
        <p:nvSpPr>
          <p:cNvPr id="30" name="Text 23"/>
          <p:cNvSpPr txBox="1"/>
          <p:nvPr/>
        </p:nvSpPr>
        <p:spPr>
          <a:xfrm>
            <a:off x="7031736" y="4114800"/>
            <a:ext cx="640080" cy="457200"/>
          </a:xfrm>
          <a:prstGeom prst="rect">
            <a:avLst/>
          </a:prstGeom>
          <a:noFill/>
          <a:ln/>
        </p:spPr>
        <p:txBody>
          <a:bodyPr wrap="square" lIns="0" tIns="0" rIns="0" bIns="0" rtlCol="0" anchor="t"/>
          <a:lstStyle/>
          <a:p>
            <a:pPr algn="r" indent="0" marL="0">
              <a:buNone/>
            </a:pPr>
            <a:r>
              <a:rPr lang="en-US" sz="2800" b="1" dirty="0">
                <a:solidFill>
                  <a:schemeClr val="accent5"/>
                </a:solidFill>
              </a:rPr>
              <a:t>05</a:t>
            </a:r>
            <a:endParaRPr lang="en-US" sz="2800" dirty="0"/>
          </a:p>
        </p:txBody>
      </p:sp>
      <p:sp>
        <p:nvSpPr>
          <p:cNvPr id="31" name="Text 24"/>
          <p:cNvSpPr txBox="1"/>
          <p:nvPr/>
        </p:nvSpPr>
        <p:spPr>
          <a:xfrm>
            <a:off x="4562856" y="4892040"/>
            <a:ext cx="3108960" cy="365760"/>
          </a:xfrm>
          <a:prstGeom prst="rect">
            <a:avLst/>
          </a:prstGeom>
          <a:noFill/>
          <a:ln/>
        </p:spPr>
        <p:txBody>
          <a:bodyPr wrap="square" lIns="0" tIns="0" rIns="0" bIns="0" rtlCol="0" anchor="t"/>
          <a:lstStyle/>
          <a:p>
            <a:pPr indent="0" marL="0">
              <a:buNone/>
            </a:pPr>
            <a:r>
              <a:rPr lang="en-US" sz="1800" b="1" dirty="0">
                <a:solidFill>
                  <a:schemeClr val="tx1"/>
                </a:solidFill>
              </a:rPr>
              <a:t>API-based prediction service</a:t>
            </a:r>
            <a:endParaRPr lang="en-US" sz="1800" dirty="0"/>
          </a:p>
        </p:txBody>
      </p:sp>
      <p:sp>
        <p:nvSpPr>
          <p:cNvPr id="32" name="Text 25"/>
          <p:cNvSpPr txBox="1"/>
          <p:nvPr/>
        </p:nvSpPr>
        <p:spPr>
          <a:xfrm>
            <a:off x="4562856" y="5303520"/>
            <a:ext cx="3108960" cy="777240"/>
          </a:xfrm>
          <a:prstGeom prst="rect">
            <a:avLst/>
          </a:prstGeom>
          <a:noFill/>
          <a:ln/>
        </p:spPr>
        <p:txBody>
          <a:bodyPr wrap="square" lIns="0" tIns="0" rIns="0" bIns="0" rtlCol="0" anchor="t"/>
          <a:lstStyle/>
          <a:p>
            <a:pPr indent="0" marL="0">
              <a:buNone/>
            </a:pPr>
            <a:r>
              <a:rPr lang="en-US" sz="1400" dirty="0">
                <a:solidFill>
                  <a:schemeClr val="tx2"/>
                </a:solidFill>
              </a:rPr>
              <a:t>Serve participants, historical readings and forecasts through Flask.</a:t>
            </a:r>
            <a:endParaRPr lang="en-US" sz="1400" dirty="0"/>
          </a:p>
        </p:txBody>
      </p:sp>
      <p:sp>
        <p:nvSpPr>
          <p:cNvPr id="33" name="card"/>
          <p:cNvSpPr/>
          <p:nvPr/>
        </p:nvSpPr>
        <p:spPr>
          <a:xfrm>
            <a:off x="8119872" y="3840480"/>
            <a:ext cx="3611880" cy="2331720"/>
          </a:xfrm>
          <a:prstGeom prst="roundRect">
            <a:avLst>
              <a:gd name="adj" fmla="val 3922"/>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34" name="icon-circle"/>
          <p:cNvSpPr/>
          <p:nvPr/>
        </p:nvSpPr>
        <p:spPr>
          <a:xfrm>
            <a:off x="8394192" y="4114800"/>
            <a:ext cx="640080" cy="640080"/>
          </a:xfrm>
          <a:prstGeom prst="ellipse">
            <a:avLst/>
          </a:prstGeom>
          <a:solidFill>
            <a:schemeClr val="accent1"/>
          </a:solidFill>
          <a:ln w="12700">
            <a:solidFill>
              <a:schemeClr val="accent1"/>
            </a:solidFill>
            <a:prstDash val="solid"/>
          </a:ln>
        </p:spPr>
      </p:sp>
      <p:pic>
        <p:nvPicPr>
          <p:cNvPr id="35" name="Image 5" descr="Desktop icon">    </p:cNvPr>
          <p:cNvPicPr>
            <a:picLocks noChangeAspect="1"/>
          </p:cNvPicPr>
          <p:nvPr/>
        </p:nvPicPr>
        <p:blipFill>
          <a:blip r:embed="rId6"/>
          <a:stretch>
            <a:fillRect/>
          </a:stretch>
        </p:blipFill>
        <p:spPr>
          <a:xfrm>
            <a:off x="8554212" y="4274820"/>
            <a:ext cx="320040" cy="320040"/>
          </a:xfrm>
          <a:prstGeom prst="rect">
            <a:avLst/>
          </a:prstGeom>
        </p:spPr>
      </p:pic>
      <p:sp>
        <p:nvSpPr>
          <p:cNvPr id="36" name="Text 28"/>
          <p:cNvSpPr txBox="1"/>
          <p:nvPr/>
        </p:nvSpPr>
        <p:spPr>
          <a:xfrm>
            <a:off x="10863072" y="4114800"/>
            <a:ext cx="640080" cy="457200"/>
          </a:xfrm>
          <a:prstGeom prst="rect">
            <a:avLst/>
          </a:prstGeom>
          <a:noFill/>
          <a:ln/>
        </p:spPr>
        <p:txBody>
          <a:bodyPr wrap="square" lIns="0" tIns="0" rIns="0" bIns="0" rtlCol="0" anchor="t"/>
          <a:lstStyle/>
          <a:p>
            <a:pPr algn="r" indent="0" marL="0">
              <a:buNone/>
            </a:pPr>
            <a:r>
              <a:rPr lang="en-US" sz="2800" b="1" dirty="0">
                <a:solidFill>
                  <a:schemeClr val="accent5"/>
                </a:solidFill>
              </a:rPr>
              <a:t>06</a:t>
            </a:r>
            <a:endParaRPr lang="en-US" sz="2800" dirty="0"/>
          </a:p>
        </p:txBody>
      </p:sp>
      <p:sp>
        <p:nvSpPr>
          <p:cNvPr id="37" name="Text 29"/>
          <p:cNvSpPr txBox="1"/>
          <p:nvPr/>
        </p:nvSpPr>
        <p:spPr>
          <a:xfrm>
            <a:off x="8394192" y="4892040"/>
            <a:ext cx="3108960" cy="365760"/>
          </a:xfrm>
          <a:prstGeom prst="rect">
            <a:avLst/>
          </a:prstGeom>
          <a:noFill/>
          <a:ln/>
        </p:spPr>
        <p:txBody>
          <a:bodyPr wrap="square" lIns="0" tIns="0" rIns="0" bIns="0" rtlCol="0" anchor="t"/>
          <a:lstStyle/>
          <a:p>
            <a:pPr indent="0" marL="0">
              <a:buNone/>
            </a:pPr>
            <a:r>
              <a:rPr lang="en-US" sz="1800" b="1" dirty="0">
                <a:solidFill>
                  <a:schemeClr val="tx1"/>
                </a:solidFill>
              </a:rPr>
              <a:t>Dashboard visualization</a:t>
            </a:r>
            <a:endParaRPr lang="en-US" sz="1800" dirty="0"/>
          </a:p>
        </p:txBody>
      </p:sp>
      <p:sp>
        <p:nvSpPr>
          <p:cNvPr id="38" name="Text 30"/>
          <p:cNvSpPr txBox="1"/>
          <p:nvPr/>
        </p:nvSpPr>
        <p:spPr>
          <a:xfrm>
            <a:off x="8394192" y="5303520"/>
            <a:ext cx="3108960" cy="777240"/>
          </a:xfrm>
          <a:prstGeom prst="rect">
            <a:avLst/>
          </a:prstGeom>
          <a:noFill/>
          <a:ln/>
        </p:spPr>
        <p:txBody>
          <a:bodyPr wrap="square" lIns="0" tIns="0" rIns="0" bIns="0" rtlCol="0" anchor="t"/>
          <a:lstStyle/>
          <a:p>
            <a:pPr indent="0" marL="0">
              <a:buNone/>
            </a:pPr>
            <a:r>
              <a:rPr lang="en-US" sz="1400" dirty="0">
                <a:solidFill>
                  <a:schemeClr val="tx2"/>
                </a:solidFill>
              </a:rPr>
              <a:t>Let a user pick a participant and view history and forecast.</a:t>
            </a:r>
            <a:endParaRPr lang="en-US" sz="1400" dirty="0"/>
          </a:p>
        </p:txBody>
      </p:sp>
      <p:sp>
        <p:nvSpPr>
          <p:cNvPr id="25" name="Slide Number Placeholder 0"/>
          <p:cNvSpPr>
            <a:spLocks noGrp="1"/>
          </p:cNvSpPr>
          <p:nvPr>
            <p:ph type="sldNum" sz="quarter" idx="4294967295"/>
          </p:nvPr>
        </p:nvSpPr>
        <p:spPr>
          <a:xfrm>
            <a:off x="10972800" y="6446520"/>
            <a:ext cx="75895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ctr"/>
          <a:lstStyle/>
          <a:p>
            <a:pPr algn="l" indent="0" marL="0">
              <a:buNone/>
            </a:pPr>
            <a:r>
              <a:rPr lang="en-US" sz="3200" b="1" dirty="0">
                <a:solidFill>
                  <a:schemeClr val="tx1"/>
                </a:solidFill>
              </a:rPr>
              <a:t>Two separate datasets</a:t>
            </a:r>
            <a:endParaRPr lang="en-US" sz="3200" dirty="0"/>
          </a:p>
        </p:txBody>
      </p:sp>
      <p:sp>
        <p:nvSpPr>
          <p:cNvPr id="3" name="card"/>
          <p:cNvSpPr/>
          <p:nvPr/>
        </p:nvSpPr>
        <p:spPr>
          <a:xfrm>
            <a:off x="457200" y="1280160"/>
            <a:ext cx="5212080" cy="3794760"/>
          </a:xfrm>
          <a:prstGeom prst="roundRect">
            <a:avLst>
              <a:gd name="adj" fmla="val 2410"/>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4" name="icon-circle"/>
          <p:cNvSpPr/>
          <p:nvPr/>
        </p:nvSpPr>
        <p:spPr>
          <a:xfrm>
            <a:off x="731520" y="1508760"/>
            <a:ext cx="548640" cy="548640"/>
          </a:xfrm>
          <a:prstGeom prst="ellipse">
            <a:avLst/>
          </a:prstGeom>
          <a:solidFill>
            <a:schemeClr val="accent1"/>
          </a:solidFill>
          <a:ln w="12700">
            <a:solidFill>
              <a:schemeClr val="accent1"/>
            </a:solidFill>
            <a:prstDash val="solid"/>
          </a:ln>
        </p:spPr>
      </p:sp>
      <p:pic>
        <p:nvPicPr>
          <p:cNvPr id="5" name="Image 0" descr="FileCsv icon">    </p:cNvPr>
          <p:cNvPicPr>
            <a:picLocks noChangeAspect="1"/>
          </p:cNvPicPr>
          <p:nvPr/>
        </p:nvPicPr>
        <p:blipFill>
          <a:blip r:embed="rId1"/>
          <a:stretch>
            <a:fillRect/>
          </a:stretch>
        </p:blipFill>
        <p:spPr>
          <a:xfrm>
            <a:off x="868680" y="1645920"/>
            <a:ext cx="274320" cy="274320"/>
          </a:xfrm>
          <a:prstGeom prst="rect">
            <a:avLst/>
          </a:prstGeom>
        </p:spPr>
      </p:pic>
      <p:sp>
        <p:nvSpPr>
          <p:cNvPr id="6" name="Text 3"/>
          <p:cNvSpPr txBox="1"/>
          <p:nvPr/>
        </p:nvSpPr>
        <p:spPr>
          <a:xfrm>
            <a:off x="1463040" y="1508760"/>
            <a:ext cx="3931920" cy="548640"/>
          </a:xfrm>
          <a:prstGeom prst="rect">
            <a:avLst/>
          </a:prstGeom>
          <a:noFill/>
          <a:ln/>
        </p:spPr>
        <p:txBody>
          <a:bodyPr wrap="square" lIns="0" tIns="0" rIns="0" bIns="0" rtlCol="0" anchor="ctr"/>
          <a:lstStyle/>
          <a:p>
            <a:pPr indent="0" marL="0">
              <a:buNone/>
            </a:pPr>
            <a:r>
              <a:rPr lang="en-US" sz="2200" b="1" dirty="0">
                <a:solidFill>
                  <a:schemeClr val="tx1"/>
                </a:solidFill>
              </a:rPr>
              <a:t>EHR dataset</a:t>
            </a:r>
            <a:endParaRPr lang="en-US" sz="2200" dirty="0"/>
          </a:p>
        </p:txBody>
      </p:sp>
      <p:sp>
        <p:nvSpPr>
          <p:cNvPr id="7" name="card"/>
          <p:cNvSpPr/>
          <p:nvPr/>
        </p:nvSpPr>
        <p:spPr>
          <a:xfrm>
            <a:off x="731520" y="2286000"/>
            <a:ext cx="2286000" cy="1188720"/>
          </a:xfrm>
          <a:prstGeom prst="roundRect">
            <a:avLst>
              <a:gd name="adj" fmla="val 7692"/>
            </a:avLst>
          </a:prstGeom>
          <a:solidFill>
            <a:schemeClr val="bg1"/>
          </a:solidFill>
          <a:ln w="12700">
            <a:solidFill>
              <a:schemeClr val="accent5"/>
            </a:solidFill>
            <a:prstDash val="solid"/>
          </a:ln>
        </p:spPr>
      </p:sp>
      <p:sp>
        <p:nvSpPr>
          <p:cNvPr id="8" name="Text 5"/>
          <p:cNvSpPr txBox="1"/>
          <p:nvPr/>
        </p:nvSpPr>
        <p:spPr>
          <a:xfrm>
            <a:off x="822960" y="2359152"/>
            <a:ext cx="2103120" cy="640080"/>
          </a:xfrm>
          <a:prstGeom prst="rect">
            <a:avLst/>
          </a:prstGeom>
          <a:noFill/>
          <a:ln/>
        </p:spPr>
        <p:txBody>
          <a:bodyPr wrap="square" lIns="0" tIns="0" rIns="0" bIns="0" rtlCol="0" anchor="ctr"/>
          <a:lstStyle/>
          <a:p>
            <a:pPr algn="ctr" indent="0" marL="0">
              <a:buNone/>
            </a:pPr>
            <a:r>
              <a:rPr lang="en-US" sz="3400" b="1" dirty="0">
                <a:solidFill>
                  <a:schemeClr val="accent1"/>
                </a:solidFill>
              </a:rPr>
              <a:t>18</a:t>
            </a:r>
            <a:endParaRPr lang="en-US" sz="3400" dirty="0"/>
          </a:p>
        </p:txBody>
      </p:sp>
      <p:sp>
        <p:nvSpPr>
          <p:cNvPr id="9" name="Text 6"/>
          <p:cNvSpPr txBox="1"/>
          <p:nvPr/>
        </p:nvSpPr>
        <p:spPr>
          <a:xfrm>
            <a:off x="822960" y="2999232"/>
            <a:ext cx="2103120" cy="411480"/>
          </a:xfrm>
          <a:prstGeom prst="rect">
            <a:avLst/>
          </a:prstGeom>
          <a:noFill/>
          <a:ln/>
        </p:spPr>
        <p:txBody>
          <a:bodyPr wrap="square" lIns="0" tIns="0" rIns="0" bIns="0" rtlCol="0" anchor="t"/>
          <a:lstStyle/>
          <a:p>
            <a:pPr algn="ctr" indent="0" marL="0">
              <a:buNone/>
            </a:pPr>
            <a:r>
              <a:rPr lang="en-US" sz="1200" dirty="0">
                <a:solidFill>
                  <a:schemeClr val="tx2"/>
                </a:solidFill>
              </a:rPr>
              <a:t>EHR CSV files processed</a:t>
            </a:r>
            <a:endParaRPr lang="en-US" sz="1200" dirty="0"/>
          </a:p>
        </p:txBody>
      </p:sp>
      <p:sp>
        <p:nvSpPr>
          <p:cNvPr id="10" name="card"/>
          <p:cNvSpPr/>
          <p:nvPr/>
        </p:nvSpPr>
        <p:spPr>
          <a:xfrm>
            <a:off x="3127248" y="2286000"/>
            <a:ext cx="2286000" cy="1188720"/>
          </a:xfrm>
          <a:prstGeom prst="roundRect">
            <a:avLst>
              <a:gd name="adj" fmla="val 7692"/>
            </a:avLst>
          </a:prstGeom>
          <a:solidFill>
            <a:schemeClr val="bg1"/>
          </a:solidFill>
          <a:ln w="12700">
            <a:solidFill>
              <a:schemeClr val="accent5"/>
            </a:solidFill>
            <a:prstDash val="solid"/>
          </a:ln>
        </p:spPr>
      </p:sp>
      <p:sp>
        <p:nvSpPr>
          <p:cNvPr id="11" name="Text 8"/>
          <p:cNvSpPr txBox="1"/>
          <p:nvPr/>
        </p:nvSpPr>
        <p:spPr>
          <a:xfrm>
            <a:off x="3218688" y="2359152"/>
            <a:ext cx="2103120" cy="640080"/>
          </a:xfrm>
          <a:prstGeom prst="rect">
            <a:avLst/>
          </a:prstGeom>
          <a:noFill/>
          <a:ln/>
        </p:spPr>
        <p:txBody>
          <a:bodyPr wrap="square" lIns="0" tIns="0" rIns="0" bIns="0" rtlCol="0" anchor="ctr"/>
          <a:lstStyle/>
          <a:p>
            <a:pPr algn="ctr" indent="0" marL="0">
              <a:buNone/>
            </a:pPr>
            <a:r>
              <a:rPr lang="en-US" sz="3400" b="1" dirty="0">
                <a:solidFill>
                  <a:schemeClr val="accent1"/>
                </a:solidFill>
              </a:rPr>
              <a:t>0</a:t>
            </a:r>
            <a:endParaRPr lang="en-US" sz="3400" dirty="0"/>
          </a:p>
        </p:txBody>
      </p:sp>
      <p:sp>
        <p:nvSpPr>
          <p:cNvPr id="12" name="Text 9"/>
          <p:cNvSpPr txBox="1"/>
          <p:nvPr/>
        </p:nvSpPr>
        <p:spPr>
          <a:xfrm>
            <a:off x="3218688" y="2999232"/>
            <a:ext cx="2103120" cy="411480"/>
          </a:xfrm>
          <a:prstGeom prst="rect">
            <a:avLst/>
          </a:prstGeom>
          <a:noFill/>
          <a:ln/>
        </p:spPr>
        <p:txBody>
          <a:bodyPr wrap="square" lIns="0" tIns="0" rIns="0" bIns="0" rtlCol="0" anchor="t"/>
          <a:lstStyle/>
          <a:p>
            <a:pPr algn="ctr" indent="0" marL="0">
              <a:buNone/>
            </a:pPr>
            <a:r>
              <a:rPr lang="en-US" sz="1200" dirty="0">
                <a:solidFill>
                  <a:schemeClr val="tx2"/>
                </a:solidFill>
              </a:rPr>
              <a:t>processing failures (recorded run)</a:t>
            </a:r>
            <a:endParaRPr lang="en-US" sz="1200" dirty="0"/>
          </a:p>
        </p:txBody>
      </p:sp>
      <p:sp>
        <p:nvSpPr>
          <p:cNvPr id="13" name="Shape 10"/>
          <p:cNvSpPr/>
          <p:nvPr/>
        </p:nvSpPr>
        <p:spPr>
          <a:xfrm>
            <a:off x="777240" y="3813048"/>
            <a:ext cx="109728" cy="109728"/>
          </a:xfrm>
          <a:prstGeom prst="ellipse">
            <a:avLst/>
          </a:prstGeom>
          <a:solidFill>
            <a:schemeClr val="accent1"/>
          </a:solidFill>
          <a:ln w="12700">
            <a:solidFill>
              <a:schemeClr val="accent1"/>
            </a:solidFill>
            <a:prstDash val="solid"/>
          </a:ln>
        </p:spPr>
      </p:sp>
      <p:sp>
        <p:nvSpPr>
          <p:cNvPr id="14" name="Text 11"/>
          <p:cNvSpPr txBox="1"/>
          <p:nvPr/>
        </p:nvSpPr>
        <p:spPr>
          <a:xfrm>
            <a:off x="1005840" y="3703320"/>
            <a:ext cx="4434840" cy="457200"/>
          </a:xfrm>
          <a:prstGeom prst="rect">
            <a:avLst/>
          </a:prstGeom>
          <a:noFill/>
          <a:ln/>
        </p:spPr>
        <p:txBody>
          <a:bodyPr wrap="square" lIns="0" tIns="0" rIns="0" bIns="0" rtlCol="0" anchor="ctr"/>
          <a:lstStyle/>
          <a:p>
            <a:pPr indent="0" marL="0">
              <a:buNone/>
            </a:pPr>
            <a:r>
              <a:rPr lang="en-US" sz="1400" dirty="0">
                <a:solidFill>
                  <a:schemeClr val="tx2"/>
                </a:solidFill>
              </a:rPr>
              <a:t>Raw source data was preserved</a:t>
            </a:r>
            <a:endParaRPr lang="en-US" sz="1400" dirty="0"/>
          </a:p>
        </p:txBody>
      </p:sp>
      <p:sp>
        <p:nvSpPr>
          <p:cNvPr id="15" name="Shape 12"/>
          <p:cNvSpPr/>
          <p:nvPr/>
        </p:nvSpPr>
        <p:spPr>
          <a:xfrm>
            <a:off x="777240" y="4361688"/>
            <a:ext cx="109728" cy="109728"/>
          </a:xfrm>
          <a:prstGeom prst="ellipse">
            <a:avLst/>
          </a:prstGeom>
          <a:solidFill>
            <a:schemeClr val="accent1"/>
          </a:solidFill>
          <a:ln w="12700">
            <a:solidFill>
              <a:schemeClr val="accent1"/>
            </a:solidFill>
            <a:prstDash val="solid"/>
          </a:ln>
        </p:spPr>
      </p:sp>
      <p:sp>
        <p:nvSpPr>
          <p:cNvPr id="16" name="Text 13"/>
          <p:cNvSpPr txBox="1"/>
          <p:nvPr/>
        </p:nvSpPr>
        <p:spPr>
          <a:xfrm>
            <a:off x="1005840" y="4251960"/>
            <a:ext cx="4434840" cy="457200"/>
          </a:xfrm>
          <a:prstGeom prst="rect">
            <a:avLst/>
          </a:prstGeom>
          <a:noFill/>
          <a:ln/>
        </p:spPr>
        <p:txBody>
          <a:bodyPr wrap="square" lIns="0" tIns="0" rIns="0" bIns="0" rtlCol="0" anchor="ctr"/>
          <a:lstStyle/>
          <a:p>
            <a:pPr indent="0" marL="0">
              <a:buNone/>
            </a:pPr>
            <a:r>
              <a:rPr lang="en-US" sz="1400" dirty="0">
                <a:solidFill>
                  <a:schemeClr val="tx2"/>
                </a:solidFill>
              </a:rPr>
              <a:t>Checked for missing values, duplicates and column-level quality</a:t>
            </a:r>
            <a:endParaRPr lang="en-US" sz="1400" dirty="0"/>
          </a:p>
        </p:txBody>
      </p:sp>
      <p:sp>
        <p:nvSpPr>
          <p:cNvPr id="17" name="card"/>
          <p:cNvSpPr/>
          <p:nvPr/>
        </p:nvSpPr>
        <p:spPr>
          <a:xfrm>
            <a:off x="6519672" y="1280160"/>
            <a:ext cx="5212080" cy="3794760"/>
          </a:xfrm>
          <a:prstGeom prst="roundRect">
            <a:avLst>
              <a:gd name="adj" fmla="val 2410"/>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18" name="icon-circle"/>
          <p:cNvSpPr/>
          <p:nvPr/>
        </p:nvSpPr>
        <p:spPr>
          <a:xfrm>
            <a:off x="6793992" y="1508760"/>
            <a:ext cx="548640" cy="548640"/>
          </a:xfrm>
          <a:prstGeom prst="ellipse">
            <a:avLst/>
          </a:prstGeom>
          <a:solidFill>
            <a:schemeClr val="accent1"/>
          </a:solidFill>
          <a:ln w="12700">
            <a:solidFill>
              <a:schemeClr val="accent1"/>
            </a:solidFill>
            <a:prstDash val="solid"/>
          </a:ln>
        </p:spPr>
      </p:sp>
      <p:pic>
        <p:nvPicPr>
          <p:cNvPr id="19" name="Image 1" descr="Heartbeat icon">    </p:cNvPr>
          <p:cNvPicPr>
            <a:picLocks noChangeAspect="1"/>
          </p:cNvPicPr>
          <p:nvPr/>
        </p:nvPicPr>
        <p:blipFill>
          <a:blip r:embed="rId2"/>
          <a:stretch>
            <a:fillRect/>
          </a:stretch>
        </p:blipFill>
        <p:spPr>
          <a:xfrm>
            <a:off x="6931152" y="1645920"/>
            <a:ext cx="274320" cy="274320"/>
          </a:xfrm>
          <a:prstGeom prst="rect">
            <a:avLst/>
          </a:prstGeom>
        </p:spPr>
      </p:pic>
      <p:sp>
        <p:nvSpPr>
          <p:cNvPr id="20" name="Text 16"/>
          <p:cNvSpPr txBox="1"/>
          <p:nvPr/>
        </p:nvSpPr>
        <p:spPr>
          <a:xfrm>
            <a:off x="7525512" y="1508760"/>
            <a:ext cx="3931920" cy="548640"/>
          </a:xfrm>
          <a:prstGeom prst="rect">
            <a:avLst/>
          </a:prstGeom>
          <a:noFill/>
          <a:ln/>
        </p:spPr>
        <p:txBody>
          <a:bodyPr wrap="square" lIns="0" tIns="0" rIns="0" bIns="0" rtlCol="0" anchor="ctr"/>
          <a:lstStyle/>
          <a:p>
            <a:pPr indent="0" marL="0">
              <a:buNone/>
            </a:pPr>
            <a:r>
              <a:rPr lang="en-US" sz="2200" b="1" dirty="0">
                <a:solidFill>
                  <a:schemeClr val="tx1"/>
                </a:solidFill>
              </a:rPr>
              <a:t>Wearable glucose dataset</a:t>
            </a:r>
            <a:endParaRPr lang="en-US" sz="2200" dirty="0"/>
          </a:p>
        </p:txBody>
      </p:sp>
      <p:sp>
        <p:nvSpPr>
          <p:cNvPr id="21" name="card"/>
          <p:cNvSpPr/>
          <p:nvPr/>
        </p:nvSpPr>
        <p:spPr>
          <a:xfrm>
            <a:off x="6793992" y="2286000"/>
            <a:ext cx="2286000" cy="1188720"/>
          </a:xfrm>
          <a:prstGeom prst="roundRect">
            <a:avLst>
              <a:gd name="adj" fmla="val 7692"/>
            </a:avLst>
          </a:prstGeom>
          <a:solidFill>
            <a:schemeClr val="bg1"/>
          </a:solidFill>
          <a:ln w="12700">
            <a:solidFill>
              <a:schemeClr val="accent5"/>
            </a:solidFill>
            <a:prstDash val="solid"/>
          </a:ln>
        </p:spPr>
      </p:sp>
      <p:sp>
        <p:nvSpPr>
          <p:cNvPr id="22" name="Text 18"/>
          <p:cNvSpPr txBox="1"/>
          <p:nvPr/>
        </p:nvSpPr>
        <p:spPr>
          <a:xfrm>
            <a:off x="6885432" y="2359152"/>
            <a:ext cx="2103120" cy="640080"/>
          </a:xfrm>
          <a:prstGeom prst="rect">
            <a:avLst/>
          </a:prstGeom>
          <a:noFill/>
          <a:ln/>
        </p:spPr>
        <p:txBody>
          <a:bodyPr wrap="square" lIns="0" tIns="0" rIns="0" bIns="0" rtlCol="0" anchor="ctr"/>
          <a:lstStyle/>
          <a:p>
            <a:pPr algn="ctr" indent="0" marL="0">
              <a:buNone/>
            </a:pPr>
            <a:r>
              <a:rPr lang="en-US" sz="3400" b="1" dirty="0">
                <a:solidFill>
                  <a:schemeClr val="accent1"/>
                </a:solidFill>
              </a:rPr>
              <a:t>5 min</a:t>
            </a:r>
            <a:endParaRPr lang="en-US" sz="3400" dirty="0"/>
          </a:p>
        </p:txBody>
      </p:sp>
      <p:sp>
        <p:nvSpPr>
          <p:cNvPr id="23" name="Text 19"/>
          <p:cNvSpPr txBox="1"/>
          <p:nvPr/>
        </p:nvSpPr>
        <p:spPr>
          <a:xfrm>
            <a:off x="6885432" y="2999232"/>
            <a:ext cx="2103120" cy="411480"/>
          </a:xfrm>
          <a:prstGeom prst="rect">
            <a:avLst/>
          </a:prstGeom>
          <a:noFill/>
          <a:ln/>
        </p:spPr>
        <p:txBody>
          <a:bodyPr wrap="square" lIns="0" tIns="0" rIns="0" bIns="0" rtlCol="0" anchor="t"/>
          <a:lstStyle/>
          <a:p>
            <a:pPr algn="ctr" indent="0" marL="0">
              <a:buNone/>
            </a:pPr>
            <a:r>
              <a:rPr lang="en-US" sz="1200" dirty="0">
                <a:solidFill>
                  <a:schemeClr val="tx2"/>
                </a:solidFill>
              </a:rPr>
              <a:t>sampling interval</a:t>
            </a:r>
            <a:endParaRPr lang="en-US" sz="1200" dirty="0"/>
          </a:p>
        </p:txBody>
      </p:sp>
      <p:sp>
        <p:nvSpPr>
          <p:cNvPr id="24" name="card"/>
          <p:cNvSpPr/>
          <p:nvPr/>
        </p:nvSpPr>
        <p:spPr>
          <a:xfrm>
            <a:off x="9189720" y="2286000"/>
            <a:ext cx="2286000" cy="1188720"/>
          </a:xfrm>
          <a:prstGeom prst="roundRect">
            <a:avLst>
              <a:gd name="adj" fmla="val 7692"/>
            </a:avLst>
          </a:prstGeom>
          <a:solidFill>
            <a:schemeClr val="bg1"/>
          </a:solidFill>
          <a:ln w="12700">
            <a:solidFill>
              <a:schemeClr val="accent5"/>
            </a:solidFill>
            <a:prstDash val="solid"/>
          </a:ln>
        </p:spPr>
      </p:sp>
      <p:sp>
        <p:nvSpPr>
          <p:cNvPr id="25" name="Text 21"/>
          <p:cNvSpPr txBox="1"/>
          <p:nvPr/>
        </p:nvSpPr>
        <p:spPr>
          <a:xfrm>
            <a:off x="9281160" y="2359152"/>
            <a:ext cx="2103120" cy="640080"/>
          </a:xfrm>
          <a:prstGeom prst="rect">
            <a:avLst/>
          </a:prstGeom>
          <a:noFill/>
          <a:ln/>
        </p:spPr>
        <p:txBody>
          <a:bodyPr wrap="square" lIns="0" tIns="0" rIns="0" bIns="0" rtlCol="0" anchor="ctr"/>
          <a:lstStyle/>
          <a:p>
            <a:pPr algn="ctr" indent="0" marL="0">
              <a:buNone/>
            </a:pPr>
            <a:r>
              <a:rPr lang="en-US" sz="2000" b="1" dirty="0">
                <a:solidFill>
                  <a:schemeClr val="accent1"/>
                </a:solidFill>
              </a:rPr>
              <a:t>Steps, calories</a:t>
            </a:r>
            <a:endParaRPr lang="en-US" sz="2000" dirty="0"/>
          </a:p>
        </p:txBody>
      </p:sp>
      <p:sp>
        <p:nvSpPr>
          <p:cNvPr id="26" name="Text 22"/>
          <p:cNvSpPr txBox="1"/>
          <p:nvPr/>
        </p:nvSpPr>
        <p:spPr>
          <a:xfrm>
            <a:off x="9281160" y="2999232"/>
            <a:ext cx="2103120" cy="411480"/>
          </a:xfrm>
          <a:prstGeom prst="rect">
            <a:avLst/>
          </a:prstGeom>
          <a:noFill/>
          <a:ln/>
        </p:spPr>
        <p:txBody>
          <a:bodyPr wrap="square" lIns="0" tIns="0" rIns="0" bIns="0" rtlCol="0" anchor="t"/>
          <a:lstStyle/>
          <a:p>
            <a:pPr algn="ctr" indent="0" marL="0">
              <a:buNone/>
            </a:pPr>
            <a:r>
              <a:rPr lang="en-US" sz="1200" dirty="0">
                <a:solidFill>
                  <a:schemeClr val="tx2"/>
                </a:solidFill>
              </a:rPr>
              <a:t>activity features, where available</a:t>
            </a:r>
            <a:endParaRPr lang="en-US" sz="1200" dirty="0"/>
          </a:p>
        </p:txBody>
      </p:sp>
      <p:sp>
        <p:nvSpPr>
          <p:cNvPr id="27" name="Shape 23"/>
          <p:cNvSpPr/>
          <p:nvPr/>
        </p:nvSpPr>
        <p:spPr>
          <a:xfrm>
            <a:off x="6839712" y="3813048"/>
            <a:ext cx="109728" cy="109728"/>
          </a:xfrm>
          <a:prstGeom prst="ellipse">
            <a:avLst/>
          </a:prstGeom>
          <a:solidFill>
            <a:schemeClr val="accent1"/>
          </a:solidFill>
          <a:ln w="12700">
            <a:solidFill>
              <a:schemeClr val="accent1"/>
            </a:solidFill>
            <a:prstDash val="solid"/>
          </a:ln>
        </p:spPr>
      </p:sp>
      <p:sp>
        <p:nvSpPr>
          <p:cNvPr id="28" name="Text 24"/>
          <p:cNvSpPr txBox="1"/>
          <p:nvPr/>
        </p:nvSpPr>
        <p:spPr>
          <a:xfrm>
            <a:off x="7068312" y="3703320"/>
            <a:ext cx="4434840" cy="457200"/>
          </a:xfrm>
          <a:prstGeom prst="rect">
            <a:avLst/>
          </a:prstGeom>
          <a:noFill/>
          <a:ln/>
        </p:spPr>
        <p:txBody>
          <a:bodyPr wrap="square" lIns="0" tIns="0" rIns="0" bIns="0" rtlCol="0" anchor="ctr"/>
          <a:lstStyle/>
          <a:p>
            <a:pPr indent="0" marL="0">
              <a:buNone/>
            </a:pPr>
            <a:r>
              <a:rPr lang="en-US" sz="1400" dirty="0">
                <a:solidFill>
                  <a:schemeClr val="tx2"/>
                </a:solidFill>
              </a:rPr>
              <a:t>Historical glucose time series</a:t>
            </a:r>
            <a:endParaRPr lang="en-US" sz="1400" dirty="0"/>
          </a:p>
        </p:txBody>
      </p:sp>
      <p:sp>
        <p:nvSpPr>
          <p:cNvPr id="29" name="Shape 25"/>
          <p:cNvSpPr/>
          <p:nvPr/>
        </p:nvSpPr>
        <p:spPr>
          <a:xfrm>
            <a:off x="6839712" y="4361688"/>
            <a:ext cx="109728" cy="109728"/>
          </a:xfrm>
          <a:prstGeom prst="ellipse">
            <a:avLst/>
          </a:prstGeom>
          <a:solidFill>
            <a:schemeClr val="accent1"/>
          </a:solidFill>
          <a:ln w="12700">
            <a:solidFill>
              <a:schemeClr val="accent1"/>
            </a:solidFill>
            <a:prstDash val="solid"/>
          </a:ln>
        </p:spPr>
      </p:sp>
      <p:sp>
        <p:nvSpPr>
          <p:cNvPr id="30" name="Text 26"/>
          <p:cNvSpPr txBox="1"/>
          <p:nvPr/>
        </p:nvSpPr>
        <p:spPr>
          <a:xfrm>
            <a:off x="7068312" y="4251960"/>
            <a:ext cx="4434840" cy="457200"/>
          </a:xfrm>
          <a:prstGeom prst="rect">
            <a:avLst/>
          </a:prstGeom>
          <a:noFill/>
          <a:ln/>
        </p:spPr>
        <p:txBody>
          <a:bodyPr wrap="square" lIns="0" tIns="0" rIns="0" bIns="0" rtlCol="0" anchor="ctr"/>
          <a:lstStyle/>
          <a:p>
            <a:pPr indent="0" marL="0">
              <a:buNone/>
            </a:pPr>
            <a:r>
              <a:rPr lang="en-US" sz="1400" dirty="0">
                <a:solidFill>
                  <a:schemeClr val="tx2"/>
                </a:solidFill>
              </a:rPr>
              <a:t>Participants identified by IDs such as HUPA0001P</a:t>
            </a:r>
            <a:endParaRPr lang="en-US" sz="1400" dirty="0"/>
          </a:p>
        </p:txBody>
      </p:sp>
      <p:sp>
        <p:nvSpPr>
          <p:cNvPr id="31" name="Shape 27"/>
          <p:cNvSpPr/>
          <p:nvPr/>
        </p:nvSpPr>
        <p:spPr>
          <a:xfrm>
            <a:off x="5833872" y="2834640"/>
            <a:ext cx="548640" cy="548640"/>
          </a:xfrm>
          <a:prstGeom prst="ellipse">
            <a:avLst/>
          </a:prstGeom>
          <a:solidFill>
            <a:schemeClr val="accent3"/>
          </a:solidFill>
          <a:ln w="25400">
            <a:solidFill>
              <a:schemeClr val="bg1"/>
            </a:solidFill>
            <a:prstDash val="solid"/>
          </a:ln>
        </p:spPr>
      </p:sp>
      <p:pic>
        <p:nvPicPr>
          <p:cNvPr id="32" name="Image 2" descr="Not linked icon">    </p:cNvPr>
          <p:cNvPicPr>
            <a:picLocks noChangeAspect="1"/>
          </p:cNvPicPr>
          <p:nvPr/>
        </p:nvPicPr>
        <p:blipFill>
          <a:blip r:embed="rId3"/>
          <a:stretch>
            <a:fillRect/>
          </a:stretch>
        </p:blipFill>
        <p:spPr>
          <a:xfrm>
            <a:off x="5971032" y="2971800"/>
            <a:ext cx="274320" cy="274320"/>
          </a:xfrm>
          <a:prstGeom prst="rect">
            <a:avLst/>
          </a:prstGeom>
        </p:spPr>
      </p:pic>
      <p:sp>
        <p:nvSpPr>
          <p:cNvPr id="33" name="Text 28"/>
          <p:cNvSpPr txBox="1"/>
          <p:nvPr/>
        </p:nvSpPr>
        <p:spPr>
          <a:xfrm>
            <a:off x="5669280" y="3456432"/>
            <a:ext cx="850392" cy="457200"/>
          </a:xfrm>
          <a:prstGeom prst="rect">
            <a:avLst/>
          </a:prstGeom>
          <a:noFill/>
          <a:ln/>
        </p:spPr>
        <p:txBody>
          <a:bodyPr wrap="square" lIns="0" tIns="0" rIns="0" bIns="0" rtlCol="0" anchor="t"/>
          <a:lstStyle/>
          <a:p>
            <a:pPr algn="ctr" indent="0" marL="0">
              <a:buNone/>
            </a:pPr>
            <a:r>
              <a:rPr lang="en-US" sz="1100" b="1" dirty="0">
                <a:solidFill>
                  <a:schemeClr val="accent3"/>
                </a:solidFill>
              </a:rPr>
              <a:t>processed</a:t>
            </a:r>
            <a:endParaRPr lang="en-US" sz="1100" dirty="0"/>
          </a:p>
          <a:p>
            <a:pPr algn="ctr" indent="0" marL="0">
              <a:buNone/>
            </a:pPr>
            <a:r>
              <a:rPr lang="en-US" sz="1100" b="1" dirty="0">
                <a:solidFill>
                  <a:schemeClr val="accent3"/>
                </a:solidFill>
              </a:rPr>
              <a:t>separately</a:t>
            </a:r>
            <a:endParaRPr lang="en-US" sz="1100" dirty="0"/>
          </a:p>
        </p:txBody>
      </p:sp>
      <p:sp>
        <p:nvSpPr>
          <p:cNvPr id="34" name="card"/>
          <p:cNvSpPr/>
          <p:nvPr/>
        </p:nvSpPr>
        <p:spPr>
          <a:xfrm>
            <a:off x="457200" y="5303520"/>
            <a:ext cx="11274552" cy="777240"/>
          </a:xfrm>
          <a:prstGeom prst="roundRect">
            <a:avLst>
              <a:gd name="adj" fmla="val 11765"/>
            </a:avLst>
          </a:prstGeom>
          <a:solidFill>
            <a:schemeClr val="accent3">
              <a:alpha val="15000"/>
            </a:schemeClr>
          </a:solidFill>
          <a:ln w="15875">
            <a:solidFill>
              <a:schemeClr val="accent3"/>
            </a:solidFill>
            <a:prstDash val="solid"/>
          </a:ln>
        </p:spPr>
      </p:sp>
      <p:sp>
        <p:nvSpPr>
          <p:cNvPr id="35" name="Text 30"/>
          <p:cNvSpPr txBox="1"/>
          <p:nvPr/>
        </p:nvSpPr>
        <p:spPr>
          <a:xfrm>
            <a:off x="731520" y="5303520"/>
            <a:ext cx="10789920" cy="777240"/>
          </a:xfrm>
          <a:prstGeom prst="rect">
            <a:avLst/>
          </a:prstGeom>
          <a:noFill/>
          <a:ln/>
        </p:spPr>
        <p:txBody>
          <a:bodyPr wrap="square" lIns="0" tIns="0" rIns="0" bIns="0" rtlCol="0" anchor="ctr"/>
          <a:lstStyle/>
          <a:p>
            <a:pPr indent="0" marL="0">
              <a:buNone/>
            </a:pPr>
            <a:r>
              <a:rPr lang="en-US" sz="1400" b="1" dirty="0">
                <a:solidFill>
                  <a:schemeClr val="tx1"/>
                </a:solidFill>
              </a:rPr>
              <a:t>Individual-level mapping between the two datasets has not been established. No dataset statistics beyond those shown here are claimed.</a:t>
            </a:r>
            <a:endParaRPr lang="en-US" sz="1400" dirty="0"/>
          </a:p>
        </p:txBody>
      </p:sp>
      <p:sp>
        <p:nvSpPr>
          <p:cNvPr id="25" name="Slide Number Placeholder 0"/>
          <p:cNvSpPr>
            <a:spLocks noGrp="1"/>
          </p:cNvSpPr>
          <p:nvPr>
            <p:ph type="sldNum" sz="quarter" idx="4294967295"/>
          </p:nvPr>
        </p:nvSpPr>
        <p:spPr>
          <a:xfrm>
            <a:off x="10972800" y="6446520"/>
            <a:ext cx="75895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ctr"/>
          <a:lstStyle/>
          <a:p>
            <a:pPr algn="l" indent="0" marL="0">
              <a:buNone/>
            </a:pPr>
            <a:r>
              <a:rPr lang="en-US" sz="3200" b="1" dirty="0">
                <a:solidFill>
                  <a:schemeClr val="tx1"/>
                </a:solidFill>
              </a:rPr>
              <a:t>EHR preprocessing pipeline</a:t>
            </a:r>
            <a:endParaRPr lang="en-US" sz="3200" dirty="0"/>
          </a:p>
        </p:txBody>
      </p:sp>
      <p:sp>
        <p:nvSpPr>
          <p:cNvPr id="3" name="card"/>
          <p:cNvSpPr/>
          <p:nvPr/>
        </p:nvSpPr>
        <p:spPr>
          <a:xfrm>
            <a:off x="457200" y="1325880"/>
            <a:ext cx="2377440" cy="1188720"/>
          </a:xfrm>
          <a:prstGeom prst="roundRect">
            <a:avLst>
              <a:gd name="adj" fmla="val 7692"/>
            </a:avLst>
          </a:prstGeom>
          <a:solidFill>
            <a:schemeClr val="accent6"/>
          </a:solidFill>
          <a:ln w="19050">
            <a:solidFill>
              <a:schemeClr val="accent2"/>
            </a:solidFill>
            <a:prstDash val="solid"/>
          </a:ln>
        </p:spPr>
      </p:sp>
      <p:sp>
        <p:nvSpPr>
          <p:cNvPr id="4" name="icon-circle"/>
          <p:cNvSpPr/>
          <p:nvPr/>
        </p:nvSpPr>
        <p:spPr>
          <a:xfrm>
            <a:off x="640080" y="1645920"/>
            <a:ext cx="548640" cy="548640"/>
          </a:xfrm>
          <a:prstGeom prst="ellipse">
            <a:avLst/>
          </a:prstGeom>
          <a:solidFill>
            <a:schemeClr val="accent2"/>
          </a:solidFill>
          <a:ln w="12700">
            <a:solidFill>
              <a:schemeClr val="accent2"/>
            </a:solidFill>
            <a:prstDash val="solid"/>
          </a:ln>
        </p:spPr>
      </p:sp>
      <p:pic>
        <p:nvPicPr>
          <p:cNvPr id="5" name="Image 0" descr="FileCsv icon">    </p:cNvPr>
          <p:cNvPicPr>
            <a:picLocks noChangeAspect="1"/>
          </p:cNvPicPr>
          <p:nvPr/>
        </p:nvPicPr>
        <p:blipFill>
          <a:blip r:embed="rId1"/>
          <a:stretch>
            <a:fillRect/>
          </a:stretch>
        </p:blipFill>
        <p:spPr>
          <a:xfrm>
            <a:off x="777240" y="1783080"/>
            <a:ext cx="274320" cy="274320"/>
          </a:xfrm>
          <a:prstGeom prst="rect">
            <a:avLst/>
          </a:prstGeom>
        </p:spPr>
      </p:pic>
      <p:sp>
        <p:nvSpPr>
          <p:cNvPr id="6" name="Text 3"/>
          <p:cNvSpPr txBox="1"/>
          <p:nvPr/>
        </p:nvSpPr>
        <p:spPr>
          <a:xfrm>
            <a:off x="1325880" y="1325880"/>
            <a:ext cx="1417320" cy="1188720"/>
          </a:xfrm>
          <a:prstGeom prst="rect">
            <a:avLst/>
          </a:prstGeom>
          <a:noFill/>
          <a:ln/>
        </p:spPr>
        <p:txBody>
          <a:bodyPr wrap="square" lIns="0" tIns="0" rIns="0" bIns="0" rtlCol="0" anchor="ctr"/>
          <a:lstStyle/>
          <a:p>
            <a:pPr indent="0" marL="0">
              <a:buNone/>
            </a:pPr>
            <a:r>
              <a:rPr lang="en-US" sz="1600" b="1" dirty="0">
                <a:solidFill>
                  <a:schemeClr val="tx1"/>
                </a:solidFill>
              </a:rPr>
              <a:t>EHR CSV files</a:t>
            </a:r>
            <a:endParaRPr lang="en-US" sz="1600" dirty="0"/>
          </a:p>
        </p:txBody>
      </p:sp>
      <p:sp>
        <p:nvSpPr>
          <p:cNvPr id="7" name="arrow"/>
          <p:cNvSpPr/>
          <p:nvPr/>
        </p:nvSpPr>
        <p:spPr>
          <a:xfrm>
            <a:off x="2880360" y="1920240"/>
            <a:ext cx="493776" cy="0"/>
          </a:xfrm>
          <a:prstGeom prst="line">
            <a:avLst/>
          </a:prstGeom>
          <a:noFill/>
          <a:ln w="25400">
            <a:solidFill>
              <a:schemeClr val="tx1"/>
            </a:solidFill>
            <a:prstDash val="solid"/>
            <a:tailEnd type="triangle"/>
          </a:ln>
        </p:spPr>
      </p:sp>
      <p:sp>
        <p:nvSpPr>
          <p:cNvPr id="8" name="card"/>
          <p:cNvSpPr/>
          <p:nvPr/>
        </p:nvSpPr>
        <p:spPr>
          <a:xfrm>
            <a:off x="3419856" y="1325880"/>
            <a:ext cx="2377440" cy="1188720"/>
          </a:xfrm>
          <a:prstGeom prst="roundRect">
            <a:avLst>
              <a:gd name="adj" fmla="val 7692"/>
            </a:avLst>
          </a:prstGeom>
          <a:solidFill>
            <a:schemeClr val="accent6"/>
          </a:solidFill>
          <a:ln w="19050">
            <a:solidFill>
              <a:schemeClr val="accent2"/>
            </a:solidFill>
            <a:prstDash val="solid"/>
          </a:ln>
        </p:spPr>
      </p:sp>
      <p:sp>
        <p:nvSpPr>
          <p:cNvPr id="9" name="icon-circle"/>
          <p:cNvSpPr/>
          <p:nvPr/>
        </p:nvSpPr>
        <p:spPr>
          <a:xfrm>
            <a:off x="3602736" y="1645920"/>
            <a:ext cx="548640" cy="548640"/>
          </a:xfrm>
          <a:prstGeom prst="ellipse">
            <a:avLst/>
          </a:prstGeom>
          <a:solidFill>
            <a:schemeClr val="accent2"/>
          </a:solidFill>
          <a:ln w="12700">
            <a:solidFill>
              <a:schemeClr val="accent2"/>
            </a:solidFill>
            <a:prstDash val="solid"/>
          </a:ln>
        </p:spPr>
      </p:sp>
      <p:pic>
        <p:nvPicPr>
          <p:cNvPr id="10" name="Image 1" descr="Search icon">    </p:cNvPr>
          <p:cNvPicPr>
            <a:picLocks noChangeAspect="1"/>
          </p:cNvPicPr>
          <p:nvPr/>
        </p:nvPicPr>
        <p:blipFill>
          <a:blip r:embed="rId2"/>
          <a:stretch>
            <a:fillRect/>
          </a:stretch>
        </p:blipFill>
        <p:spPr>
          <a:xfrm>
            <a:off x="3739896" y="1783080"/>
            <a:ext cx="274320" cy="274320"/>
          </a:xfrm>
          <a:prstGeom prst="rect">
            <a:avLst/>
          </a:prstGeom>
        </p:spPr>
      </p:pic>
      <p:sp>
        <p:nvSpPr>
          <p:cNvPr id="11" name="Text 7"/>
          <p:cNvSpPr txBox="1"/>
          <p:nvPr/>
        </p:nvSpPr>
        <p:spPr>
          <a:xfrm>
            <a:off x="4288536" y="1325880"/>
            <a:ext cx="1417320" cy="1188720"/>
          </a:xfrm>
          <a:prstGeom prst="rect">
            <a:avLst/>
          </a:prstGeom>
          <a:noFill/>
          <a:ln/>
        </p:spPr>
        <p:txBody>
          <a:bodyPr wrap="square" lIns="0" tIns="0" rIns="0" bIns="0" rtlCol="0" anchor="ctr"/>
          <a:lstStyle/>
          <a:p>
            <a:pPr indent="0" marL="0">
              <a:buNone/>
            </a:pPr>
            <a:r>
              <a:rPr lang="en-US" sz="1600" b="1" dirty="0">
                <a:solidFill>
                  <a:schemeClr val="tx1"/>
                </a:solidFill>
              </a:rPr>
              <a:t>Inspection</a:t>
            </a:r>
            <a:endParaRPr lang="en-US" sz="1600" dirty="0"/>
          </a:p>
        </p:txBody>
      </p:sp>
      <p:sp>
        <p:nvSpPr>
          <p:cNvPr id="12" name="arrow"/>
          <p:cNvSpPr/>
          <p:nvPr/>
        </p:nvSpPr>
        <p:spPr>
          <a:xfrm>
            <a:off x="5843016" y="1920240"/>
            <a:ext cx="493776" cy="0"/>
          </a:xfrm>
          <a:prstGeom prst="line">
            <a:avLst/>
          </a:prstGeom>
          <a:noFill/>
          <a:ln w="25400">
            <a:solidFill>
              <a:schemeClr val="tx1"/>
            </a:solidFill>
            <a:prstDash val="solid"/>
            <a:tailEnd type="triangle"/>
          </a:ln>
        </p:spPr>
      </p:sp>
      <p:sp>
        <p:nvSpPr>
          <p:cNvPr id="13" name="card"/>
          <p:cNvSpPr/>
          <p:nvPr/>
        </p:nvSpPr>
        <p:spPr>
          <a:xfrm>
            <a:off x="6382512" y="1325880"/>
            <a:ext cx="2377440" cy="1188720"/>
          </a:xfrm>
          <a:prstGeom prst="roundRect">
            <a:avLst>
              <a:gd name="adj" fmla="val 7692"/>
            </a:avLst>
          </a:prstGeom>
          <a:solidFill>
            <a:schemeClr val="accent6"/>
          </a:solidFill>
          <a:ln w="19050">
            <a:solidFill>
              <a:schemeClr val="accent2"/>
            </a:solidFill>
            <a:prstDash val="solid"/>
          </a:ln>
        </p:spPr>
      </p:sp>
      <p:sp>
        <p:nvSpPr>
          <p:cNvPr id="14" name="icon-circle"/>
          <p:cNvSpPr/>
          <p:nvPr/>
        </p:nvSpPr>
        <p:spPr>
          <a:xfrm>
            <a:off x="6565392" y="1645920"/>
            <a:ext cx="548640" cy="548640"/>
          </a:xfrm>
          <a:prstGeom prst="ellipse">
            <a:avLst/>
          </a:prstGeom>
          <a:solidFill>
            <a:schemeClr val="accent2"/>
          </a:solidFill>
          <a:ln w="12700">
            <a:solidFill>
              <a:schemeClr val="accent2"/>
            </a:solidFill>
            <a:prstDash val="solid"/>
          </a:ln>
        </p:spPr>
      </p:sp>
      <p:pic>
        <p:nvPicPr>
          <p:cNvPr id="15" name="Image 2" descr="Cogs icon">    </p:cNvPr>
          <p:cNvPicPr>
            <a:picLocks noChangeAspect="1"/>
          </p:cNvPicPr>
          <p:nvPr/>
        </p:nvPicPr>
        <p:blipFill>
          <a:blip r:embed="rId3"/>
          <a:stretch>
            <a:fillRect/>
          </a:stretch>
        </p:blipFill>
        <p:spPr>
          <a:xfrm>
            <a:off x="6702552" y="1783080"/>
            <a:ext cx="274320" cy="274320"/>
          </a:xfrm>
          <a:prstGeom prst="rect">
            <a:avLst/>
          </a:prstGeom>
        </p:spPr>
      </p:pic>
      <p:sp>
        <p:nvSpPr>
          <p:cNvPr id="16" name="Text 11"/>
          <p:cNvSpPr txBox="1"/>
          <p:nvPr/>
        </p:nvSpPr>
        <p:spPr>
          <a:xfrm>
            <a:off x="7251192" y="1325880"/>
            <a:ext cx="1417320" cy="1188720"/>
          </a:xfrm>
          <a:prstGeom prst="rect">
            <a:avLst/>
          </a:prstGeom>
          <a:noFill/>
          <a:ln/>
        </p:spPr>
        <p:txBody>
          <a:bodyPr wrap="square" lIns="0" tIns="0" rIns="0" bIns="0" rtlCol="0" anchor="ctr"/>
          <a:lstStyle/>
          <a:p>
            <a:pPr indent="0" marL="0">
              <a:buNone/>
            </a:pPr>
            <a:r>
              <a:rPr lang="en-US" sz="1600" b="1" dirty="0">
                <a:solidFill>
                  <a:schemeClr val="tx1"/>
                </a:solidFill>
              </a:rPr>
              <a:t>Preprocessing</a:t>
            </a:r>
            <a:endParaRPr lang="en-US" sz="1600" dirty="0"/>
          </a:p>
        </p:txBody>
      </p:sp>
      <p:sp>
        <p:nvSpPr>
          <p:cNvPr id="17" name="arrow"/>
          <p:cNvSpPr/>
          <p:nvPr/>
        </p:nvSpPr>
        <p:spPr>
          <a:xfrm>
            <a:off x="8805672" y="1920240"/>
            <a:ext cx="493776" cy="0"/>
          </a:xfrm>
          <a:prstGeom prst="line">
            <a:avLst/>
          </a:prstGeom>
          <a:noFill/>
          <a:ln w="25400">
            <a:solidFill>
              <a:schemeClr val="tx1"/>
            </a:solidFill>
            <a:prstDash val="solid"/>
            <a:tailEnd type="triangle"/>
          </a:ln>
        </p:spPr>
      </p:sp>
      <p:sp>
        <p:nvSpPr>
          <p:cNvPr id="18" name="card"/>
          <p:cNvSpPr/>
          <p:nvPr/>
        </p:nvSpPr>
        <p:spPr>
          <a:xfrm>
            <a:off x="9345168" y="1325880"/>
            <a:ext cx="2377440" cy="1188720"/>
          </a:xfrm>
          <a:prstGeom prst="roundRect">
            <a:avLst>
              <a:gd name="adj" fmla="val 7692"/>
            </a:avLst>
          </a:prstGeom>
          <a:solidFill>
            <a:schemeClr val="accent6"/>
          </a:solidFill>
          <a:ln w="19050">
            <a:solidFill>
              <a:schemeClr val="accent2"/>
            </a:solidFill>
            <a:prstDash val="solid"/>
          </a:ln>
        </p:spPr>
      </p:sp>
      <p:sp>
        <p:nvSpPr>
          <p:cNvPr id="19" name="icon-circle"/>
          <p:cNvSpPr/>
          <p:nvPr/>
        </p:nvSpPr>
        <p:spPr>
          <a:xfrm>
            <a:off x="9528048" y="1645920"/>
            <a:ext cx="548640" cy="548640"/>
          </a:xfrm>
          <a:prstGeom prst="ellipse">
            <a:avLst/>
          </a:prstGeom>
          <a:solidFill>
            <a:schemeClr val="accent2"/>
          </a:solidFill>
          <a:ln w="12700">
            <a:solidFill>
              <a:schemeClr val="accent2"/>
            </a:solidFill>
            <a:prstDash val="solid"/>
          </a:ln>
        </p:spPr>
      </p:sp>
      <p:pic>
        <p:nvPicPr>
          <p:cNvPr id="20" name="Image 3" descr="ClipboardCheck icon">    </p:cNvPr>
          <p:cNvPicPr>
            <a:picLocks noChangeAspect="1"/>
          </p:cNvPicPr>
          <p:nvPr/>
        </p:nvPicPr>
        <p:blipFill>
          <a:blip r:embed="rId4"/>
          <a:stretch>
            <a:fillRect/>
          </a:stretch>
        </p:blipFill>
        <p:spPr>
          <a:xfrm>
            <a:off x="9665208" y="1783080"/>
            <a:ext cx="274320" cy="274320"/>
          </a:xfrm>
          <a:prstGeom prst="rect">
            <a:avLst/>
          </a:prstGeom>
        </p:spPr>
      </p:pic>
      <p:sp>
        <p:nvSpPr>
          <p:cNvPr id="21" name="Text 15"/>
          <p:cNvSpPr txBox="1"/>
          <p:nvPr/>
        </p:nvSpPr>
        <p:spPr>
          <a:xfrm>
            <a:off x="10213848" y="1325880"/>
            <a:ext cx="1417320" cy="1188720"/>
          </a:xfrm>
          <a:prstGeom prst="rect">
            <a:avLst/>
          </a:prstGeom>
          <a:noFill/>
          <a:ln/>
        </p:spPr>
        <p:txBody>
          <a:bodyPr wrap="square" lIns="0" tIns="0" rIns="0" bIns="0" rtlCol="0" anchor="ctr"/>
          <a:lstStyle/>
          <a:p>
            <a:pPr indent="0" marL="0">
              <a:buNone/>
            </a:pPr>
            <a:r>
              <a:rPr lang="en-US" sz="1600" b="1" dirty="0">
                <a:solidFill>
                  <a:schemeClr val="tx1"/>
                </a:solidFill>
              </a:rPr>
              <a:t>Quality reports</a:t>
            </a:r>
            <a:endParaRPr lang="en-US" sz="1600" dirty="0"/>
          </a:p>
        </p:txBody>
      </p:sp>
      <p:sp>
        <p:nvSpPr>
          <p:cNvPr id="22" name="card"/>
          <p:cNvSpPr/>
          <p:nvPr/>
        </p:nvSpPr>
        <p:spPr>
          <a:xfrm>
            <a:off x="457200" y="2926080"/>
            <a:ext cx="3611880" cy="2194560"/>
          </a:xfrm>
          <a:prstGeom prst="roundRect">
            <a:avLst>
              <a:gd name="adj" fmla="val 4167"/>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23" name="icon-circle"/>
          <p:cNvSpPr/>
          <p:nvPr/>
        </p:nvSpPr>
        <p:spPr>
          <a:xfrm>
            <a:off x="731520" y="3200400"/>
            <a:ext cx="566928" cy="566928"/>
          </a:xfrm>
          <a:prstGeom prst="ellipse">
            <a:avLst/>
          </a:prstGeom>
          <a:solidFill>
            <a:schemeClr val="accent1"/>
          </a:solidFill>
          <a:ln w="12700">
            <a:solidFill>
              <a:schemeClr val="accent1"/>
            </a:solidFill>
            <a:prstDash val="solid"/>
          </a:ln>
        </p:spPr>
      </p:sp>
      <p:pic>
        <p:nvPicPr>
          <p:cNvPr id="24" name="Image 4" descr="QuestionCircle icon">    </p:cNvPr>
          <p:cNvPicPr>
            <a:picLocks noChangeAspect="1"/>
          </p:cNvPicPr>
          <p:nvPr/>
        </p:nvPicPr>
        <p:blipFill>
          <a:blip r:embed="rId5"/>
          <a:stretch>
            <a:fillRect/>
          </a:stretch>
        </p:blipFill>
        <p:spPr>
          <a:xfrm>
            <a:off x="873252" y="3342132"/>
            <a:ext cx="283464" cy="283464"/>
          </a:xfrm>
          <a:prstGeom prst="rect">
            <a:avLst/>
          </a:prstGeom>
        </p:spPr>
      </p:pic>
      <p:sp>
        <p:nvSpPr>
          <p:cNvPr id="25" name="Text 18"/>
          <p:cNvSpPr txBox="1"/>
          <p:nvPr/>
        </p:nvSpPr>
        <p:spPr>
          <a:xfrm>
            <a:off x="731520" y="3931920"/>
            <a:ext cx="3108960" cy="365760"/>
          </a:xfrm>
          <a:prstGeom prst="rect">
            <a:avLst/>
          </a:prstGeom>
          <a:noFill/>
          <a:ln/>
        </p:spPr>
        <p:txBody>
          <a:bodyPr wrap="square" lIns="0" tIns="0" rIns="0" bIns="0" rtlCol="0" anchor="t"/>
          <a:lstStyle/>
          <a:p>
            <a:pPr indent="0" marL="0">
              <a:buNone/>
            </a:pPr>
            <a:r>
              <a:rPr lang="en-US" sz="1800" b="1" dirty="0">
                <a:solidFill>
                  <a:schemeClr val="tx1"/>
                </a:solidFill>
              </a:rPr>
              <a:t>Missing-value analysis</a:t>
            </a:r>
            <a:endParaRPr lang="en-US" sz="1800" dirty="0"/>
          </a:p>
        </p:txBody>
      </p:sp>
      <p:sp>
        <p:nvSpPr>
          <p:cNvPr id="26" name="Text 19"/>
          <p:cNvSpPr txBox="1"/>
          <p:nvPr/>
        </p:nvSpPr>
        <p:spPr>
          <a:xfrm>
            <a:off x="731520" y="4343400"/>
            <a:ext cx="3108960" cy="731520"/>
          </a:xfrm>
          <a:prstGeom prst="rect">
            <a:avLst/>
          </a:prstGeom>
          <a:noFill/>
          <a:ln/>
        </p:spPr>
        <p:txBody>
          <a:bodyPr wrap="square" lIns="0" tIns="0" rIns="0" bIns="0" rtlCol="0" anchor="t"/>
          <a:lstStyle/>
          <a:p>
            <a:pPr indent="0" marL="0">
              <a:buNone/>
            </a:pPr>
            <a:r>
              <a:rPr lang="en-US" sz="1400" dirty="0">
                <a:solidFill>
                  <a:schemeClr val="tx2"/>
                </a:solidFill>
              </a:rPr>
              <a:t>Find gaps in each column of every EHR file.</a:t>
            </a:r>
            <a:endParaRPr lang="en-US" sz="1400" dirty="0"/>
          </a:p>
        </p:txBody>
      </p:sp>
      <p:sp>
        <p:nvSpPr>
          <p:cNvPr id="27" name="card"/>
          <p:cNvSpPr/>
          <p:nvPr/>
        </p:nvSpPr>
        <p:spPr>
          <a:xfrm>
            <a:off x="4288536" y="2926080"/>
            <a:ext cx="3611880" cy="2194560"/>
          </a:xfrm>
          <a:prstGeom prst="roundRect">
            <a:avLst>
              <a:gd name="adj" fmla="val 4167"/>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28" name="icon-circle"/>
          <p:cNvSpPr/>
          <p:nvPr/>
        </p:nvSpPr>
        <p:spPr>
          <a:xfrm>
            <a:off x="4562856" y="3200400"/>
            <a:ext cx="566928" cy="566928"/>
          </a:xfrm>
          <a:prstGeom prst="ellipse">
            <a:avLst/>
          </a:prstGeom>
          <a:solidFill>
            <a:schemeClr val="accent1"/>
          </a:solidFill>
          <a:ln w="12700">
            <a:solidFill>
              <a:schemeClr val="accent1"/>
            </a:solidFill>
            <a:prstDash val="solid"/>
          </a:ln>
        </p:spPr>
      </p:sp>
      <p:pic>
        <p:nvPicPr>
          <p:cNvPr id="29" name="Image 5" descr="Copy icon">    </p:cNvPr>
          <p:cNvPicPr>
            <a:picLocks noChangeAspect="1"/>
          </p:cNvPicPr>
          <p:nvPr/>
        </p:nvPicPr>
        <p:blipFill>
          <a:blip r:embed="rId6"/>
          <a:stretch>
            <a:fillRect/>
          </a:stretch>
        </p:blipFill>
        <p:spPr>
          <a:xfrm>
            <a:off x="4704588" y="3342132"/>
            <a:ext cx="283464" cy="283464"/>
          </a:xfrm>
          <a:prstGeom prst="rect">
            <a:avLst/>
          </a:prstGeom>
        </p:spPr>
      </p:pic>
      <p:sp>
        <p:nvSpPr>
          <p:cNvPr id="30" name="Text 22"/>
          <p:cNvSpPr txBox="1"/>
          <p:nvPr/>
        </p:nvSpPr>
        <p:spPr>
          <a:xfrm>
            <a:off x="4562856" y="3931920"/>
            <a:ext cx="3108960" cy="365760"/>
          </a:xfrm>
          <a:prstGeom prst="rect">
            <a:avLst/>
          </a:prstGeom>
          <a:noFill/>
          <a:ln/>
        </p:spPr>
        <p:txBody>
          <a:bodyPr wrap="square" lIns="0" tIns="0" rIns="0" bIns="0" rtlCol="0" anchor="t"/>
          <a:lstStyle/>
          <a:p>
            <a:pPr indent="0" marL="0">
              <a:buNone/>
            </a:pPr>
            <a:r>
              <a:rPr lang="en-US" sz="1800" b="1" dirty="0">
                <a:solidFill>
                  <a:schemeClr val="tx1"/>
                </a:solidFill>
              </a:rPr>
              <a:t>Duplicate identification</a:t>
            </a:r>
            <a:endParaRPr lang="en-US" sz="1800" dirty="0"/>
          </a:p>
        </p:txBody>
      </p:sp>
      <p:sp>
        <p:nvSpPr>
          <p:cNvPr id="31" name="Text 23"/>
          <p:cNvSpPr txBox="1"/>
          <p:nvPr/>
        </p:nvSpPr>
        <p:spPr>
          <a:xfrm>
            <a:off x="4562856" y="4343400"/>
            <a:ext cx="3108960" cy="731520"/>
          </a:xfrm>
          <a:prstGeom prst="rect">
            <a:avLst/>
          </a:prstGeom>
          <a:noFill/>
          <a:ln/>
        </p:spPr>
        <p:txBody>
          <a:bodyPr wrap="square" lIns="0" tIns="0" rIns="0" bIns="0" rtlCol="0" anchor="t"/>
          <a:lstStyle/>
          <a:p>
            <a:pPr indent="0" marL="0">
              <a:buNone/>
            </a:pPr>
            <a:r>
              <a:rPr lang="en-US" sz="1400" dirty="0">
                <a:solidFill>
                  <a:schemeClr val="tx2"/>
                </a:solidFill>
              </a:rPr>
              <a:t>Identify duplicate records and remove them during preprocessing.</a:t>
            </a:r>
            <a:endParaRPr lang="en-US" sz="1400" dirty="0"/>
          </a:p>
        </p:txBody>
      </p:sp>
      <p:sp>
        <p:nvSpPr>
          <p:cNvPr id="32" name="card"/>
          <p:cNvSpPr/>
          <p:nvPr/>
        </p:nvSpPr>
        <p:spPr>
          <a:xfrm>
            <a:off x="8119872" y="2926080"/>
            <a:ext cx="3611880" cy="2194560"/>
          </a:xfrm>
          <a:prstGeom prst="roundRect">
            <a:avLst>
              <a:gd name="adj" fmla="val 4167"/>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33" name="icon-circle"/>
          <p:cNvSpPr/>
          <p:nvPr/>
        </p:nvSpPr>
        <p:spPr>
          <a:xfrm>
            <a:off x="8394192" y="3200400"/>
            <a:ext cx="566928" cy="566928"/>
          </a:xfrm>
          <a:prstGeom prst="ellipse">
            <a:avLst/>
          </a:prstGeom>
          <a:solidFill>
            <a:schemeClr val="accent1"/>
          </a:solidFill>
          <a:ln w="12700">
            <a:solidFill>
              <a:schemeClr val="accent1"/>
            </a:solidFill>
            <a:prstDash val="solid"/>
          </a:ln>
        </p:spPr>
      </p:sp>
      <p:pic>
        <p:nvPicPr>
          <p:cNvPr id="34" name="Image 6" descr="Table icon">    </p:cNvPr>
          <p:cNvPicPr>
            <a:picLocks noChangeAspect="1"/>
          </p:cNvPicPr>
          <p:nvPr/>
        </p:nvPicPr>
        <p:blipFill>
          <a:blip r:embed="rId7"/>
          <a:stretch>
            <a:fillRect/>
          </a:stretch>
        </p:blipFill>
        <p:spPr>
          <a:xfrm>
            <a:off x="8535924" y="3342132"/>
            <a:ext cx="283464" cy="283464"/>
          </a:xfrm>
          <a:prstGeom prst="rect">
            <a:avLst/>
          </a:prstGeom>
        </p:spPr>
      </p:pic>
      <p:sp>
        <p:nvSpPr>
          <p:cNvPr id="35" name="Text 26"/>
          <p:cNvSpPr txBox="1"/>
          <p:nvPr/>
        </p:nvSpPr>
        <p:spPr>
          <a:xfrm>
            <a:off x="8394192" y="3931920"/>
            <a:ext cx="3108960" cy="365760"/>
          </a:xfrm>
          <a:prstGeom prst="rect">
            <a:avLst/>
          </a:prstGeom>
          <a:noFill/>
          <a:ln/>
        </p:spPr>
        <p:txBody>
          <a:bodyPr wrap="square" lIns="0" tIns="0" rIns="0" bIns="0" rtlCol="0" anchor="t"/>
          <a:lstStyle/>
          <a:p>
            <a:pPr indent="0" marL="0">
              <a:buNone/>
            </a:pPr>
            <a:r>
              <a:rPr lang="en-US" sz="1800" b="1" dirty="0">
                <a:solidFill>
                  <a:schemeClr val="tx1"/>
                </a:solidFill>
              </a:rPr>
              <a:t>Column-level checks</a:t>
            </a:r>
            <a:endParaRPr lang="en-US" sz="1800" dirty="0"/>
          </a:p>
        </p:txBody>
      </p:sp>
      <p:sp>
        <p:nvSpPr>
          <p:cNvPr id="36" name="Text 27"/>
          <p:cNvSpPr txBox="1"/>
          <p:nvPr/>
        </p:nvSpPr>
        <p:spPr>
          <a:xfrm>
            <a:off x="8394192" y="4343400"/>
            <a:ext cx="3108960" cy="731520"/>
          </a:xfrm>
          <a:prstGeom prst="rect">
            <a:avLst/>
          </a:prstGeom>
          <a:noFill/>
          <a:ln/>
        </p:spPr>
        <p:txBody>
          <a:bodyPr wrap="square" lIns="0" tIns="0" rIns="0" bIns="0" rtlCol="0" anchor="t"/>
          <a:lstStyle/>
          <a:p>
            <a:pPr indent="0" marL="0">
              <a:buNone/>
            </a:pPr>
            <a:r>
              <a:rPr lang="en-US" sz="1400" dirty="0">
                <a:solidFill>
                  <a:schemeClr val="tx2"/>
                </a:solidFill>
              </a:rPr>
              <a:t>Run data quality checks column by column and write the results to reports.</a:t>
            </a:r>
            <a:endParaRPr lang="en-US" sz="1400" dirty="0"/>
          </a:p>
        </p:txBody>
      </p:sp>
      <p:sp>
        <p:nvSpPr>
          <p:cNvPr id="37" name="card"/>
          <p:cNvSpPr/>
          <p:nvPr/>
        </p:nvSpPr>
        <p:spPr>
          <a:xfrm>
            <a:off x="457200" y="5349240"/>
            <a:ext cx="11274552" cy="731520"/>
          </a:xfrm>
          <a:prstGeom prst="roundRect">
            <a:avLst>
              <a:gd name="adj" fmla="val 12500"/>
            </a:avLst>
          </a:prstGeom>
          <a:solidFill>
            <a:schemeClr val="accent6"/>
          </a:solidFill>
          <a:ln w="12700">
            <a:solidFill>
              <a:schemeClr val="accent1"/>
            </a:solidFill>
            <a:prstDash val="solid"/>
          </a:ln>
        </p:spPr>
      </p:sp>
      <p:sp>
        <p:nvSpPr>
          <p:cNvPr id="38" name="Text 29"/>
          <p:cNvSpPr txBox="1"/>
          <p:nvPr/>
        </p:nvSpPr>
        <p:spPr>
          <a:xfrm>
            <a:off x="731520" y="5349240"/>
            <a:ext cx="10789920" cy="731520"/>
          </a:xfrm>
          <a:prstGeom prst="rect">
            <a:avLst/>
          </a:prstGeom>
          <a:noFill/>
          <a:ln/>
        </p:spPr>
        <p:txBody>
          <a:bodyPr wrap="square" lIns="0" tIns="0" rIns="0" bIns="0" rtlCol="0" anchor="ctr"/>
          <a:lstStyle/>
          <a:p>
            <a:pPr indent="0" marL="0">
              <a:buNone/>
            </a:pPr>
            <a:r>
              <a:rPr lang="en-US" sz="1600" b="1" dirty="0">
                <a:solidFill>
                  <a:schemeClr val="tx1"/>
                </a:solidFill>
              </a:rPr>
              <a:t>Output: cleaned EHR data and data quality reports.  Raw source data is preserved.</a:t>
            </a:r>
            <a:endParaRPr lang="en-US" sz="1600" dirty="0"/>
          </a:p>
        </p:txBody>
      </p:sp>
      <p:sp>
        <p:nvSpPr>
          <p:cNvPr id="25" name="Slide Number Placeholder 0"/>
          <p:cNvSpPr>
            <a:spLocks noGrp="1"/>
          </p:cNvSpPr>
          <p:nvPr>
            <p:ph type="sldNum" sz="quarter" idx="4294967295"/>
          </p:nvPr>
        </p:nvSpPr>
        <p:spPr>
          <a:xfrm>
            <a:off x="10972800" y="6446520"/>
            <a:ext cx="75895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ctr"/>
          <a:lstStyle/>
          <a:p>
            <a:pPr algn="l" indent="0" marL="0">
              <a:buNone/>
            </a:pPr>
            <a:r>
              <a:rPr lang="en-US" sz="3200" b="1" dirty="0">
                <a:solidFill>
                  <a:schemeClr val="tx1"/>
                </a:solidFill>
              </a:rPr>
              <a:t>Wearable data preprocessing</a:t>
            </a:r>
            <a:endParaRPr lang="en-US" sz="3200" dirty="0"/>
          </a:p>
        </p:txBody>
      </p:sp>
      <p:sp>
        <p:nvSpPr>
          <p:cNvPr id="3" name="card"/>
          <p:cNvSpPr/>
          <p:nvPr/>
        </p:nvSpPr>
        <p:spPr>
          <a:xfrm>
            <a:off x="457200" y="1325880"/>
            <a:ext cx="2377440" cy="1188720"/>
          </a:xfrm>
          <a:prstGeom prst="roundRect">
            <a:avLst>
              <a:gd name="adj" fmla="val 7692"/>
            </a:avLst>
          </a:prstGeom>
          <a:solidFill>
            <a:schemeClr val="accent6"/>
          </a:solidFill>
          <a:ln w="19050">
            <a:solidFill>
              <a:schemeClr val="accent2"/>
            </a:solidFill>
            <a:prstDash val="solid"/>
          </a:ln>
        </p:spPr>
      </p:sp>
      <p:sp>
        <p:nvSpPr>
          <p:cNvPr id="4" name="icon-circle"/>
          <p:cNvSpPr/>
          <p:nvPr/>
        </p:nvSpPr>
        <p:spPr>
          <a:xfrm>
            <a:off x="640080" y="1645920"/>
            <a:ext cx="548640" cy="548640"/>
          </a:xfrm>
          <a:prstGeom prst="ellipse">
            <a:avLst/>
          </a:prstGeom>
          <a:solidFill>
            <a:schemeClr val="accent2"/>
          </a:solidFill>
          <a:ln w="12700">
            <a:solidFill>
              <a:schemeClr val="accent2"/>
            </a:solidFill>
            <a:prstDash val="solid"/>
          </a:ln>
        </p:spPr>
      </p:sp>
      <p:pic>
        <p:nvPicPr>
          <p:cNvPr id="5" name="Image 0" descr="Heartbeat icon">    </p:cNvPr>
          <p:cNvPicPr>
            <a:picLocks noChangeAspect="1"/>
          </p:cNvPicPr>
          <p:nvPr/>
        </p:nvPicPr>
        <p:blipFill>
          <a:blip r:embed="rId1"/>
          <a:stretch>
            <a:fillRect/>
          </a:stretch>
        </p:blipFill>
        <p:spPr>
          <a:xfrm>
            <a:off x="777240" y="1783080"/>
            <a:ext cx="274320" cy="274320"/>
          </a:xfrm>
          <a:prstGeom prst="rect">
            <a:avLst/>
          </a:prstGeom>
        </p:spPr>
      </p:pic>
      <p:sp>
        <p:nvSpPr>
          <p:cNvPr id="6" name="Text 3"/>
          <p:cNvSpPr txBox="1"/>
          <p:nvPr/>
        </p:nvSpPr>
        <p:spPr>
          <a:xfrm>
            <a:off x="1325880" y="1325880"/>
            <a:ext cx="1417320" cy="1188720"/>
          </a:xfrm>
          <a:prstGeom prst="rect">
            <a:avLst/>
          </a:prstGeom>
          <a:noFill/>
          <a:ln/>
        </p:spPr>
        <p:txBody>
          <a:bodyPr wrap="square" lIns="0" tIns="0" rIns="0" bIns="0" rtlCol="0" anchor="ctr"/>
          <a:lstStyle/>
          <a:p>
            <a:pPr indent="0" marL="0">
              <a:buNone/>
            </a:pPr>
            <a:r>
              <a:rPr lang="en-US" sz="1600" b="1" dirty="0">
                <a:solidFill>
                  <a:schemeClr val="tx1"/>
                </a:solidFill>
              </a:rPr>
              <a:t>Glucose time series</a:t>
            </a:r>
            <a:endParaRPr lang="en-US" sz="1600" dirty="0"/>
          </a:p>
        </p:txBody>
      </p:sp>
      <p:sp>
        <p:nvSpPr>
          <p:cNvPr id="7" name="arrow"/>
          <p:cNvSpPr/>
          <p:nvPr/>
        </p:nvSpPr>
        <p:spPr>
          <a:xfrm>
            <a:off x="2880360" y="1920240"/>
            <a:ext cx="493776" cy="0"/>
          </a:xfrm>
          <a:prstGeom prst="line">
            <a:avLst/>
          </a:prstGeom>
          <a:noFill/>
          <a:ln w="25400">
            <a:solidFill>
              <a:schemeClr val="tx1"/>
            </a:solidFill>
            <a:prstDash val="solid"/>
            <a:tailEnd type="triangle"/>
          </a:ln>
        </p:spPr>
      </p:sp>
      <p:sp>
        <p:nvSpPr>
          <p:cNvPr id="8" name="card"/>
          <p:cNvSpPr/>
          <p:nvPr/>
        </p:nvSpPr>
        <p:spPr>
          <a:xfrm>
            <a:off x="3419856" y="1325880"/>
            <a:ext cx="2377440" cy="1188720"/>
          </a:xfrm>
          <a:prstGeom prst="roundRect">
            <a:avLst>
              <a:gd name="adj" fmla="val 7692"/>
            </a:avLst>
          </a:prstGeom>
          <a:solidFill>
            <a:schemeClr val="accent6"/>
          </a:solidFill>
          <a:ln w="19050">
            <a:solidFill>
              <a:schemeClr val="accent2"/>
            </a:solidFill>
            <a:prstDash val="solid"/>
          </a:ln>
        </p:spPr>
      </p:sp>
      <p:sp>
        <p:nvSpPr>
          <p:cNvPr id="9" name="icon-circle"/>
          <p:cNvSpPr/>
          <p:nvPr/>
        </p:nvSpPr>
        <p:spPr>
          <a:xfrm>
            <a:off x="3602736" y="1645920"/>
            <a:ext cx="548640" cy="548640"/>
          </a:xfrm>
          <a:prstGeom prst="ellipse">
            <a:avLst/>
          </a:prstGeom>
          <a:solidFill>
            <a:schemeClr val="accent2"/>
          </a:solidFill>
          <a:ln w="12700">
            <a:solidFill>
              <a:schemeClr val="accent2"/>
            </a:solidFill>
            <a:prstDash val="solid"/>
          </a:ln>
        </p:spPr>
      </p:sp>
      <p:pic>
        <p:nvPicPr>
          <p:cNvPr id="10" name="Image 1" descr="Broom icon">    </p:cNvPr>
          <p:cNvPicPr>
            <a:picLocks noChangeAspect="1"/>
          </p:cNvPicPr>
          <p:nvPr/>
        </p:nvPicPr>
        <p:blipFill>
          <a:blip r:embed="rId2"/>
          <a:stretch>
            <a:fillRect/>
          </a:stretch>
        </p:blipFill>
        <p:spPr>
          <a:xfrm>
            <a:off x="3739896" y="1783080"/>
            <a:ext cx="274320" cy="274320"/>
          </a:xfrm>
          <a:prstGeom prst="rect">
            <a:avLst/>
          </a:prstGeom>
        </p:spPr>
      </p:pic>
      <p:sp>
        <p:nvSpPr>
          <p:cNvPr id="11" name="Text 7"/>
          <p:cNvSpPr txBox="1"/>
          <p:nvPr/>
        </p:nvSpPr>
        <p:spPr>
          <a:xfrm>
            <a:off x="4288536" y="1325880"/>
            <a:ext cx="1417320" cy="1188720"/>
          </a:xfrm>
          <a:prstGeom prst="rect">
            <a:avLst/>
          </a:prstGeom>
          <a:noFill/>
          <a:ln/>
        </p:spPr>
        <p:txBody>
          <a:bodyPr wrap="square" lIns="0" tIns="0" rIns="0" bIns="0" rtlCol="0" anchor="ctr"/>
          <a:lstStyle/>
          <a:p>
            <a:pPr indent="0" marL="0">
              <a:buNone/>
            </a:pPr>
            <a:r>
              <a:rPr lang="en-US" sz="1600" b="1" dirty="0">
                <a:solidFill>
                  <a:schemeClr val="tx1"/>
                </a:solidFill>
              </a:rPr>
              <a:t>Data cleaning</a:t>
            </a:r>
            <a:endParaRPr lang="en-US" sz="1600" dirty="0"/>
          </a:p>
        </p:txBody>
      </p:sp>
      <p:sp>
        <p:nvSpPr>
          <p:cNvPr id="12" name="arrow"/>
          <p:cNvSpPr/>
          <p:nvPr/>
        </p:nvSpPr>
        <p:spPr>
          <a:xfrm>
            <a:off x="5843016" y="1920240"/>
            <a:ext cx="493776" cy="0"/>
          </a:xfrm>
          <a:prstGeom prst="line">
            <a:avLst/>
          </a:prstGeom>
          <a:noFill/>
          <a:ln w="25400">
            <a:solidFill>
              <a:schemeClr val="tx1"/>
            </a:solidFill>
            <a:prstDash val="solid"/>
            <a:tailEnd type="triangle"/>
          </a:ln>
        </p:spPr>
      </p:sp>
      <p:sp>
        <p:nvSpPr>
          <p:cNvPr id="13" name="card"/>
          <p:cNvSpPr/>
          <p:nvPr/>
        </p:nvSpPr>
        <p:spPr>
          <a:xfrm>
            <a:off x="6382512" y="1325880"/>
            <a:ext cx="2377440" cy="1188720"/>
          </a:xfrm>
          <a:prstGeom prst="roundRect">
            <a:avLst>
              <a:gd name="adj" fmla="val 7692"/>
            </a:avLst>
          </a:prstGeom>
          <a:solidFill>
            <a:schemeClr val="accent6"/>
          </a:solidFill>
          <a:ln w="19050">
            <a:solidFill>
              <a:schemeClr val="accent2"/>
            </a:solidFill>
            <a:prstDash val="solid"/>
          </a:ln>
        </p:spPr>
      </p:sp>
      <p:sp>
        <p:nvSpPr>
          <p:cNvPr id="14" name="icon-circle"/>
          <p:cNvSpPr/>
          <p:nvPr/>
        </p:nvSpPr>
        <p:spPr>
          <a:xfrm>
            <a:off x="6565392" y="1645920"/>
            <a:ext cx="548640" cy="548640"/>
          </a:xfrm>
          <a:prstGeom prst="ellipse">
            <a:avLst/>
          </a:prstGeom>
          <a:solidFill>
            <a:schemeClr val="accent2"/>
          </a:solidFill>
          <a:ln w="12700">
            <a:solidFill>
              <a:schemeClr val="accent2"/>
            </a:solidFill>
            <a:prstDash val="solid"/>
          </a:ln>
        </p:spPr>
      </p:sp>
      <p:pic>
        <p:nvPicPr>
          <p:cNvPr id="15" name="Image 2" descr="LayerGroup icon">    </p:cNvPr>
          <p:cNvPicPr>
            <a:picLocks noChangeAspect="1"/>
          </p:cNvPicPr>
          <p:nvPr/>
        </p:nvPicPr>
        <p:blipFill>
          <a:blip r:embed="rId3"/>
          <a:stretch>
            <a:fillRect/>
          </a:stretch>
        </p:blipFill>
        <p:spPr>
          <a:xfrm>
            <a:off x="6702552" y="1783080"/>
            <a:ext cx="274320" cy="274320"/>
          </a:xfrm>
          <a:prstGeom prst="rect">
            <a:avLst/>
          </a:prstGeom>
        </p:spPr>
      </p:pic>
      <p:sp>
        <p:nvSpPr>
          <p:cNvPr id="16" name="Text 11"/>
          <p:cNvSpPr txBox="1"/>
          <p:nvPr/>
        </p:nvSpPr>
        <p:spPr>
          <a:xfrm>
            <a:off x="7251192" y="1325880"/>
            <a:ext cx="1417320" cy="1188720"/>
          </a:xfrm>
          <a:prstGeom prst="rect">
            <a:avLst/>
          </a:prstGeom>
          <a:noFill/>
          <a:ln/>
        </p:spPr>
        <p:txBody>
          <a:bodyPr wrap="square" lIns="0" tIns="0" rIns="0" bIns="0" rtlCol="0" anchor="ctr"/>
          <a:lstStyle/>
          <a:p>
            <a:pPr indent="0" marL="0">
              <a:buNone/>
            </a:pPr>
            <a:r>
              <a:rPr lang="en-US" sz="1600" b="1" dirty="0">
                <a:solidFill>
                  <a:schemeClr val="tx1"/>
                </a:solidFill>
              </a:rPr>
              <a:t>Feature engineering</a:t>
            </a:r>
            <a:endParaRPr lang="en-US" sz="1600" dirty="0"/>
          </a:p>
        </p:txBody>
      </p:sp>
      <p:sp>
        <p:nvSpPr>
          <p:cNvPr id="17" name="arrow"/>
          <p:cNvSpPr/>
          <p:nvPr/>
        </p:nvSpPr>
        <p:spPr>
          <a:xfrm>
            <a:off x="8805672" y="1920240"/>
            <a:ext cx="493776" cy="0"/>
          </a:xfrm>
          <a:prstGeom prst="line">
            <a:avLst/>
          </a:prstGeom>
          <a:noFill/>
          <a:ln w="25400">
            <a:solidFill>
              <a:schemeClr val="tx1"/>
            </a:solidFill>
            <a:prstDash val="solid"/>
            <a:tailEnd type="triangle"/>
          </a:ln>
        </p:spPr>
      </p:sp>
      <p:sp>
        <p:nvSpPr>
          <p:cNvPr id="18" name="card"/>
          <p:cNvSpPr/>
          <p:nvPr/>
        </p:nvSpPr>
        <p:spPr>
          <a:xfrm>
            <a:off x="9345168" y="1325880"/>
            <a:ext cx="2377440" cy="1188720"/>
          </a:xfrm>
          <a:prstGeom prst="roundRect">
            <a:avLst>
              <a:gd name="adj" fmla="val 7692"/>
            </a:avLst>
          </a:prstGeom>
          <a:solidFill>
            <a:schemeClr val="accent6"/>
          </a:solidFill>
          <a:ln w="19050">
            <a:solidFill>
              <a:schemeClr val="accent2"/>
            </a:solidFill>
            <a:prstDash val="solid"/>
          </a:ln>
        </p:spPr>
      </p:sp>
      <p:sp>
        <p:nvSpPr>
          <p:cNvPr id="19" name="icon-circle"/>
          <p:cNvSpPr/>
          <p:nvPr/>
        </p:nvSpPr>
        <p:spPr>
          <a:xfrm>
            <a:off x="9528048" y="1645920"/>
            <a:ext cx="548640" cy="548640"/>
          </a:xfrm>
          <a:prstGeom prst="ellipse">
            <a:avLst/>
          </a:prstGeom>
          <a:solidFill>
            <a:schemeClr val="accent2"/>
          </a:solidFill>
          <a:ln w="12700">
            <a:solidFill>
              <a:schemeClr val="accent2"/>
            </a:solidFill>
            <a:prstDash val="solid"/>
          </a:ln>
        </p:spPr>
      </p:sp>
      <p:pic>
        <p:nvPicPr>
          <p:cNvPr id="20" name="Image 3" descr="Table icon">    </p:cNvPr>
          <p:cNvPicPr>
            <a:picLocks noChangeAspect="1"/>
          </p:cNvPicPr>
          <p:nvPr/>
        </p:nvPicPr>
        <p:blipFill>
          <a:blip r:embed="rId4"/>
          <a:stretch>
            <a:fillRect/>
          </a:stretch>
        </p:blipFill>
        <p:spPr>
          <a:xfrm>
            <a:off x="9665208" y="1783080"/>
            <a:ext cx="274320" cy="274320"/>
          </a:xfrm>
          <a:prstGeom prst="rect">
            <a:avLst/>
          </a:prstGeom>
        </p:spPr>
      </p:pic>
      <p:sp>
        <p:nvSpPr>
          <p:cNvPr id="21" name="Text 15"/>
          <p:cNvSpPr txBox="1"/>
          <p:nvPr/>
        </p:nvSpPr>
        <p:spPr>
          <a:xfrm>
            <a:off x="10213848" y="1325880"/>
            <a:ext cx="1417320" cy="1188720"/>
          </a:xfrm>
          <a:prstGeom prst="rect">
            <a:avLst/>
          </a:prstGeom>
          <a:noFill/>
          <a:ln/>
        </p:spPr>
        <p:txBody>
          <a:bodyPr wrap="square" lIns="0" tIns="0" rIns="0" bIns="0" rtlCol="0" anchor="ctr"/>
          <a:lstStyle/>
          <a:p>
            <a:pPr indent="0" marL="0">
              <a:buNone/>
            </a:pPr>
            <a:r>
              <a:rPr lang="en-US" sz="1600" b="1" dirty="0">
                <a:solidFill>
                  <a:schemeClr val="tx1"/>
                </a:solidFill>
              </a:rPr>
              <a:t>Forecasting features</a:t>
            </a:r>
            <a:endParaRPr lang="en-US" sz="1600" dirty="0"/>
          </a:p>
        </p:txBody>
      </p:sp>
      <p:sp>
        <p:nvSpPr>
          <p:cNvPr id="22" name="card"/>
          <p:cNvSpPr/>
          <p:nvPr/>
        </p:nvSpPr>
        <p:spPr>
          <a:xfrm>
            <a:off x="457200" y="2834640"/>
            <a:ext cx="11274552" cy="2240280"/>
          </a:xfrm>
          <a:prstGeom prst="roundRect">
            <a:avLst>
              <a:gd name="adj" fmla="val 4082"/>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23" name="Text 17"/>
          <p:cNvSpPr txBox="1"/>
          <p:nvPr/>
        </p:nvSpPr>
        <p:spPr>
          <a:xfrm>
            <a:off x="731520" y="2971800"/>
            <a:ext cx="7315200" cy="411480"/>
          </a:xfrm>
          <a:prstGeom prst="rect">
            <a:avLst/>
          </a:prstGeom>
          <a:noFill/>
          <a:ln/>
        </p:spPr>
        <p:txBody>
          <a:bodyPr wrap="square" lIns="0" tIns="0" rIns="0" bIns="0" rtlCol="0" anchor="t"/>
          <a:lstStyle/>
          <a:p>
            <a:pPr indent="0" marL="0">
              <a:buNone/>
            </a:pPr>
            <a:r>
              <a:rPr lang="en-US" sz="2000" b="1" dirty="0">
                <a:solidFill>
                  <a:schemeClr val="tx1"/>
                </a:solidFill>
              </a:rPr>
              <a:t>Sampling interval: one reading every 5 minutes</a:t>
            </a:r>
            <a:endParaRPr lang="en-US" sz="2000" dirty="0"/>
          </a:p>
        </p:txBody>
      </p:sp>
      <p:sp>
        <p:nvSpPr>
          <p:cNvPr id="24" name="Shape 18"/>
          <p:cNvSpPr/>
          <p:nvPr/>
        </p:nvSpPr>
        <p:spPr>
          <a:xfrm>
            <a:off x="914400" y="4069080"/>
            <a:ext cx="10314432" cy="0"/>
          </a:xfrm>
          <a:prstGeom prst="line">
            <a:avLst/>
          </a:prstGeom>
          <a:noFill/>
          <a:ln w="31750">
            <a:solidFill>
              <a:schemeClr val="accent5"/>
            </a:solidFill>
            <a:prstDash val="solid"/>
          </a:ln>
        </p:spPr>
      </p:sp>
      <p:sp>
        <p:nvSpPr>
          <p:cNvPr id="25" name="Shape 19"/>
          <p:cNvSpPr/>
          <p:nvPr/>
        </p:nvSpPr>
        <p:spPr>
          <a:xfrm>
            <a:off x="813816" y="3968496"/>
            <a:ext cx="201168" cy="201168"/>
          </a:xfrm>
          <a:prstGeom prst="ellipse">
            <a:avLst/>
          </a:prstGeom>
          <a:solidFill>
            <a:schemeClr val="accent1"/>
          </a:solidFill>
          <a:ln w="19050">
            <a:solidFill>
              <a:schemeClr val="bg2"/>
            </a:solidFill>
            <a:prstDash val="solid"/>
          </a:ln>
        </p:spPr>
      </p:sp>
      <p:sp>
        <p:nvSpPr>
          <p:cNvPr id="26" name="Text 20"/>
          <p:cNvSpPr txBox="1"/>
          <p:nvPr/>
        </p:nvSpPr>
        <p:spPr>
          <a:xfrm>
            <a:off x="548640" y="4297680"/>
            <a:ext cx="731520" cy="274320"/>
          </a:xfrm>
          <a:prstGeom prst="rect">
            <a:avLst/>
          </a:prstGeom>
          <a:noFill/>
          <a:ln/>
        </p:spPr>
        <p:txBody>
          <a:bodyPr wrap="square" lIns="0" tIns="0" rIns="0" bIns="0" rtlCol="0" anchor="t"/>
          <a:lstStyle/>
          <a:p>
            <a:pPr algn="ctr" indent="0" marL="0">
              <a:buNone/>
            </a:pPr>
            <a:r>
              <a:rPr lang="en-US" sz="1200" b="1" dirty="0">
                <a:solidFill>
                  <a:schemeClr val="tx2"/>
                </a:solidFill>
              </a:rPr>
              <a:t>0</a:t>
            </a:r>
            <a:endParaRPr lang="en-US" sz="1200" dirty="0"/>
          </a:p>
        </p:txBody>
      </p:sp>
      <p:sp>
        <p:nvSpPr>
          <p:cNvPr id="27" name="Shape 21"/>
          <p:cNvSpPr/>
          <p:nvPr/>
        </p:nvSpPr>
        <p:spPr>
          <a:xfrm>
            <a:off x="1673352" y="3968496"/>
            <a:ext cx="201168" cy="201168"/>
          </a:xfrm>
          <a:prstGeom prst="ellipse">
            <a:avLst/>
          </a:prstGeom>
          <a:solidFill>
            <a:schemeClr val="accent2"/>
          </a:solidFill>
          <a:ln w="19050">
            <a:solidFill>
              <a:schemeClr val="bg2"/>
            </a:solidFill>
            <a:prstDash val="solid"/>
          </a:ln>
        </p:spPr>
      </p:sp>
      <p:sp>
        <p:nvSpPr>
          <p:cNvPr id="28" name="Text 22"/>
          <p:cNvSpPr txBox="1"/>
          <p:nvPr/>
        </p:nvSpPr>
        <p:spPr>
          <a:xfrm>
            <a:off x="1408176" y="4297680"/>
            <a:ext cx="731520" cy="274320"/>
          </a:xfrm>
          <a:prstGeom prst="rect">
            <a:avLst/>
          </a:prstGeom>
          <a:noFill/>
          <a:ln/>
        </p:spPr>
        <p:txBody>
          <a:bodyPr wrap="square" lIns="0" tIns="0" rIns="0" bIns="0" rtlCol="0" anchor="t"/>
          <a:lstStyle/>
          <a:p>
            <a:pPr algn="ctr" indent="0" marL="0">
              <a:buNone/>
            </a:pPr>
            <a:r>
              <a:rPr lang="en-US" sz="1200" b="1" dirty="0">
                <a:solidFill>
                  <a:schemeClr val="tx2"/>
                </a:solidFill>
              </a:rPr>
              <a:t>5</a:t>
            </a:r>
            <a:endParaRPr lang="en-US" sz="1200" dirty="0"/>
          </a:p>
        </p:txBody>
      </p:sp>
      <p:sp>
        <p:nvSpPr>
          <p:cNvPr id="29" name="Shape 23"/>
          <p:cNvSpPr/>
          <p:nvPr/>
        </p:nvSpPr>
        <p:spPr>
          <a:xfrm>
            <a:off x="2532888" y="3968496"/>
            <a:ext cx="201168" cy="201168"/>
          </a:xfrm>
          <a:prstGeom prst="ellipse">
            <a:avLst/>
          </a:prstGeom>
          <a:solidFill>
            <a:schemeClr val="accent2"/>
          </a:solidFill>
          <a:ln w="19050">
            <a:solidFill>
              <a:schemeClr val="bg2"/>
            </a:solidFill>
            <a:prstDash val="solid"/>
          </a:ln>
        </p:spPr>
      </p:sp>
      <p:sp>
        <p:nvSpPr>
          <p:cNvPr id="30" name="Text 24"/>
          <p:cNvSpPr txBox="1"/>
          <p:nvPr/>
        </p:nvSpPr>
        <p:spPr>
          <a:xfrm>
            <a:off x="2267712" y="4297680"/>
            <a:ext cx="731520" cy="274320"/>
          </a:xfrm>
          <a:prstGeom prst="rect">
            <a:avLst/>
          </a:prstGeom>
          <a:noFill/>
          <a:ln/>
        </p:spPr>
        <p:txBody>
          <a:bodyPr wrap="square" lIns="0" tIns="0" rIns="0" bIns="0" rtlCol="0" anchor="t"/>
          <a:lstStyle/>
          <a:p>
            <a:pPr algn="ctr" indent="0" marL="0">
              <a:buNone/>
            </a:pPr>
            <a:r>
              <a:rPr lang="en-US" sz="1200" b="1" dirty="0">
                <a:solidFill>
                  <a:schemeClr val="tx2"/>
                </a:solidFill>
              </a:rPr>
              <a:t>10</a:t>
            </a:r>
            <a:endParaRPr lang="en-US" sz="1200" dirty="0"/>
          </a:p>
        </p:txBody>
      </p:sp>
      <p:sp>
        <p:nvSpPr>
          <p:cNvPr id="31" name="Shape 25"/>
          <p:cNvSpPr/>
          <p:nvPr/>
        </p:nvSpPr>
        <p:spPr>
          <a:xfrm>
            <a:off x="3392424" y="3968496"/>
            <a:ext cx="201168" cy="201168"/>
          </a:xfrm>
          <a:prstGeom prst="ellipse">
            <a:avLst/>
          </a:prstGeom>
          <a:solidFill>
            <a:schemeClr val="accent2"/>
          </a:solidFill>
          <a:ln w="19050">
            <a:solidFill>
              <a:schemeClr val="bg2"/>
            </a:solidFill>
            <a:prstDash val="solid"/>
          </a:ln>
        </p:spPr>
      </p:sp>
      <p:sp>
        <p:nvSpPr>
          <p:cNvPr id="32" name="Text 26"/>
          <p:cNvSpPr txBox="1"/>
          <p:nvPr/>
        </p:nvSpPr>
        <p:spPr>
          <a:xfrm>
            <a:off x="3127248" y="4297680"/>
            <a:ext cx="731520" cy="274320"/>
          </a:xfrm>
          <a:prstGeom prst="rect">
            <a:avLst/>
          </a:prstGeom>
          <a:noFill/>
          <a:ln/>
        </p:spPr>
        <p:txBody>
          <a:bodyPr wrap="square" lIns="0" tIns="0" rIns="0" bIns="0" rtlCol="0" anchor="t"/>
          <a:lstStyle/>
          <a:p>
            <a:pPr algn="ctr" indent="0" marL="0">
              <a:buNone/>
            </a:pPr>
            <a:r>
              <a:rPr lang="en-US" sz="1200" b="1" dirty="0">
                <a:solidFill>
                  <a:schemeClr val="tx2"/>
                </a:solidFill>
              </a:rPr>
              <a:t>15</a:t>
            </a:r>
            <a:endParaRPr lang="en-US" sz="1200" dirty="0"/>
          </a:p>
        </p:txBody>
      </p:sp>
      <p:sp>
        <p:nvSpPr>
          <p:cNvPr id="33" name="Shape 27"/>
          <p:cNvSpPr/>
          <p:nvPr/>
        </p:nvSpPr>
        <p:spPr>
          <a:xfrm>
            <a:off x="4251960" y="3968496"/>
            <a:ext cx="201168" cy="201168"/>
          </a:xfrm>
          <a:prstGeom prst="ellipse">
            <a:avLst/>
          </a:prstGeom>
          <a:solidFill>
            <a:schemeClr val="accent2"/>
          </a:solidFill>
          <a:ln w="19050">
            <a:solidFill>
              <a:schemeClr val="bg2"/>
            </a:solidFill>
            <a:prstDash val="solid"/>
          </a:ln>
        </p:spPr>
      </p:sp>
      <p:sp>
        <p:nvSpPr>
          <p:cNvPr id="34" name="Text 28"/>
          <p:cNvSpPr txBox="1"/>
          <p:nvPr/>
        </p:nvSpPr>
        <p:spPr>
          <a:xfrm>
            <a:off x="3986784" y="4297680"/>
            <a:ext cx="731520" cy="274320"/>
          </a:xfrm>
          <a:prstGeom prst="rect">
            <a:avLst/>
          </a:prstGeom>
          <a:noFill/>
          <a:ln/>
        </p:spPr>
        <p:txBody>
          <a:bodyPr wrap="square" lIns="0" tIns="0" rIns="0" bIns="0" rtlCol="0" anchor="t"/>
          <a:lstStyle/>
          <a:p>
            <a:pPr algn="ctr" indent="0" marL="0">
              <a:buNone/>
            </a:pPr>
            <a:r>
              <a:rPr lang="en-US" sz="1200" b="1" dirty="0">
                <a:solidFill>
                  <a:schemeClr val="tx2"/>
                </a:solidFill>
              </a:rPr>
              <a:t>20</a:t>
            </a:r>
            <a:endParaRPr lang="en-US" sz="1200" dirty="0"/>
          </a:p>
        </p:txBody>
      </p:sp>
      <p:sp>
        <p:nvSpPr>
          <p:cNvPr id="35" name="Shape 29"/>
          <p:cNvSpPr/>
          <p:nvPr/>
        </p:nvSpPr>
        <p:spPr>
          <a:xfrm>
            <a:off x="5111496" y="3968496"/>
            <a:ext cx="201168" cy="201168"/>
          </a:xfrm>
          <a:prstGeom prst="ellipse">
            <a:avLst/>
          </a:prstGeom>
          <a:solidFill>
            <a:schemeClr val="accent2"/>
          </a:solidFill>
          <a:ln w="19050">
            <a:solidFill>
              <a:schemeClr val="bg2"/>
            </a:solidFill>
            <a:prstDash val="solid"/>
          </a:ln>
        </p:spPr>
      </p:sp>
      <p:sp>
        <p:nvSpPr>
          <p:cNvPr id="36" name="Text 30"/>
          <p:cNvSpPr txBox="1"/>
          <p:nvPr/>
        </p:nvSpPr>
        <p:spPr>
          <a:xfrm>
            <a:off x="4846320" y="4297680"/>
            <a:ext cx="731520" cy="274320"/>
          </a:xfrm>
          <a:prstGeom prst="rect">
            <a:avLst/>
          </a:prstGeom>
          <a:noFill/>
          <a:ln/>
        </p:spPr>
        <p:txBody>
          <a:bodyPr wrap="square" lIns="0" tIns="0" rIns="0" bIns="0" rtlCol="0" anchor="t"/>
          <a:lstStyle/>
          <a:p>
            <a:pPr algn="ctr" indent="0" marL="0">
              <a:buNone/>
            </a:pPr>
            <a:r>
              <a:rPr lang="en-US" sz="1200" b="1" dirty="0">
                <a:solidFill>
                  <a:schemeClr val="tx2"/>
                </a:solidFill>
              </a:rPr>
              <a:t>25</a:t>
            </a:r>
            <a:endParaRPr lang="en-US" sz="1200" dirty="0"/>
          </a:p>
        </p:txBody>
      </p:sp>
      <p:sp>
        <p:nvSpPr>
          <p:cNvPr id="37" name="Shape 31"/>
          <p:cNvSpPr/>
          <p:nvPr/>
        </p:nvSpPr>
        <p:spPr>
          <a:xfrm>
            <a:off x="5971032" y="3968496"/>
            <a:ext cx="201168" cy="201168"/>
          </a:xfrm>
          <a:prstGeom prst="ellipse">
            <a:avLst/>
          </a:prstGeom>
          <a:solidFill>
            <a:schemeClr val="accent2"/>
          </a:solidFill>
          <a:ln w="19050">
            <a:solidFill>
              <a:schemeClr val="bg2"/>
            </a:solidFill>
            <a:prstDash val="solid"/>
          </a:ln>
        </p:spPr>
      </p:sp>
      <p:sp>
        <p:nvSpPr>
          <p:cNvPr id="38" name="Text 32"/>
          <p:cNvSpPr txBox="1"/>
          <p:nvPr/>
        </p:nvSpPr>
        <p:spPr>
          <a:xfrm>
            <a:off x="5705856" y="4297680"/>
            <a:ext cx="731520" cy="274320"/>
          </a:xfrm>
          <a:prstGeom prst="rect">
            <a:avLst/>
          </a:prstGeom>
          <a:noFill/>
          <a:ln/>
        </p:spPr>
        <p:txBody>
          <a:bodyPr wrap="square" lIns="0" tIns="0" rIns="0" bIns="0" rtlCol="0" anchor="t"/>
          <a:lstStyle/>
          <a:p>
            <a:pPr algn="ctr" indent="0" marL="0">
              <a:buNone/>
            </a:pPr>
            <a:r>
              <a:rPr lang="en-US" sz="1200" b="1" dirty="0">
                <a:solidFill>
                  <a:schemeClr val="tx2"/>
                </a:solidFill>
              </a:rPr>
              <a:t>30</a:t>
            </a:r>
            <a:endParaRPr lang="en-US" sz="1200" dirty="0"/>
          </a:p>
        </p:txBody>
      </p:sp>
      <p:sp>
        <p:nvSpPr>
          <p:cNvPr id="39" name="Shape 33"/>
          <p:cNvSpPr/>
          <p:nvPr/>
        </p:nvSpPr>
        <p:spPr>
          <a:xfrm>
            <a:off x="6830568" y="3968496"/>
            <a:ext cx="201168" cy="201168"/>
          </a:xfrm>
          <a:prstGeom prst="ellipse">
            <a:avLst/>
          </a:prstGeom>
          <a:solidFill>
            <a:schemeClr val="accent2"/>
          </a:solidFill>
          <a:ln w="19050">
            <a:solidFill>
              <a:schemeClr val="bg2"/>
            </a:solidFill>
            <a:prstDash val="solid"/>
          </a:ln>
        </p:spPr>
      </p:sp>
      <p:sp>
        <p:nvSpPr>
          <p:cNvPr id="40" name="Text 34"/>
          <p:cNvSpPr txBox="1"/>
          <p:nvPr/>
        </p:nvSpPr>
        <p:spPr>
          <a:xfrm>
            <a:off x="6565392" y="4297680"/>
            <a:ext cx="731520" cy="274320"/>
          </a:xfrm>
          <a:prstGeom prst="rect">
            <a:avLst/>
          </a:prstGeom>
          <a:noFill/>
          <a:ln/>
        </p:spPr>
        <p:txBody>
          <a:bodyPr wrap="square" lIns="0" tIns="0" rIns="0" bIns="0" rtlCol="0" anchor="t"/>
          <a:lstStyle/>
          <a:p>
            <a:pPr algn="ctr" indent="0" marL="0">
              <a:buNone/>
            </a:pPr>
            <a:r>
              <a:rPr lang="en-US" sz="1200" b="1" dirty="0">
                <a:solidFill>
                  <a:schemeClr val="tx2"/>
                </a:solidFill>
              </a:rPr>
              <a:t>35</a:t>
            </a:r>
            <a:endParaRPr lang="en-US" sz="1200" dirty="0"/>
          </a:p>
        </p:txBody>
      </p:sp>
      <p:sp>
        <p:nvSpPr>
          <p:cNvPr id="41" name="Shape 35"/>
          <p:cNvSpPr/>
          <p:nvPr/>
        </p:nvSpPr>
        <p:spPr>
          <a:xfrm>
            <a:off x="7690104" y="3968496"/>
            <a:ext cx="201168" cy="201168"/>
          </a:xfrm>
          <a:prstGeom prst="ellipse">
            <a:avLst/>
          </a:prstGeom>
          <a:solidFill>
            <a:schemeClr val="accent2"/>
          </a:solidFill>
          <a:ln w="19050">
            <a:solidFill>
              <a:schemeClr val="bg2"/>
            </a:solidFill>
            <a:prstDash val="solid"/>
          </a:ln>
        </p:spPr>
      </p:sp>
      <p:sp>
        <p:nvSpPr>
          <p:cNvPr id="42" name="Text 36"/>
          <p:cNvSpPr txBox="1"/>
          <p:nvPr/>
        </p:nvSpPr>
        <p:spPr>
          <a:xfrm>
            <a:off x="7424928" y="4297680"/>
            <a:ext cx="731520" cy="274320"/>
          </a:xfrm>
          <a:prstGeom prst="rect">
            <a:avLst/>
          </a:prstGeom>
          <a:noFill/>
          <a:ln/>
        </p:spPr>
        <p:txBody>
          <a:bodyPr wrap="square" lIns="0" tIns="0" rIns="0" bIns="0" rtlCol="0" anchor="t"/>
          <a:lstStyle/>
          <a:p>
            <a:pPr algn="ctr" indent="0" marL="0">
              <a:buNone/>
            </a:pPr>
            <a:r>
              <a:rPr lang="en-US" sz="1200" b="1" dirty="0">
                <a:solidFill>
                  <a:schemeClr val="tx2"/>
                </a:solidFill>
              </a:rPr>
              <a:t>40</a:t>
            </a:r>
            <a:endParaRPr lang="en-US" sz="1200" dirty="0"/>
          </a:p>
        </p:txBody>
      </p:sp>
      <p:sp>
        <p:nvSpPr>
          <p:cNvPr id="43" name="Shape 37"/>
          <p:cNvSpPr/>
          <p:nvPr/>
        </p:nvSpPr>
        <p:spPr>
          <a:xfrm>
            <a:off x="8549640" y="3968496"/>
            <a:ext cx="201168" cy="201168"/>
          </a:xfrm>
          <a:prstGeom prst="ellipse">
            <a:avLst/>
          </a:prstGeom>
          <a:solidFill>
            <a:schemeClr val="accent2"/>
          </a:solidFill>
          <a:ln w="19050">
            <a:solidFill>
              <a:schemeClr val="bg2"/>
            </a:solidFill>
            <a:prstDash val="solid"/>
          </a:ln>
        </p:spPr>
      </p:sp>
      <p:sp>
        <p:nvSpPr>
          <p:cNvPr id="44" name="Text 38"/>
          <p:cNvSpPr txBox="1"/>
          <p:nvPr/>
        </p:nvSpPr>
        <p:spPr>
          <a:xfrm>
            <a:off x="8284464" y="4297680"/>
            <a:ext cx="731520" cy="274320"/>
          </a:xfrm>
          <a:prstGeom prst="rect">
            <a:avLst/>
          </a:prstGeom>
          <a:noFill/>
          <a:ln/>
        </p:spPr>
        <p:txBody>
          <a:bodyPr wrap="square" lIns="0" tIns="0" rIns="0" bIns="0" rtlCol="0" anchor="t"/>
          <a:lstStyle/>
          <a:p>
            <a:pPr algn="ctr" indent="0" marL="0">
              <a:buNone/>
            </a:pPr>
            <a:r>
              <a:rPr lang="en-US" sz="1200" b="1" dirty="0">
                <a:solidFill>
                  <a:schemeClr val="tx2"/>
                </a:solidFill>
              </a:rPr>
              <a:t>45</a:t>
            </a:r>
            <a:endParaRPr lang="en-US" sz="1200" dirty="0"/>
          </a:p>
        </p:txBody>
      </p:sp>
      <p:sp>
        <p:nvSpPr>
          <p:cNvPr id="45" name="Shape 39"/>
          <p:cNvSpPr/>
          <p:nvPr/>
        </p:nvSpPr>
        <p:spPr>
          <a:xfrm>
            <a:off x="9409176" y="3968496"/>
            <a:ext cx="201168" cy="201168"/>
          </a:xfrm>
          <a:prstGeom prst="ellipse">
            <a:avLst/>
          </a:prstGeom>
          <a:solidFill>
            <a:schemeClr val="accent2"/>
          </a:solidFill>
          <a:ln w="19050">
            <a:solidFill>
              <a:schemeClr val="bg2"/>
            </a:solidFill>
            <a:prstDash val="solid"/>
          </a:ln>
        </p:spPr>
      </p:sp>
      <p:sp>
        <p:nvSpPr>
          <p:cNvPr id="46" name="Text 40"/>
          <p:cNvSpPr txBox="1"/>
          <p:nvPr/>
        </p:nvSpPr>
        <p:spPr>
          <a:xfrm>
            <a:off x="9144000" y="4297680"/>
            <a:ext cx="731520" cy="274320"/>
          </a:xfrm>
          <a:prstGeom prst="rect">
            <a:avLst/>
          </a:prstGeom>
          <a:noFill/>
          <a:ln/>
        </p:spPr>
        <p:txBody>
          <a:bodyPr wrap="square" lIns="0" tIns="0" rIns="0" bIns="0" rtlCol="0" anchor="t"/>
          <a:lstStyle/>
          <a:p>
            <a:pPr algn="ctr" indent="0" marL="0">
              <a:buNone/>
            </a:pPr>
            <a:r>
              <a:rPr lang="en-US" sz="1200" b="1" dirty="0">
                <a:solidFill>
                  <a:schemeClr val="tx2"/>
                </a:solidFill>
              </a:rPr>
              <a:t>50</a:t>
            </a:r>
            <a:endParaRPr lang="en-US" sz="1200" dirty="0"/>
          </a:p>
        </p:txBody>
      </p:sp>
      <p:sp>
        <p:nvSpPr>
          <p:cNvPr id="47" name="Shape 41"/>
          <p:cNvSpPr/>
          <p:nvPr/>
        </p:nvSpPr>
        <p:spPr>
          <a:xfrm>
            <a:off x="10268712" y="3968496"/>
            <a:ext cx="201168" cy="201168"/>
          </a:xfrm>
          <a:prstGeom prst="ellipse">
            <a:avLst/>
          </a:prstGeom>
          <a:solidFill>
            <a:schemeClr val="accent2"/>
          </a:solidFill>
          <a:ln w="19050">
            <a:solidFill>
              <a:schemeClr val="bg2"/>
            </a:solidFill>
            <a:prstDash val="solid"/>
          </a:ln>
        </p:spPr>
      </p:sp>
      <p:sp>
        <p:nvSpPr>
          <p:cNvPr id="48" name="Text 42"/>
          <p:cNvSpPr txBox="1"/>
          <p:nvPr/>
        </p:nvSpPr>
        <p:spPr>
          <a:xfrm>
            <a:off x="10003536" y="4297680"/>
            <a:ext cx="731520" cy="274320"/>
          </a:xfrm>
          <a:prstGeom prst="rect">
            <a:avLst/>
          </a:prstGeom>
          <a:noFill/>
          <a:ln/>
        </p:spPr>
        <p:txBody>
          <a:bodyPr wrap="square" lIns="0" tIns="0" rIns="0" bIns="0" rtlCol="0" anchor="t"/>
          <a:lstStyle/>
          <a:p>
            <a:pPr algn="ctr" indent="0" marL="0">
              <a:buNone/>
            </a:pPr>
            <a:r>
              <a:rPr lang="en-US" sz="1200" b="1" dirty="0">
                <a:solidFill>
                  <a:schemeClr val="tx2"/>
                </a:solidFill>
              </a:rPr>
              <a:t>55</a:t>
            </a:r>
            <a:endParaRPr lang="en-US" sz="1200" dirty="0"/>
          </a:p>
        </p:txBody>
      </p:sp>
      <p:sp>
        <p:nvSpPr>
          <p:cNvPr id="49" name="Shape 43"/>
          <p:cNvSpPr/>
          <p:nvPr/>
        </p:nvSpPr>
        <p:spPr>
          <a:xfrm>
            <a:off x="11128248" y="3968496"/>
            <a:ext cx="201168" cy="201168"/>
          </a:xfrm>
          <a:prstGeom prst="ellipse">
            <a:avLst/>
          </a:prstGeom>
          <a:solidFill>
            <a:schemeClr val="accent2"/>
          </a:solidFill>
          <a:ln w="19050">
            <a:solidFill>
              <a:schemeClr val="bg2"/>
            </a:solidFill>
            <a:prstDash val="solid"/>
          </a:ln>
        </p:spPr>
      </p:sp>
      <p:sp>
        <p:nvSpPr>
          <p:cNvPr id="50" name="Text 44"/>
          <p:cNvSpPr txBox="1"/>
          <p:nvPr/>
        </p:nvSpPr>
        <p:spPr>
          <a:xfrm>
            <a:off x="10863072" y="4297680"/>
            <a:ext cx="731520" cy="274320"/>
          </a:xfrm>
          <a:prstGeom prst="rect">
            <a:avLst/>
          </a:prstGeom>
          <a:noFill/>
          <a:ln/>
        </p:spPr>
        <p:txBody>
          <a:bodyPr wrap="square" lIns="0" tIns="0" rIns="0" bIns="0" rtlCol="0" anchor="t"/>
          <a:lstStyle/>
          <a:p>
            <a:pPr algn="ctr" indent="0" marL="0">
              <a:buNone/>
            </a:pPr>
            <a:r>
              <a:rPr lang="en-US" sz="1200" b="1" dirty="0">
                <a:solidFill>
                  <a:schemeClr val="tx2"/>
                </a:solidFill>
              </a:rPr>
              <a:t>60</a:t>
            </a:r>
            <a:endParaRPr lang="en-US" sz="1200" dirty="0"/>
          </a:p>
        </p:txBody>
      </p:sp>
      <p:sp>
        <p:nvSpPr>
          <p:cNvPr id="51" name="Text 45"/>
          <p:cNvSpPr txBox="1"/>
          <p:nvPr/>
        </p:nvSpPr>
        <p:spPr>
          <a:xfrm>
            <a:off x="10241280" y="4572000"/>
            <a:ext cx="1280160" cy="274320"/>
          </a:xfrm>
          <a:prstGeom prst="rect">
            <a:avLst/>
          </a:prstGeom>
          <a:noFill/>
          <a:ln/>
        </p:spPr>
        <p:txBody>
          <a:bodyPr wrap="square" lIns="0" tIns="0" rIns="0" bIns="0" rtlCol="0" anchor="t"/>
          <a:lstStyle/>
          <a:p>
            <a:pPr algn="r" indent="0" marL="0">
              <a:buNone/>
            </a:pPr>
            <a:r>
              <a:rPr lang="en-US" sz="1200" dirty="0">
                <a:solidFill>
                  <a:schemeClr val="accent4"/>
                </a:solidFill>
              </a:rPr>
              <a:t>minutes</a:t>
            </a:r>
            <a:endParaRPr lang="en-US" sz="1200" dirty="0"/>
          </a:p>
        </p:txBody>
      </p:sp>
      <p:sp>
        <p:nvSpPr>
          <p:cNvPr id="52" name="Text 46"/>
          <p:cNvSpPr txBox="1"/>
          <p:nvPr/>
        </p:nvSpPr>
        <p:spPr>
          <a:xfrm>
            <a:off x="731520" y="3474720"/>
            <a:ext cx="8229600" cy="365760"/>
          </a:xfrm>
          <a:prstGeom prst="rect">
            <a:avLst/>
          </a:prstGeom>
          <a:noFill/>
          <a:ln/>
        </p:spPr>
        <p:txBody>
          <a:bodyPr wrap="square" lIns="0" tIns="0" rIns="0" bIns="0" rtlCol="0" anchor="t"/>
          <a:lstStyle/>
          <a:p>
            <a:pPr indent="0" marL="0">
              <a:buNone/>
            </a:pPr>
            <a:r>
              <a:rPr lang="en-US" sz="1400" dirty="0">
                <a:solidFill>
                  <a:schemeClr val="tx2"/>
                </a:solidFill>
              </a:rPr>
              <a:t>Each step is one reading; 12 readings cover one hour.</a:t>
            </a:r>
            <a:endParaRPr lang="en-US" sz="1400" dirty="0"/>
          </a:p>
        </p:txBody>
      </p:sp>
      <p:sp>
        <p:nvSpPr>
          <p:cNvPr id="53" name="card"/>
          <p:cNvSpPr/>
          <p:nvPr/>
        </p:nvSpPr>
        <p:spPr>
          <a:xfrm>
            <a:off x="457200" y="5349240"/>
            <a:ext cx="11274552" cy="731520"/>
          </a:xfrm>
          <a:prstGeom prst="roundRect">
            <a:avLst>
              <a:gd name="adj" fmla="val 12500"/>
            </a:avLst>
          </a:prstGeom>
          <a:solidFill>
            <a:schemeClr val="accent3">
              <a:alpha val="15000"/>
            </a:schemeClr>
          </a:solidFill>
          <a:ln w="15875">
            <a:solidFill>
              <a:schemeClr val="accent3"/>
            </a:solidFill>
            <a:prstDash val="solid"/>
          </a:ln>
        </p:spPr>
      </p:sp>
      <p:sp>
        <p:nvSpPr>
          <p:cNvPr id="54" name="Text 48"/>
          <p:cNvSpPr txBox="1"/>
          <p:nvPr/>
        </p:nvSpPr>
        <p:spPr>
          <a:xfrm>
            <a:off x="731520" y="5349240"/>
            <a:ext cx="10789920" cy="731520"/>
          </a:xfrm>
          <a:prstGeom prst="rect">
            <a:avLst/>
          </a:prstGeom>
          <a:noFill/>
          <a:ln/>
        </p:spPr>
        <p:txBody>
          <a:bodyPr wrap="square" lIns="0" tIns="0" rIns="0" bIns="0" rtlCol="0" anchor="ctr"/>
          <a:lstStyle/>
          <a:p>
            <a:pPr indent="0" marL="0">
              <a:buNone/>
            </a:pPr>
            <a:r>
              <a:rPr lang="en-US" sz="1400" b="1" dirty="0">
                <a:solidFill>
                  <a:schemeClr val="tx1"/>
                </a:solidFill>
              </a:rPr>
              <a:t>Preprocessing is applied to wearable glucose data only. EHR data is handled in a separate pipeline.</a:t>
            </a:r>
            <a:endParaRPr lang="en-US" sz="1400" dirty="0"/>
          </a:p>
        </p:txBody>
      </p:sp>
      <p:sp>
        <p:nvSpPr>
          <p:cNvPr id="25" name="Slide Number Placeholder 0"/>
          <p:cNvSpPr>
            <a:spLocks noGrp="1"/>
          </p:cNvSpPr>
          <p:nvPr>
            <p:ph type="sldNum" sz="quarter" idx="4294967295"/>
          </p:nvPr>
        </p:nvSpPr>
        <p:spPr>
          <a:xfrm>
            <a:off x="10972800" y="6446520"/>
            <a:ext cx="75895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ctr"/>
          <a:lstStyle/>
          <a:p>
            <a:pPr algn="l" indent="0" marL="0">
              <a:buNone/>
            </a:pPr>
            <a:r>
              <a:rPr lang="en-US" sz="3200" b="1" dirty="0">
                <a:solidFill>
                  <a:schemeClr val="tx1"/>
                </a:solidFill>
              </a:rPr>
              <a:t>Feature engineering and the two-hour target</a:t>
            </a:r>
            <a:endParaRPr lang="en-US" sz="3200" dirty="0"/>
          </a:p>
        </p:txBody>
      </p:sp>
      <p:sp>
        <p:nvSpPr>
          <p:cNvPr id="3" name="card"/>
          <p:cNvSpPr/>
          <p:nvPr/>
        </p:nvSpPr>
        <p:spPr>
          <a:xfrm>
            <a:off x="457200" y="1280160"/>
            <a:ext cx="3063240" cy="1965960"/>
          </a:xfrm>
          <a:prstGeom prst="roundRect">
            <a:avLst>
              <a:gd name="adj" fmla="val 4651"/>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4" name="icon-circle"/>
          <p:cNvSpPr/>
          <p:nvPr/>
        </p:nvSpPr>
        <p:spPr>
          <a:xfrm>
            <a:off x="685800" y="1508760"/>
            <a:ext cx="502920" cy="502920"/>
          </a:xfrm>
          <a:prstGeom prst="ellipse">
            <a:avLst/>
          </a:prstGeom>
          <a:solidFill>
            <a:schemeClr val="accent1"/>
          </a:solidFill>
          <a:ln w="12700">
            <a:solidFill>
              <a:schemeClr val="accent1"/>
            </a:solidFill>
            <a:prstDash val="solid"/>
          </a:ln>
        </p:spPr>
      </p:sp>
      <p:pic>
        <p:nvPicPr>
          <p:cNvPr id="5" name="Image 0" descr="History icon">    </p:cNvPr>
          <p:cNvPicPr>
            <a:picLocks noChangeAspect="1"/>
          </p:cNvPicPr>
          <p:nvPr/>
        </p:nvPicPr>
        <p:blipFill>
          <a:blip r:embed="rId1"/>
          <a:stretch>
            <a:fillRect/>
          </a:stretch>
        </p:blipFill>
        <p:spPr>
          <a:xfrm>
            <a:off x="811530" y="1634490"/>
            <a:ext cx="251460" cy="251460"/>
          </a:xfrm>
          <a:prstGeom prst="rect">
            <a:avLst/>
          </a:prstGeom>
        </p:spPr>
      </p:pic>
      <p:sp>
        <p:nvSpPr>
          <p:cNvPr id="6" name="Text 3"/>
          <p:cNvSpPr txBox="1"/>
          <p:nvPr/>
        </p:nvSpPr>
        <p:spPr>
          <a:xfrm>
            <a:off x="685800" y="2148840"/>
            <a:ext cx="2651760" cy="365760"/>
          </a:xfrm>
          <a:prstGeom prst="rect">
            <a:avLst/>
          </a:prstGeom>
          <a:noFill/>
          <a:ln/>
        </p:spPr>
        <p:txBody>
          <a:bodyPr wrap="square" lIns="0" tIns="0" rIns="0" bIns="0" rtlCol="0" anchor="t"/>
          <a:lstStyle/>
          <a:p>
            <a:pPr indent="0" marL="0">
              <a:buNone/>
            </a:pPr>
            <a:r>
              <a:rPr lang="en-US" sz="1800" b="1" dirty="0">
                <a:solidFill>
                  <a:schemeClr val="tx1"/>
                </a:solidFill>
              </a:rPr>
              <a:t>Historical lags</a:t>
            </a:r>
            <a:endParaRPr lang="en-US" sz="1800" dirty="0"/>
          </a:p>
        </p:txBody>
      </p:sp>
      <p:sp>
        <p:nvSpPr>
          <p:cNvPr id="7" name="Text 4"/>
          <p:cNvSpPr txBox="1"/>
          <p:nvPr/>
        </p:nvSpPr>
        <p:spPr>
          <a:xfrm>
            <a:off x="685800" y="2542032"/>
            <a:ext cx="2651760" cy="640080"/>
          </a:xfrm>
          <a:prstGeom prst="rect">
            <a:avLst/>
          </a:prstGeom>
          <a:noFill/>
          <a:ln/>
        </p:spPr>
        <p:txBody>
          <a:bodyPr wrap="square" lIns="0" tIns="0" rIns="0" bIns="0" rtlCol="0" anchor="t"/>
          <a:lstStyle/>
          <a:p>
            <a:pPr indent="0" marL="0">
              <a:buNone/>
            </a:pPr>
            <a:r>
              <a:rPr lang="en-US" sz="1400" dirty="0">
                <a:solidFill>
                  <a:schemeClr val="tx2"/>
                </a:solidFill>
              </a:rPr>
              <a:t>Earlier glucose readings give the model recent history.</a:t>
            </a:r>
            <a:endParaRPr lang="en-US" sz="1400" dirty="0"/>
          </a:p>
        </p:txBody>
      </p:sp>
      <p:sp>
        <p:nvSpPr>
          <p:cNvPr id="8" name="card"/>
          <p:cNvSpPr/>
          <p:nvPr/>
        </p:nvSpPr>
        <p:spPr>
          <a:xfrm>
            <a:off x="3703320" y="1280160"/>
            <a:ext cx="3063240" cy="1965960"/>
          </a:xfrm>
          <a:prstGeom prst="roundRect">
            <a:avLst>
              <a:gd name="adj" fmla="val 4651"/>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9" name="icon-circle"/>
          <p:cNvSpPr/>
          <p:nvPr/>
        </p:nvSpPr>
        <p:spPr>
          <a:xfrm>
            <a:off x="3931920" y="1508760"/>
            <a:ext cx="502920" cy="502920"/>
          </a:xfrm>
          <a:prstGeom prst="ellipse">
            <a:avLst/>
          </a:prstGeom>
          <a:solidFill>
            <a:schemeClr val="accent1"/>
          </a:solidFill>
          <a:ln w="12700">
            <a:solidFill>
              <a:schemeClr val="accent1"/>
            </a:solidFill>
            <a:prstDash val="solid"/>
          </a:ln>
        </p:spPr>
      </p:sp>
      <p:pic>
        <p:nvPicPr>
          <p:cNvPr id="10" name="Image 1" descr="ChartBar icon">    </p:cNvPr>
          <p:cNvPicPr>
            <a:picLocks noChangeAspect="1"/>
          </p:cNvPicPr>
          <p:nvPr/>
        </p:nvPicPr>
        <p:blipFill>
          <a:blip r:embed="rId2"/>
          <a:stretch>
            <a:fillRect/>
          </a:stretch>
        </p:blipFill>
        <p:spPr>
          <a:xfrm>
            <a:off x="4057650" y="1634490"/>
            <a:ext cx="251460" cy="251460"/>
          </a:xfrm>
          <a:prstGeom prst="rect">
            <a:avLst/>
          </a:prstGeom>
        </p:spPr>
      </p:pic>
      <p:sp>
        <p:nvSpPr>
          <p:cNvPr id="11" name="Text 7"/>
          <p:cNvSpPr txBox="1"/>
          <p:nvPr/>
        </p:nvSpPr>
        <p:spPr>
          <a:xfrm>
            <a:off x="3931920" y="2148840"/>
            <a:ext cx="2651760" cy="365760"/>
          </a:xfrm>
          <a:prstGeom prst="rect">
            <a:avLst/>
          </a:prstGeom>
          <a:noFill/>
          <a:ln/>
        </p:spPr>
        <p:txBody>
          <a:bodyPr wrap="square" lIns="0" tIns="0" rIns="0" bIns="0" rtlCol="0" anchor="t"/>
          <a:lstStyle/>
          <a:p>
            <a:pPr indent="0" marL="0">
              <a:buNone/>
            </a:pPr>
            <a:r>
              <a:rPr lang="en-US" sz="1800" b="1" dirty="0">
                <a:solidFill>
                  <a:schemeClr val="tx1"/>
                </a:solidFill>
              </a:rPr>
              <a:t>Rolling statistics</a:t>
            </a:r>
            <a:endParaRPr lang="en-US" sz="1800" dirty="0"/>
          </a:p>
        </p:txBody>
      </p:sp>
      <p:sp>
        <p:nvSpPr>
          <p:cNvPr id="12" name="Text 8"/>
          <p:cNvSpPr txBox="1"/>
          <p:nvPr/>
        </p:nvSpPr>
        <p:spPr>
          <a:xfrm>
            <a:off x="3931920" y="2542032"/>
            <a:ext cx="2651760" cy="640080"/>
          </a:xfrm>
          <a:prstGeom prst="rect">
            <a:avLst/>
          </a:prstGeom>
          <a:noFill/>
          <a:ln/>
        </p:spPr>
        <p:txBody>
          <a:bodyPr wrap="square" lIns="0" tIns="0" rIns="0" bIns="0" rtlCol="0" anchor="t"/>
          <a:lstStyle/>
          <a:p>
            <a:pPr indent="0" marL="0">
              <a:buNone/>
            </a:pPr>
            <a:r>
              <a:rPr lang="en-US" sz="1400" dirty="0">
                <a:solidFill>
                  <a:schemeClr val="tx2"/>
                </a:solidFill>
              </a:rPr>
              <a:t>Summary statistics over recent windows of readings.</a:t>
            </a:r>
            <a:endParaRPr lang="en-US" sz="1400" dirty="0"/>
          </a:p>
        </p:txBody>
      </p:sp>
      <p:sp>
        <p:nvSpPr>
          <p:cNvPr id="13" name="card"/>
          <p:cNvSpPr/>
          <p:nvPr/>
        </p:nvSpPr>
        <p:spPr>
          <a:xfrm>
            <a:off x="457200" y="3429000"/>
            <a:ext cx="3063240" cy="1965960"/>
          </a:xfrm>
          <a:prstGeom prst="roundRect">
            <a:avLst>
              <a:gd name="adj" fmla="val 4651"/>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14" name="icon-circle"/>
          <p:cNvSpPr/>
          <p:nvPr/>
        </p:nvSpPr>
        <p:spPr>
          <a:xfrm>
            <a:off x="685800" y="3657600"/>
            <a:ext cx="502920" cy="502920"/>
          </a:xfrm>
          <a:prstGeom prst="ellipse">
            <a:avLst/>
          </a:prstGeom>
          <a:solidFill>
            <a:schemeClr val="accent1"/>
          </a:solidFill>
          <a:ln w="12700">
            <a:solidFill>
              <a:schemeClr val="accent1"/>
            </a:solidFill>
            <a:prstDash val="solid"/>
          </a:ln>
        </p:spPr>
      </p:sp>
      <p:pic>
        <p:nvPicPr>
          <p:cNvPr id="15" name="Image 2" descr="ExchangeAlt icon">    </p:cNvPr>
          <p:cNvPicPr>
            <a:picLocks noChangeAspect="1"/>
          </p:cNvPicPr>
          <p:nvPr/>
        </p:nvPicPr>
        <p:blipFill>
          <a:blip r:embed="rId3"/>
          <a:stretch>
            <a:fillRect/>
          </a:stretch>
        </p:blipFill>
        <p:spPr>
          <a:xfrm>
            <a:off x="811530" y="3783330"/>
            <a:ext cx="251460" cy="251460"/>
          </a:xfrm>
          <a:prstGeom prst="rect">
            <a:avLst/>
          </a:prstGeom>
        </p:spPr>
      </p:pic>
      <p:sp>
        <p:nvSpPr>
          <p:cNvPr id="16" name="Text 11"/>
          <p:cNvSpPr txBox="1"/>
          <p:nvPr/>
        </p:nvSpPr>
        <p:spPr>
          <a:xfrm>
            <a:off x="685800" y="4297680"/>
            <a:ext cx="2651760" cy="365760"/>
          </a:xfrm>
          <a:prstGeom prst="rect">
            <a:avLst/>
          </a:prstGeom>
          <a:noFill/>
          <a:ln/>
        </p:spPr>
        <p:txBody>
          <a:bodyPr wrap="square" lIns="0" tIns="0" rIns="0" bIns="0" rtlCol="0" anchor="t"/>
          <a:lstStyle/>
          <a:p>
            <a:pPr indent="0" marL="0">
              <a:buNone/>
            </a:pPr>
            <a:r>
              <a:rPr lang="en-US" sz="1800" b="1" dirty="0">
                <a:solidFill>
                  <a:schemeClr val="tx1"/>
                </a:solidFill>
              </a:rPr>
              <a:t>Recent changes</a:t>
            </a:r>
            <a:endParaRPr lang="en-US" sz="1800" dirty="0"/>
          </a:p>
        </p:txBody>
      </p:sp>
      <p:sp>
        <p:nvSpPr>
          <p:cNvPr id="17" name="Text 12"/>
          <p:cNvSpPr txBox="1"/>
          <p:nvPr/>
        </p:nvSpPr>
        <p:spPr>
          <a:xfrm>
            <a:off x="685800" y="4690872"/>
            <a:ext cx="2651760" cy="640080"/>
          </a:xfrm>
          <a:prstGeom prst="rect">
            <a:avLst/>
          </a:prstGeom>
          <a:noFill/>
          <a:ln/>
        </p:spPr>
        <p:txBody>
          <a:bodyPr wrap="square" lIns="0" tIns="0" rIns="0" bIns="0" rtlCol="0" anchor="t"/>
          <a:lstStyle/>
          <a:p>
            <a:pPr indent="0" marL="0">
              <a:buNone/>
            </a:pPr>
            <a:r>
              <a:rPr lang="en-US" sz="1400" dirty="0">
                <a:solidFill>
                  <a:schemeClr val="tx2"/>
                </a:solidFill>
              </a:rPr>
              <a:t>How glucose has moved between recent readings.</a:t>
            </a:r>
            <a:endParaRPr lang="en-US" sz="1400" dirty="0"/>
          </a:p>
        </p:txBody>
      </p:sp>
      <p:sp>
        <p:nvSpPr>
          <p:cNvPr id="18" name="card"/>
          <p:cNvSpPr/>
          <p:nvPr/>
        </p:nvSpPr>
        <p:spPr>
          <a:xfrm>
            <a:off x="3703320" y="3429000"/>
            <a:ext cx="3063240" cy="1965960"/>
          </a:xfrm>
          <a:prstGeom prst="roundRect">
            <a:avLst>
              <a:gd name="adj" fmla="val 4651"/>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19" name="icon-circle"/>
          <p:cNvSpPr/>
          <p:nvPr/>
        </p:nvSpPr>
        <p:spPr>
          <a:xfrm>
            <a:off x="3931920" y="3657600"/>
            <a:ext cx="502920" cy="502920"/>
          </a:xfrm>
          <a:prstGeom prst="ellipse">
            <a:avLst/>
          </a:prstGeom>
          <a:solidFill>
            <a:schemeClr val="accent1"/>
          </a:solidFill>
          <a:ln w="12700">
            <a:solidFill>
              <a:schemeClr val="accent1"/>
            </a:solidFill>
            <a:prstDash val="solid"/>
          </a:ln>
        </p:spPr>
      </p:sp>
      <p:pic>
        <p:nvPicPr>
          <p:cNvPr id="20" name="Image 3" descr="Walking icon">    </p:cNvPr>
          <p:cNvPicPr>
            <a:picLocks noChangeAspect="1"/>
          </p:cNvPicPr>
          <p:nvPr/>
        </p:nvPicPr>
        <p:blipFill>
          <a:blip r:embed="rId4"/>
          <a:stretch>
            <a:fillRect/>
          </a:stretch>
        </p:blipFill>
        <p:spPr>
          <a:xfrm>
            <a:off x="4057650" y="3783330"/>
            <a:ext cx="251460" cy="251460"/>
          </a:xfrm>
          <a:prstGeom prst="rect">
            <a:avLst/>
          </a:prstGeom>
        </p:spPr>
      </p:pic>
      <p:sp>
        <p:nvSpPr>
          <p:cNvPr id="21" name="Text 15"/>
          <p:cNvSpPr txBox="1"/>
          <p:nvPr/>
        </p:nvSpPr>
        <p:spPr>
          <a:xfrm>
            <a:off x="3931920" y="4297680"/>
            <a:ext cx="2651760" cy="365760"/>
          </a:xfrm>
          <a:prstGeom prst="rect">
            <a:avLst/>
          </a:prstGeom>
          <a:noFill/>
          <a:ln/>
        </p:spPr>
        <p:txBody>
          <a:bodyPr wrap="square" lIns="0" tIns="0" rIns="0" bIns="0" rtlCol="0" anchor="t"/>
          <a:lstStyle/>
          <a:p>
            <a:pPr indent="0" marL="0">
              <a:buNone/>
            </a:pPr>
            <a:r>
              <a:rPr lang="en-US" sz="1800" b="1" dirty="0">
                <a:solidFill>
                  <a:schemeClr val="tx1"/>
                </a:solidFill>
              </a:rPr>
              <a:t>Activity features</a:t>
            </a:r>
            <a:endParaRPr lang="en-US" sz="1800" dirty="0"/>
          </a:p>
        </p:txBody>
      </p:sp>
      <p:sp>
        <p:nvSpPr>
          <p:cNvPr id="22" name="Text 16"/>
          <p:cNvSpPr txBox="1"/>
          <p:nvPr/>
        </p:nvSpPr>
        <p:spPr>
          <a:xfrm>
            <a:off x="3931920" y="4690872"/>
            <a:ext cx="2651760" cy="640080"/>
          </a:xfrm>
          <a:prstGeom prst="rect">
            <a:avLst/>
          </a:prstGeom>
          <a:noFill/>
          <a:ln/>
        </p:spPr>
        <p:txBody>
          <a:bodyPr wrap="square" lIns="0" tIns="0" rIns="0" bIns="0" rtlCol="0" anchor="t"/>
          <a:lstStyle/>
          <a:p>
            <a:pPr indent="0" marL="0">
              <a:buNone/>
            </a:pPr>
            <a:r>
              <a:rPr lang="en-US" sz="1400" dirty="0">
                <a:solidFill>
                  <a:schemeClr val="tx2"/>
                </a:solidFill>
              </a:rPr>
              <a:t>Steps and calories, where available.</a:t>
            </a:r>
            <a:endParaRPr lang="en-US" sz="1400" dirty="0"/>
          </a:p>
        </p:txBody>
      </p:sp>
      <p:sp>
        <p:nvSpPr>
          <p:cNvPr id="23" name="card"/>
          <p:cNvSpPr/>
          <p:nvPr/>
        </p:nvSpPr>
        <p:spPr>
          <a:xfrm>
            <a:off x="7132320" y="1280160"/>
            <a:ext cx="4599432" cy="4114800"/>
          </a:xfrm>
          <a:prstGeom prst="roundRect">
            <a:avLst>
              <a:gd name="adj" fmla="val 2222"/>
            </a:avLst>
          </a:prstGeom>
          <a:solidFill>
            <a:schemeClr val="accent6"/>
          </a:solidFill>
          <a:ln w="19050">
            <a:solidFill>
              <a:schemeClr val="accent1"/>
            </a:solidFill>
            <a:prstDash val="solid"/>
          </a:ln>
        </p:spPr>
      </p:sp>
      <p:sp>
        <p:nvSpPr>
          <p:cNvPr id="24" name="Text 18"/>
          <p:cNvSpPr txBox="1"/>
          <p:nvPr/>
        </p:nvSpPr>
        <p:spPr>
          <a:xfrm>
            <a:off x="7360920" y="1417320"/>
            <a:ext cx="4114800" cy="365760"/>
          </a:xfrm>
          <a:prstGeom prst="rect">
            <a:avLst/>
          </a:prstGeom>
          <a:noFill/>
          <a:ln/>
        </p:spPr>
        <p:txBody>
          <a:bodyPr wrap="square" lIns="0" tIns="0" rIns="0" bIns="0" rtlCol="0" anchor="t"/>
          <a:lstStyle/>
          <a:p>
            <a:pPr indent="0" marL="0">
              <a:buNone/>
            </a:pPr>
            <a:r>
              <a:rPr lang="en-US" sz="2000" b="1" dirty="0">
                <a:solidFill>
                  <a:schemeClr val="tx1"/>
                </a:solidFill>
              </a:rPr>
              <a:t>Target construction</a:t>
            </a:r>
            <a:endParaRPr lang="en-US" sz="2000" dirty="0"/>
          </a:p>
        </p:txBody>
      </p:sp>
      <p:sp>
        <p:nvSpPr>
          <p:cNvPr id="25" name="Text 19"/>
          <p:cNvSpPr txBox="1"/>
          <p:nvPr/>
        </p:nvSpPr>
        <p:spPr>
          <a:xfrm>
            <a:off x="7360920" y="1920240"/>
            <a:ext cx="4160520" cy="502920"/>
          </a:xfrm>
          <a:prstGeom prst="rect">
            <a:avLst/>
          </a:prstGeom>
          <a:noFill/>
          <a:ln/>
        </p:spPr>
        <p:txBody>
          <a:bodyPr wrap="square" lIns="0" tIns="0" rIns="0" bIns="0" rtlCol="0" anchor="t"/>
          <a:lstStyle/>
          <a:p>
            <a:pPr indent="0" marL="0">
              <a:buNone/>
            </a:pPr>
            <a:r>
              <a:rPr lang="en-US" sz="2600" b="1" dirty="0">
                <a:solidFill>
                  <a:schemeClr val="accent1"/>
                </a:solidFill>
              </a:rPr>
              <a:t>24 steps x 5 min = 120 min</a:t>
            </a:r>
            <a:endParaRPr lang="en-US" sz="2600" dirty="0"/>
          </a:p>
        </p:txBody>
      </p:sp>
      <p:sp>
        <p:nvSpPr>
          <p:cNvPr id="26" name="Shape 20"/>
          <p:cNvSpPr/>
          <p:nvPr/>
        </p:nvSpPr>
        <p:spPr>
          <a:xfrm>
            <a:off x="7589520" y="3429000"/>
            <a:ext cx="3657600" cy="0"/>
          </a:xfrm>
          <a:prstGeom prst="line">
            <a:avLst/>
          </a:prstGeom>
          <a:noFill/>
          <a:ln w="38100">
            <a:solidFill>
              <a:schemeClr val="accent4"/>
            </a:solidFill>
            <a:prstDash val="solid"/>
            <a:tailEnd type="triangle"/>
          </a:ln>
        </p:spPr>
      </p:sp>
      <p:sp>
        <p:nvSpPr>
          <p:cNvPr id="27" name="Shape 21"/>
          <p:cNvSpPr/>
          <p:nvPr/>
        </p:nvSpPr>
        <p:spPr>
          <a:xfrm>
            <a:off x="7498080" y="3291840"/>
            <a:ext cx="274320" cy="274320"/>
          </a:xfrm>
          <a:prstGeom prst="ellipse">
            <a:avLst/>
          </a:prstGeom>
          <a:solidFill>
            <a:schemeClr val="accent1"/>
          </a:solidFill>
          <a:ln w="25400">
            <a:solidFill>
              <a:schemeClr val="bg1"/>
            </a:solidFill>
            <a:prstDash val="solid"/>
          </a:ln>
        </p:spPr>
      </p:sp>
      <p:sp>
        <p:nvSpPr>
          <p:cNvPr id="28" name="Shape 22"/>
          <p:cNvSpPr/>
          <p:nvPr/>
        </p:nvSpPr>
        <p:spPr>
          <a:xfrm>
            <a:off x="10972800" y="3291840"/>
            <a:ext cx="274320" cy="274320"/>
          </a:xfrm>
          <a:prstGeom prst="ellipse">
            <a:avLst/>
          </a:prstGeom>
          <a:solidFill>
            <a:schemeClr val="accent2"/>
          </a:solidFill>
          <a:ln w="25400">
            <a:solidFill>
              <a:schemeClr val="bg1"/>
            </a:solidFill>
            <a:prstDash val="solid"/>
          </a:ln>
        </p:spPr>
      </p:sp>
      <p:sp>
        <p:nvSpPr>
          <p:cNvPr id="29" name="Text 23"/>
          <p:cNvSpPr txBox="1"/>
          <p:nvPr/>
        </p:nvSpPr>
        <p:spPr>
          <a:xfrm>
            <a:off x="7269480" y="3703320"/>
            <a:ext cx="1097280" cy="320040"/>
          </a:xfrm>
          <a:prstGeom prst="rect">
            <a:avLst/>
          </a:prstGeom>
          <a:noFill/>
          <a:ln/>
        </p:spPr>
        <p:txBody>
          <a:bodyPr wrap="square" lIns="0" tIns="0" rIns="0" bIns="0" rtlCol="0" anchor="t"/>
          <a:lstStyle/>
          <a:p>
            <a:pPr indent="0" marL="0">
              <a:buNone/>
            </a:pPr>
            <a:r>
              <a:rPr lang="en-US" sz="1400" b="1" dirty="0">
                <a:solidFill>
                  <a:schemeClr val="tx1"/>
                </a:solidFill>
              </a:rPr>
              <a:t>Now (t)</a:t>
            </a:r>
            <a:endParaRPr lang="en-US" sz="1400" dirty="0"/>
          </a:p>
        </p:txBody>
      </p:sp>
      <p:sp>
        <p:nvSpPr>
          <p:cNvPr id="30" name="Text 24"/>
          <p:cNvSpPr txBox="1"/>
          <p:nvPr/>
        </p:nvSpPr>
        <p:spPr>
          <a:xfrm>
            <a:off x="10241280" y="3703320"/>
            <a:ext cx="1371600" cy="320040"/>
          </a:xfrm>
          <a:prstGeom prst="rect">
            <a:avLst/>
          </a:prstGeom>
          <a:noFill/>
          <a:ln/>
        </p:spPr>
        <p:txBody>
          <a:bodyPr wrap="square" lIns="0" tIns="0" rIns="0" bIns="0" rtlCol="0" anchor="t"/>
          <a:lstStyle/>
          <a:p>
            <a:pPr algn="r" indent="0" marL="0">
              <a:buNone/>
            </a:pPr>
            <a:r>
              <a:rPr lang="en-US" sz="1400" b="1" dirty="0">
                <a:solidFill>
                  <a:schemeClr val="tx1"/>
                </a:solidFill>
              </a:rPr>
              <a:t>t + 24 steps</a:t>
            </a:r>
            <a:endParaRPr lang="en-US" sz="1400" dirty="0"/>
          </a:p>
        </p:txBody>
      </p:sp>
      <p:sp>
        <p:nvSpPr>
          <p:cNvPr id="31" name="Text 25"/>
          <p:cNvSpPr txBox="1"/>
          <p:nvPr/>
        </p:nvSpPr>
        <p:spPr>
          <a:xfrm>
            <a:off x="7360920" y="4160520"/>
            <a:ext cx="4160520" cy="640080"/>
          </a:xfrm>
          <a:prstGeom prst="rect">
            <a:avLst/>
          </a:prstGeom>
          <a:noFill/>
          <a:ln/>
        </p:spPr>
        <p:txBody>
          <a:bodyPr wrap="square" lIns="0" tIns="0" rIns="0" bIns="0" rtlCol="0" anchor="t"/>
          <a:lstStyle/>
          <a:p>
            <a:pPr indent="0" marL="0">
              <a:buNone/>
            </a:pPr>
            <a:r>
              <a:rPr lang="en-US" sz="1400" dirty="0">
                <a:solidFill>
                  <a:schemeClr val="tx2"/>
                </a:solidFill>
              </a:rPr>
              <a:t>Target = glucose about 120 minutes ahead (5-minute sampling)</a:t>
            </a:r>
            <a:endParaRPr lang="en-US" sz="1400" dirty="0"/>
          </a:p>
        </p:txBody>
      </p:sp>
      <p:sp>
        <p:nvSpPr>
          <p:cNvPr id="32" name="Text 26"/>
          <p:cNvSpPr txBox="1"/>
          <p:nvPr/>
        </p:nvSpPr>
        <p:spPr>
          <a:xfrm>
            <a:off x="7360920" y="4709160"/>
            <a:ext cx="4160520" cy="548640"/>
          </a:xfrm>
          <a:prstGeom prst="rect">
            <a:avLst/>
          </a:prstGeom>
          <a:noFill/>
          <a:ln/>
        </p:spPr>
        <p:txBody>
          <a:bodyPr wrap="square" lIns="0" tIns="0" rIns="0" bIns="0" rtlCol="0" anchor="t"/>
          <a:lstStyle/>
          <a:p>
            <a:pPr indent="0" marL="0">
              <a:buNone/>
            </a:pPr>
            <a:r>
              <a:rPr lang="en-US" sz="1200" dirty="0">
                <a:solidFill>
                  <a:schemeClr val="accent4"/>
                </a:solidFill>
              </a:rPr>
              <a:t>Features: lags, rolling statistics, recent changes, activity</a:t>
            </a:r>
            <a:endParaRPr lang="en-US" sz="1200" dirty="0"/>
          </a:p>
        </p:txBody>
      </p:sp>
      <p:sp>
        <p:nvSpPr>
          <p:cNvPr id="33" name="card"/>
          <p:cNvSpPr/>
          <p:nvPr/>
        </p:nvSpPr>
        <p:spPr>
          <a:xfrm>
            <a:off x="457200" y="5577840"/>
            <a:ext cx="11274552" cy="548640"/>
          </a:xfrm>
          <a:prstGeom prst="roundRect">
            <a:avLst>
              <a:gd name="adj" fmla="val 16667"/>
            </a:avLst>
          </a:prstGeom>
          <a:solidFill>
            <a:schemeClr val="accent3">
              <a:alpha val="15000"/>
            </a:schemeClr>
          </a:solidFill>
          <a:ln w="15875">
            <a:solidFill>
              <a:schemeClr val="accent3"/>
            </a:solidFill>
            <a:prstDash val="solid"/>
          </a:ln>
        </p:spPr>
      </p:sp>
      <p:sp>
        <p:nvSpPr>
          <p:cNvPr id="34" name="Text 28"/>
          <p:cNvSpPr txBox="1"/>
          <p:nvPr/>
        </p:nvSpPr>
        <p:spPr>
          <a:xfrm>
            <a:off x="731520" y="5577840"/>
            <a:ext cx="10789920" cy="548640"/>
          </a:xfrm>
          <a:prstGeom prst="rect">
            <a:avLst/>
          </a:prstGeom>
          <a:noFill/>
          <a:ln/>
        </p:spPr>
        <p:txBody>
          <a:bodyPr wrap="square" lIns="0" tIns="0" rIns="0" bIns="0" rtlCol="0" anchor="ctr"/>
          <a:lstStyle/>
          <a:p>
            <a:pPr indent="0" marL="0">
              <a:buNone/>
            </a:pPr>
            <a:r>
              <a:rPr lang="en-US" sz="1400" b="1" dirty="0">
                <a:solidFill>
                  <a:schemeClr val="tx1"/>
                </a:solidFill>
              </a:rPr>
              <a:t>The future target is the prediction label only. It is never used as an input feature.</a:t>
            </a:r>
            <a:endParaRPr lang="en-US" sz="1400" dirty="0"/>
          </a:p>
        </p:txBody>
      </p:sp>
      <p:sp>
        <p:nvSpPr>
          <p:cNvPr id="25" name="Slide Number Placeholder 0"/>
          <p:cNvSpPr>
            <a:spLocks noGrp="1"/>
          </p:cNvSpPr>
          <p:nvPr>
            <p:ph type="sldNum" sz="quarter" idx="4294967295"/>
          </p:nvPr>
        </p:nvSpPr>
        <p:spPr>
          <a:xfrm>
            <a:off x="10972800" y="6446520"/>
            <a:ext cx="75895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ctr"/>
          <a:lstStyle/>
          <a:p>
            <a:pPr algn="l" indent="0" marL="0">
              <a:buNone/>
            </a:pPr>
            <a:r>
              <a:rPr lang="en-US" sz="3200" b="1" dirty="0">
                <a:solidFill>
                  <a:schemeClr val="tx1"/>
                </a:solidFill>
              </a:rPr>
              <a:t>System architecture: two separate pipelines</a:t>
            </a:r>
            <a:endParaRPr lang="en-US" sz="3200" dirty="0"/>
          </a:p>
        </p:txBody>
      </p:sp>
      <p:sp>
        <p:nvSpPr>
          <p:cNvPr id="3" name="card"/>
          <p:cNvSpPr/>
          <p:nvPr/>
        </p:nvSpPr>
        <p:spPr>
          <a:xfrm>
            <a:off x="457200" y="1143000"/>
            <a:ext cx="11274552" cy="1280160"/>
          </a:xfrm>
          <a:prstGeom prst="roundRect">
            <a:avLst>
              <a:gd name="adj" fmla="val 7143"/>
            </a:avLst>
          </a:prstGeom>
          <a:solidFill>
            <a:schemeClr val="bg2"/>
          </a:solidFill>
          <a:ln w="12700">
            <a:solidFill>
              <a:schemeClr val="accent5"/>
            </a:solidFill>
            <a:prstDash val="solid"/>
          </a:ln>
        </p:spPr>
      </p:sp>
      <p:sp>
        <p:nvSpPr>
          <p:cNvPr id="4" name="Text 2"/>
          <p:cNvSpPr txBox="1"/>
          <p:nvPr/>
        </p:nvSpPr>
        <p:spPr>
          <a:xfrm>
            <a:off x="640080" y="1188720"/>
            <a:ext cx="3657600" cy="274320"/>
          </a:xfrm>
          <a:prstGeom prst="rect">
            <a:avLst/>
          </a:prstGeom>
          <a:noFill/>
          <a:ln/>
        </p:spPr>
        <p:txBody>
          <a:bodyPr wrap="square" lIns="0" tIns="0" rIns="0" bIns="0" rtlCol="0" anchor="t"/>
          <a:lstStyle/>
          <a:p>
            <a:pPr indent="0" marL="0">
              <a:buNone/>
            </a:pPr>
            <a:r>
              <a:rPr lang="en-US" sz="1200" b="1" spc="100" kern="0" dirty="0">
                <a:solidFill>
                  <a:schemeClr val="tx1"/>
                </a:solidFill>
              </a:rPr>
              <a:t>EHR PIPELINE</a:t>
            </a:r>
            <a:endParaRPr lang="en-US" sz="1200" dirty="0"/>
          </a:p>
        </p:txBody>
      </p:sp>
      <p:sp>
        <p:nvSpPr>
          <p:cNvPr id="5" name="node"/>
          <p:cNvSpPr/>
          <p:nvPr/>
        </p:nvSpPr>
        <p:spPr>
          <a:xfrm>
            <a:off x="685800" y="1536192"/>
            <a:ext cx="2194560" cy="731520"/>
          </a:xfrm>
          <a:prstGeom prst="roundRect">
            <a:avLst>
              <a:gd name="adj" fmla="val 12500"/>
            </a:avLst>
          </a:prstGeom>
          <a:solidFill>
            <a:schemeClr val="accent6"/>
          </a:solidFill>
          <a:ln w="19050">
            <a:solidFill>
              <a:schemeClr val="accent2"/>
            </a:solidFill>
            <a:prstDash val="solid"/>
          </a:ln>
        </p:spPr>
      </p:sp>
      <p:sp>
        <p:nvSpPr>
          <p:cNvPr id="6" name="Text 4"/>
          <p:cNvSpPr txBox="1"/>
          <p:nvPr/>
        </p:nvSpPr>
        <p:spPr>
          <a:xfrm>
            <a:off x="758952" y="1536192"/>
            <a:ext cx="2048256" cy="731520"/>
          </a:xfrm>
          <a:prstGeom prst="rect">
            <a:avLst/>
          </a:prstGeom>
          <a:noFill/>
          <a:ln/>
        </p:spPr>
        <p:txBody>
          <a:bodyPr wrap="square" lIns="0" tIns="0" rIns="0" bIns="0" rtlCol="0" anchor="ctr"/>
          <a:lstStyle/>
          <a:p>
            <a:pPr algn="ctr" indent="0" marL="0">
              <a:buNone/>
            </a:pPr>
            <a:r>
              <a:rPr lang="en-US" sz="1400" b="1" dirty="0">
                <a:solidFill>
                  <a:schemeClr val="tx1"/>
                </a:solidFill>
              </a:rPr>
              <a:t>EHR CSV Files</a:t>
            </a:r>
            <a:endParaRPr lang="en-US" sz="1400" dirty="0"/>
          </a:p>
        </p:txBody>
      </p:sp>
      <p:sp>
        <p:nvSpPr>
          <p:cNvPr id="7" name="arrow"/>
          <p:cNvSpPr/>
          <p:nvPr/>
        </p:nvSpPr>
        <p:spPr>
          <a:xfrm>
            <a:off x="2880360" y="1901952"/>
            <a:ext cx="548640" cy="0"/>
          </a:xfrm>
          <a:prstGeom prst="line">
            <a:avLst/>
          </a:prstGeom>
          <a:noFill/>
          <a:ln w="22225">
            <a:solidFill>
              <a:schemeClr val="tx1"/>
            </a:solidFill>
            <a:prstDash val="solid"/>
            <a:tailEnd type="triangle"/>
          </a:ln>
        </p:spPr>
      </p:sp>
      <p:sp>
        <p:nvSpPr>
          <p:cNvPr id="8" name="node"/>
          <p:cNvSpPr/>
          <p:nvPr/>
        </p:nvSpPr>
        <p:spPr>
          <a:xfrm>
            <a:off x="3429000" y="1536192"/>
            <a:ext cx="2194560" cy="731520"/>
          </a:xfrm>
          <a:prstGeom prst="roundRect">
            <a:avLst>
              <a:gd name="adj" fmla="val 12500"/>
            </a:avLst>
          </a:prstGeom>
          <a:solidFill>
            <a:schemeClr val="accent6"/>
          </a:solidFill>
          <a:ln w="19050">
            <a:solidFill>
              <a:schemeClr val="accent2"/>
            </a:solidFill>
            <a:prstDash val="solid"/>
          </a:ln>
        </p:spPr>
      </p:sp>
      <p:sp>
        <p:nvSpPr>
          <p:cNvPr id="9" name="Text 7"/>
          <p:cNvSpPr txBox="1"/>
          <p:nvPr/>
        </p:nvSpPr>
        <p:spPr>
          <a:xfrm>
            <a:off x="3502152" y="1536192"/>
            <a:ext cx="2048256" cy="731520"/>
          </a:xfrm>
          <a:prstGeom prst="rect">
            <a:avLst/>
          </a:prstGeom>
          <a:noFill/>
          <a:ln/>
        </p:spPr>
        <p:txBody>
          <a:bodyPr wrap="square" lIns="0" tIns="0" rIns="0" bIns="0" rtlCol="0" anchor="ctr"/>
          <a:lstStyle/>
          <a:p>
            <a:pPr algn="ctr" indent="0" marL="0">
              <a:buNone/>
            </a:pPr>
            <a:r>
              <a:rPr lang="en-US" sz="1400" b="1" dirty="0">
                <a:solidFill>
                  <a:schemeClr val="tx1"/>
                </a:solidFill>
              </a:rPr>
              <a:t>EHR Data Inspection</a:t>
            </a:r>
            <a:endParaRPr lang="en-US" sz="1400" dirty="0"/>
          </a:p>
        </p:txBody>
      </p:sp>
      <p:sp>
        <p:nvSpPr>
          <p:cNvPr id="10" name="arrow"/>
          <p:cNvSpPr/>
          <p:nvPr/>
        </p:nvSpPr>
        <p:spPr>
          <a:xfrm>
            <a:off x="5623560" y="1901952"/>
            <a:ext cx="548640" cy="0"/>
          </a:xfrm>
          <a:prstGeom prst="line">
            <a:avLst/>
          </a:prstGeom>
          <a:noFill/>
          <a:ln w="22225">
            <a:solidFill>
              <a:schemeClr val="tx1"/>
            </a:solidFill>
            <a:prstDash val="solid"/>
            <a:tailEnd type="triangle"/>
          </a:ln>
        </p:spPr>
      </p:sp>
      <p:sp>
        <p:nvSpPr>
          <p:cNvPr id="11" name="node"/>
          <p:cNvSpPr/>
          <p:nvPr/>
        </p:nvSpPr>
        <p:spPr>
          <a:xfrm>
            <a:off x="6172200" y="1536192"/>
            <a:ext cx="2194560" cy="731520"/>
          </a:xfrm>
          <a:prstGeom prst="roundRect">
            <a:avLst>
              <a:gd name="adj" fmla="val 12500"/>
            </a:avLst>
          </a:prstGeom>
          <a:solidFill>
            <a:schemeClr val="accent6"/>
          </a:solidFill>
          <a:ln w="19050">
            <a:solidFill>
              <a:schemeClr val="accent2"/>
            </a:solidFill>
            <a:prstDash val="solid"/>
          </a:ln>
        </p:spPr>
      </p:sp>
      <p:sp>
        <p:nvSpPr>
          <p:cNvPr id="12" name="Text 10"/>
          <p:cNvSpPr txBox="1"/>
          <p:nvPr/>
        </p:nvSpPr>
        <p:spPr>
          <a:xfrm>
            <a:off x="6245352" y="1536192"/>
            <a:ext cx="2048256" cy="731520"/>
          </a:xfrm>
          <a:prstGeom prst="rect">
            <a:avLst/>
          </a:prstGeom>
          <a:noFill/>
          <a:ln/>
        </p:spPr>
        <p:txBody>
          <a:bodyPr wrap="square" lIns="0" tIns="0" rIns="0" bIns="0" rtlCol="0" anchor="ctr"/>
          <a:lstStyle/>
          <a:p>
            <a:pPr algn="ctr" indent="0" marL="0">
              <a:buNone/>
            </a:pPr>
            <a:r>
              <a:rPr lang="en-US" sz="1400" b="1" dirty="0">
                <a:solidFill>
                  <a:schemeClr val="tx1"/>
                </a:solidFill>
              </a:rPr>
              <a:t>EHR Preprocessing</a:t>
            </a:r>
            <a:endParaRPr lang="en-US" sz="1400" dirty="0"/>
          </a:p>
        </p:txBody>
      </p:sp>
      <p:sp>
        <p:nvSpPr>
          <p:cNvPr id="13" name="arrow"/>
          <p:cNvSpPr/>
          <p:nvPr/>
        </p:nvSpPr>
        <p:spPr>
          <a:xfrm>
            <a:off x="8366760" y="1901952"/>
            <a:ext cx="548640" cy="0"/>
          </a:xfrm>
          <a:prstGeom prst="line">
            <a:avLst/>
          </a:prstGeom>
          <a:noFill/>
          <a:ln w="22225">
            <a:solidFill>
              <a:schemeClr val="tx1"/>
            </a:solidFill>
            <a:prstDash val="solid"/>
            <a:tailEnd type="triangle"/>
          </a:ln>
        </p:spPr>
      </p:sp>
      <p:sp>
        <p:nvSpPr>
          <p:cNvPr id="14" name="node"/>
          <p:cNvSpPr/>
          <p:nvPr/>
        </p:nvSpPr>
        <p:spPr>
          <a:xfrm>
            <a:off x="8915400" y="1536192"/>
            <a:ext cx="2194560" cy="731520"/>
          </a:xfrm>
          <a:prstGeom prst="roundRect">
            <a:avLst>
              <a:gd name="adj" fmla="val 12500"/>
            </a:avLst>
          </a:prstGeom>
          <a:solidFill>
            <a:schemeClr val="accent6"/>
          </a:solidFill>
          <a:ln w="19050">
            <a:solidFill>
              <a:schemeClr val="accent2"/>
            </a:solidFill>
            <a:prstDash val="solid"/>
          </a:ln>
        </p:spPr>
      </p:sp>
      <p:sp>
        <p:nvSpPr>
          <p:cNvPr id="15" name="Text 13"/>
          <p:cNvSpPr txBox="1"/>
          <p:nvPr/>
        </p:nvSpPr>
        <p:spPr>
          <a:xfrm>
            <a:off x="8988552" y="1536192"/>
            <a:ext cx="2048256" cy="731520"/>
          </a:xfrm>
          <a:prstGeom prst="rect">
            <a:avLst/>
          </a:prstGeom>
          <a:noFill/>
          <a:ln/>
        </p:spPr>
        <p:txBody>
          <a:bodyPr wrap="square" lIns="0" tIns="0" rIns="0" bIns="0" rtlCol="0" anchor="ctr"/>
          <a:lstStyle/>
          <a:p>
            <a:pPr algn="ctr" indent="0" marL="0">
              <a:buNone/>
            </a:pPr>
            <a:r>
              <a:rPr lang="en-US" sz="1400" b="1" dirty="0">
                <a:solidFill>
                  <a:schemeClr val="tx1"/>
                </a:solidFill>
              </a:rPr>
              <a:t>Data Quality Reports</a:t>
            </a:r>
            <a:endParaRPr lang="en-US" sz="1400" dirty="0"/>
          </a:p>
        </p:txBody>
      </p:sp>
      <p:sp>
        <p:nvSpPr>
          <p:cNvPr id="16" name="Shape 14"/>
          <p:cNvSpPr/>
          <p:nvPr/>
        </p:nvSpPr>
        <p:spPr>
          <a:xfrm>
            <a:off x="457200" y="2679192"/>
            <a:ext cx="11274552" cy="0"/>
          </a:xfrm>
          <a:prstGeom prst="line">
            <a:avLst/>
          </a:prstGeom>
          <a:noFill/>
          <a:ln w="22225">
            <a:solidFill>
              <a:schemeClr val="accent3"/>
            </a:solidFill>
            <a:prstDash val="dash"/>
          </a:ln>
        </p:spPr>
      </p:sp>
      <p:sp>
        <p:nvSpPr>
          <p:cNvPr id="17" name="card"/>
          <p:cNvSpPr/>
          <p:nvPr/>
        </p:nvSpPr>
        <p:spPr>
          <a:xfrm>
            <a:off x="3657600" y="2505456"/>
            <a:ext cx="4873752" cy="347472"/>
          </a:xfrm>
          <a:prstGeom prst="roundRect">
            <a:avLst>
              <a:gd name="adj" fmla="val 26316"/>
            </a:avLst>
          </a:prstGeom>
          <a:solidFill>
            <a:schemeClr val="bg1"/>
          </a:solidFill>
          <a:ln w="19050">
            <a:solidFill>
              <a:schemeClr val="accent3"/>
            </a:solidFill>
            <a:prstDash val="solid"/>
          </a:ln>
        </p:spPr>
      </p:sp>
      <p:sp>
        <p:nvSpPr>
          <p:cNvPr id="18" name="Text 16"/>
          <p:cNvSpPr txBox="1"/>
          <p:nvPr/>
        </p:nvSpPr>
        <p:spPr>
          <a:xfrm>
            <a:off x="3657600" y="2505456"/>
            <a:ext cx="4873752" cy="347472"/>
          </a:xfrm>
          <a:prstGeom prst="rect">
            <a:avLst/>
          </a:prstGeom>
          <a:noFill/>
          <a:ln/>
        </p:spPr>
        <p:txBody>
          <a:bodyPr wrap="square" lIns="0" tIns="0" rIns="0" bIns="0" rtlCol="0" anchor="ctr"/>
          <a:lstStyle/>
          <a:p>
            <a:pPr algn="ctr" indent="0" marL="0">
              <a:buNone/>
            </a:pPr>
            <a:r>
              <a:rPr lang="en-US" sz="1200" b="1" dirty="0">
                <a:solidFill>
                  <a:schemeClr val="accent3"/>
                </a:solidFill>
              </a:rPr>
              <a:t>No data path between the two pipelines</a:t>
            </a:r>
            <a:endParaRPr lang="en-US" sz="1200" dirty="0"/>
          </a:p>
        </p:txBody>
      </p:sp>
      <p:sp>
        <p:nvSpPr>
          <p:cNvPr id="19" name="card"/>
          <p:cNvSpPr/>
          <p:nvPr/>
        </p:nvSpPr>
        <p:spPr>
          <a:xfrm>
            <a:off x="457200" y="2971800"/>
            <a:ext cx="11274552" cy="2697480"/>
          </a:xfrm>
          <a:prstGeom prst="roundRect">
            <a:avLst>
              <a:gd name="adj" fmla="val 3390"/>
            </a:avLst>
          </a:prstGeom>
          <a:solidFill>
            <a:schemeClr val="bg2"/>
          </a:solidFill>
          <a:ln w="12700">
            <a:solidFill>
              <a:schemeClr val="accent5"/>
            </a:solidFill>
            <a:prstDash val="solid"/>
          </a:ln>
        </p:spPr>
      </p:sp>
      <p:sp>
        <p:nvSpPr>
          <p:cNvPr id="20" name="Text 18"/>
          <p:cNvSpPr txBox="1"/>
          <p:nvPr/>
        </p:nvSpPr>
        <p:spPr>
          <a:xfrm>
            <a:off x="640080" y="3017520"/>
            <a:ext cx="4572000" cy="274320"/>
          </a:xfrm>
          <a:prstGeom prst="rect">
            <a:avLst/>
          </a:prstGeom>
          <a:noFill/>
          <a:ln/>
        </p:spPr>
        <p:txBody>
          <a:bodyPr wrap="square" lIns="0" tIns="0" rIns="0" bIns="0" rtlCol="0" anchor="t"/>
          <a:lstStyle/>
          <a:p>
            <a:pPr indent="0" marL="0">
              <a:buNone/>
            </a:pPr>
            <a:r>
              <a:rPr lang="en-US" sz="1200" b="1" spc="100" kern="0" dirty="0">
                <a:solidFill>
                  <a:schemeClr val="tx1"/>
                </a:solidFill>
              </a:rPr>
              <a:t>WEARABLE FORECASTING PIPELINE</a:t>
            </a:r>
            <a:endParaRPr lang="en-US" sz="1200" dirty="0"/>
          </a:p>
        </p:txBody>
      </p:sp>
      <p:sp>
        <p:nvSpPr>
          <p:cNvPr id="21" name="node"/>
          <p:cNvSpPr/>
          <p:nvPr/>
        </p:nvSpPr>
        <p:spPr>
          <a:xfrm>
            <a:off x="658368" y="3383280"/>
            <a:ext cx="1508760" cy="868680"/>
          </a:xfrm>
          <a:prstGeom prst="roundRect">
            <a:avLst>
              <a:gd name="adj" fmla="val 10526"/>
            </a:avLst>
          </a:prstGeom>
          <a:solidFill>
            <a:schemeClr val="accent6"/>
          </a:solidFill>
          <a:ln w="19050">
            <a:solidFill>
              <a:schemeClr val="accent2"/>
            </a:solidFill>
            <a:prstDash val="solid"/>
          </a:ln>
        </p:spPr>
      </p:sp>
      <p:sp>
        <p:nvSpPr>
          <p:cNvPr id="22" name="Text 20"/>
          <p:cNvSpPr txBox="1"/>
          <p:nvPr/>
        </p:nvSpPr>
        <p:spPr>
          <a:xfrm>
            <a:off x="731520" y="3383280"/>
            <a:ext cx="1362456" cy="868680"/>
          </a:xfrm>
          <a:prstGeom prst="rect">
            <a:avLst/>
          </a:prstGeom>
          <a:noFill/>
          <a:ln/>
        </p:spPr>
        <p:txBody>
          <a:bodyPr wrap="square" lIns="0" tIns="0" rIns="0" bIns="0" rtlCol="0" anchor="ctr"/>
          <a:lstStyle/>
          <a:p>
            <a:pPr algn="ctr" indent="0" marL="0">
              <a:buNone/>
            </a:pPr>
            <a:r>
              <a:rPr lang="en-US" sz="1300" b="1" dirty="0">
                <a:solidFill>
                  <a:schemeClr val="tx1"/>
                </a:solidFill>
              </a:rPr>
              <a:t>Wearable Glucose Data</a:t>
            </a:r>
            <a:endParaRPr lang="en-US" sz="1300" dirty="0"/>
          </a:p>
        </p:txBody>
      </p:sp>
      <p:sp>
        <p:nvSpPr>
          <p:cNvPr id="23" name="Shape 21"/>
          <p:cNvSpPr/>
          <p:nvPr/>
        </p:nvSpPr>
        <p:spPr>
          <a:xfrm>
            <a:off x="530352" y="3255264"/>
            <a:ext cx="274320" cy="274320"/>
          </a:xfrm>
          <a:prstGeom prst="ellipse">
            <a:avLst/>
          </a:prstGeom>
          <a:solidFill>
            <a:schemeClr val="accent1"/>
          </a:solidFill>
          <a:ln w="19050">
            <a:solidFill>
              <a:schemeClr val="bg1"/>
            </a:solidFill>
            <a:prstDash val="solid"/>
          </a:ln>
        </p:spPr>
      </p:sp>
      <p:sp>
        <p:nvSpPr>
          <p:cNvPr id="24" name="Text 22"/>
          <p:cNvSpPr txBox="1"/>
          <p:nvPr/>
        </p:nvSpPr>
        <p:spPr>
          <a:xfrm>
            <a:off x="530352" y="3255264"/>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25" name="node"/>
          <p:cNvSpPr/>
          <p:nvPr/>
        </p:nvSpPr>
        <p:spPr>
          <a:xfrm>
            <a:off x="2532888" y="3383280"/>
            <a:ext cx="1508760" cy="868680"/>
          </a:xfrm>
          <a:prstGeom prst="roundRect">
            <a:avLst>
              <a:gd name="adj" fmla="val 10526"/>
            </a:avLst>
          </a:prstGeom>
          <a:solidFill>
            <a:schemeClr val="accent6"/>
          </a:solidFill>
          <a:ln w="19050">
            <a:solidFill>
              <a:schemeClr val="accent2"/>
            </a:solidFill>
            <a:prstDash val="solid"/>
          </a:ln>
        </p:spPr>
      </p:sp>
      <p:sp>
        <p:nvSpPr>
          <p:cNvPr id="26" name="Text 24"/>
          <p:cNvSpPr txBox="1"/>
          <p:nvPr/>
        </p:nvSpPr>
        <p:spPr>
          <a:xfrm>
            <a:off x="2606040" y="3383280"/>
            <a:ext cx="1362456" cy="868680"/>
          </a:xfrm>
          <a:prstGeom prst="rect">
            <a:avLst/>
          </a:prstGeom>
          <a:noFill/>
          <a:ln/>
        </p:spPr>
        <p:txBody>
          <a:bodyPr wrap="square" lIns="0" tIns="0" rIns="0" bIns="0" rtlCol="0" anchor="ctr"/>
          <a:lstStyle/>
          <a:p>
            <a:pPr algn="ctr" indent="0" marL="0">
              <a:buNone/>
            </a:pPr>
            <a:r>
              <a:rPr lang="en-US" sz="1300" b="1" dirty="0">
                <a:solidFill>
                  <a:schemeClr val="tx1"/>
                </a:solidFill>
              </a:rPr>
              <a:t>Inspection and Preprocessing</a:t>
            </a:r>
            <a:endParaRPr lang="en-US" sz="1300" dirty="0"/>
          </a:p>
        </p:txBody>
      </p:sp>
      <p:sp>
        <p:nvSpPr>
          <p:cNvPr id="27" name="Shape 25"/>
          <p:cNvSpPr/>
          <p:nvPr/>
        </p:nvSpPr>
        <p:spPr>
          <a:xfrm>
            <a:off x="2404872" y="3255264"/>
            <a:ext cx="274320" cy="274320"/>
          </a:xfrm>
          <a:prstGeom prst="ellipse">
            <a:avLst/>
          </a:prstGeom>
          <a:solidFill>
            <a:schemeClr val="accent1"/>
          </a:solidFill>
          <a:ln w="19050">
            <a:solidFill>
              <a:schemeClr val="bg1"/>
            </a:solidFill>
            <a:prstDash val="solid"/>
          </a:ln>
        </p:spPr>
      </p:sp>
      <p:sp>
        <p:nvSpPr>
          <p:cNvPr id="28" name="Text 26"/>
          <p:cNvSpPr txBox="1"/>
          <p:nvPr/>
        </p:nvSpPr>
        <p:spPr>
          <a:xfrm>
            <a:off x="2404872" y="3255264"/>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9" name="node"/>
          <p:cNvSpPr/>
          <p:nvPr/>
        </p:nvSpPr>
        <p:spPr>
          <a:xfrm>
            <a:off x="4407408" y="3383280"/>
            <a:ext cx="1508760" cy="868680"/>
          </a:xfrm>
          <a:prstGeom prst="roundRect">
            <a:avLst>
              <a:gd name="adj" fmla="val 10526"/>
            </a:avLst>
          </a:prstGeom>
          <a:solidFill>
            <a:schemeClr val="accent6"/>
          </a:solidFill>
          <a:ln w="19050">
            <a:solidFill>
              <a:schemeClr val="accent2"/>
            </a:solidFill>
            <a:prstDash val="solid"/>
          </a:ln>
        </p:spPr>
      </p:sp>
      <p:sp>
        <p:nvSpPr>
          <p:cNvPr id="30" name="Text 28"/>
          <p:cNvSpPr txBox="1"/>
          <p:nvPr/>
        </p:nvSpPr>
        <p:spPr>
          <a:xfrm>
            <a:off x="4480560" y="3383280"/>
            <a:ext cx="1362456" cy="868680"/>
          </a:xfrm>
          <a:prstGeom prst="rect">
            <a:avLst/>
          </a:prstGeom>
          <a:noFill/>
          <a:ln/>
        </p:spPr>
        <p:txBody>
          <a:bodyPr wrap="square" lIns="0" tIns="0" rIns="0" bIns="0" rtlCol="0" anchor="ctr"/>
          <a:lstStyle/>
          <a:p>
            <a:pPr algn="ctr" indent="0" marL="0">
              <a:buNone/>
            </a:pPr>
            <a:r>
              <a:rPr lang="en-US" sz="1300" b="1" dirty="0">
                <a:solidFill>
                  <a:schemeClr val="tx1"/>
                </a:solidFill>
              </a:rPr>
              <a:t>Feature Engineering</a:t>
            </a:r>
            <a:endParaRPr lang="en-US" sz="1300" dirty="0"/>
          </a:p>
        </p:txBody>
      </p:sp>
      <p:sp>
        <p:nvSpPr>
          <p:cNvPr id="31" name="Shape 29"/>
          <p:cNvSpPr/>
          <p:nvPr/>
        </p:nvSpPr>
        <p:spPr>
          <a:xfrm>
            <a:off x="4279392" y="3255264"/>
            <a:ext cx="274320" cy="274320"/>
          </a:xfrm>
          <a:prstGeom prst="ellipse">
            <a:avLst/>
          </a:prstGeom>
          <a:solidFill>
            <a:schemeClr val="accent1"/>
          </a:solidFill>
          <a:ln w="19050">
            <a:solidFill>
              <a:schemeClr val="bg1"/>
            </a:solidFill>
            <a:prstDash val="solid"/>
          </a:ln>
        </p:spPr>
      </p:sp>
      <p:sp>
        <p:nvSpPr>
          <p:cNvPr id="32" name="Text 30"/>
          <p:cNvSpPr txBox="1"/>
          <p:nvPr/>
        </p:nvSpPr>
        <p:spPr>
          <a:xfrm>
            <a:off x="4279392" y="3255264"/>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33" name="node"/>
          <p:cNvSpPr/>
          <p:nvPr/>
        </p:nvSpPr>
        <p:spPr>
          <a:xfrm>
            <a:off x="6281928" y="3383280"/>
            <a:ext cx="1508760" cy="868680"/>
          </a:xfrm>
          <a:prstGeom prst="roundRect">
            <a:avLst>
              <a:gd name="adj" fmla="val 10526"/>
            </a:avLst>
          </a:prstGeom>
          <a:solidFill>
            <a:schemeClr val="accent6"/>
          </a:solidFill>
          <a:ln w="19050">
            <a:solidFill>
              <a:schemeClr val="accent1"/>
            </a:solidFill>
            <a:prstDash val="solid"/>
          </a:ln>
        </p:spPr>
      </p:sp>
      <p:sp>
        <p:nvSpPr>
          <p:cNvPr id="34" name="Text 32"/>
          <p:cNvSpPr txBox="1"/>
          <p:nvPr/>
        </p:nvSpPr>
        <p:spPr>
          <a:xfrm>
            <a:off x="6355080" y="3383280"/>
            <a:ext cx="1362456" cy="868680"/>
          </a:xfrm>
          <a:prstGeom prst="rect">
            <a:avLst/>
          </a:prstGeom>
          <a:noFill/>
          <a:ln/>
        </p:spPr>
        <p:txBody>
          <a:bodyPr wrap="square" lIns="0" tIns="0" rIns="0" bIns="0" rtlCol="0" anchor="ctr"/>
          <a:lstStyle/>
          <a:p>
            <a:pPr algn="ctr" indent="0" marL="0">
              <a:buNone/>
            </a:pPr>
            <a:r>
              <a:rPr lang="en-US" sz="1300" b="1" dirty="0">
                <a:solidFill>
                  <a:schemeClr val="tx1"/>
                </a:solidFill>
              </a:rPr>
              <a:t>Forecasting Model</a:t>
            </a:r>
            <a:endParaRPr lang="en-US" sz="1300" dirty="0"/>
          </a:p>
        </p:txBody>
      </p:sp>
      <p:sp>
        <p:nvSpPr>
          <p:cNvPr id="35" name="Shape 33"/>
          <p:cNvSpPr/>
          <p:nvPr/>
        </p:nvSpPr>
        <p:spPr>
          <a:xfrm>
            <a:off x="6153912" y="3255264"/>
            <a:ext cx="274320" cy="274320"/>
          </a:xfrm>
          <a:prstGeom prst="ellipse">
            <a:avLst/>
          </a:prstGeom>
          <a:solidFill>
            <a:schemeClr val="accent1"/>
          </a:solidFill>
          <a:ln w="19050">
            <a:solidFill>
              <a:schemeClr val="bg1"/>
            </a:solidFill>
            <a:prstDash val="solid"/>
          </a:ln>
        </p:spPr>
      </p:sp>
      <p:sp>
        <p:nvSpPr>
          <p:cNvPr id="36" name="Text 34"/>
          <p:cNvSpPr txBox="1"/>
          <p:nvPr/>
        </p:nvSpPr>
        <p:spPr>
          <a:xfrm>
            <a:off x="6153912" y="3255264"/>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37" name="node"/>
          <p:cNvSpPr/>
          <p:nvPr/>
        </p:nvSpPr>
        <p:spPr>
          <a:xfrm>
            <a:off x="8156448" y="3383280"/>
            <a:ext cx="1508760" cy="868680"/>
          </a:xfrm>
          <a:prstGeom prst="roundRect">
            <a:avLst>
              <a:gd name="adj" fmla="val 10526"/>
            </a:avLst>
          </a:prstGeom>
          <a:solidFill>
            <a:schemeClr val="accent6"/>
          </a:solidFill>
          <a:ln w="19050">
            <a:solidFill>
              <a:schemeClr val="accent2"/>
            </a:solidFill>
            <a:prstDash val="solid"/>
          </a:ln>
        </p:spPr>
      </p:sp>
      <p:sp>
        <p:nvSpPr>
          <p:cNvPr id="38" name="Text 36"/>
          <p:cNvSpPr txBox="1"/>
          <p:nvPr/>
        </p:nvSpPr>
        <p:spPr>
          <a:xfrm>
            <a:off x="8229600" y="3383280"/>
            <a:ext cx="1362456" cy="868680"/>
          </a:xfrm>
          <a:prstGeom prst="rect">
            <a:avLst/>
          </a:prstGeom>
          <a:noFill/>
          <a:ln/>
        </p:spPr>
        <p:txBody>
          <a:bodyPr wrap="square" lIns="0" tIns="0" rIns="0" bIns="0" rtlCol="0" anchor="ctr"/>
          <a:lstStyle/>
          <a:p>
            <a:pPr algn="ctr" indent="0" marL="0">
              <a:buNone/>
            </a:pPr>
            <a:r>
              <a:rPr lang="en-US" sz="1300" b="1" dirty="0">
                <a:solidFill>
                  <a:schemeClr val="tx1"/>
                </a:solidFill>
              </a:rPr>
              <a:t>Flask API</a:t>
            </a:r>
            <a:endParaRPr lang="en-US" sz="1300" dirty="0"/>
          </a:p>
        </p:txBody>
      </p:sp>
      <p:sp>
        <p:nvSpPr>
          <p:cNvPr id="39" name="Shape 37"/>
          <p:cNvSpPr/>
          <p:nvPr/>
        </p:nvSpPr>
        <p:spPr>
          <a:xfrm>
            <a:off x="8028432" y="3255264"/>
            <a:ext cx="274320" cy="274320"/>
          </a:xfrm>
          <a:prstGeom prst="ellipse">
            <a:avLst/>
          </a:prstGeom>
          <a:solidFill>
            <a:schemeClr val="accent1"/>
          </a:solidFill>
          <a:ln w="19050">
            <a:solidFill>
              <a:schemeClr val="bg1"/>
            </a:solidFill>
            <a:prstDash val="solid"/>
          </a:ln>
        </p:spPr>
      </p:sp>
      <p:sp>
        <p:nvSpPr>
          <p:cNvPr id="40" name="Text 38"/>
          <p:cNvSpPr txBox="1"/>
          <p:nvPr/>
        </p:nvSpPr>
        <p:spPr>
          <a:xfrm>
            <a:off x="8028432" y="3255264"/>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41" name="node"/>
          <p:cNvSpPr/>
          <p:nvPr/>
        </p:nvSpPr>
        <p:spPr>
          <a:xfrm>
            <a:off x="10030968" y="3383280"/>
            <a:ext cx="1508760" cy="868680"/>
          </a:xfrm>
          <a:prstGeom prst="roundRect">
            <a:avLst>
              <a:gd name="adj" fmla="val 10526"/>
            </a:avLst>
          </a:prstGeom>
          <a:solidFill>
            <a:schemeClr val="accent6"/>
          </a:solidFill>
          <a:ln w="19050">
            <a:solidFill>
              <a:schemeClr val="accent2"/>
            </a:solidFill>
            <a:prstDash val="solid"/>
          </a:ln>
        </p:spPr>
      </p:sp>
      <p:sp>
        <p:nvSpPr>
          <p:cNvPr id="42" name="Text 40"/>
          <p:cNvSpPr txBox="1"/>
          <p:nvPr/>
        </p:nvSpPr>
        <p:spPr>
          <a:xfrm>
            <a:off x="10104120" y="3383280"/>
            <a:ext cx="1362456" cy="868680"/>
          </a:xfrm>
          <a:prstGeom prst="rect">
            <a:avLst/>
          </a:prstGeom>
          <a:noFill/>
          <a:ln/>
        </p:spPr>
        <p:txBody>
          <a:bodyPr wrap="square" lIns="0" tIns="0" rIns="0" bIns="0" rtlCol="0" anchor="ctr"/>
          <a:lstStyle/>
          <a:p>
            <a:pPr algn="ctr" indent="0" marL="0">
              <a:buNone/>
            </a:pPr>
            <a:r>
              <a:rPr lang="en-US" sz="1300" b="1" dirty="0">
                <a:solidFill>
                  <a:schemeClr val="tx1"/>
                </a:solidFill>
              </a:rPr>
              <a:t>Web Dashboard</a:t>
            </a:r>
            <a:endParaRPr lang="en-US" sz="1300" dirty="0"/>
          </a:p>
        </p:txBody>
      </p:sp>
      <p:sp>
        <p:nvSpPr>
          <p:cNvPr id="43" name="Shape 41"/>
          <p:cNvSpPr/>
          <p:nvPr/>
        </p:nvSpPr>
        <p:spPr>
          <a:xfrm>
            <a:off x="9902952" y="3255264"/>
            <a:ext cx="274320" cy="274320"/>
          </a:xfrm>
          <a:prstGeom prst="ellipse">
            <a:avLst/>
          </a:prstGeom>
          <a:solidFill>
            <a:schemeClr val="accent1"/>
          </a:solidFill>
          <a:ln w="19050">
            <a:solidFill>
              <a:schemeClr val="bg1"/>
            </a:solidFill>
            <a:prstDash val="solid"/>
          </a:ln>
        </p:spPr>
      </p:sp>
      <p:sp>
        <p:nvSpPr>
          <p:cNvPr id="44" name="Text 42"/>
          <p:cNvSpPr txBox="1"/>
          <p:nvPr/>
        </p:nvSpPr>
        <p:spPr>
          <a:xfrm>
            <a:off x="9902952" y="3255264"/>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45" name="arrow"/>
          <p:cNvSpPr/>
          <p:nvPr/>
        </p:nvSpPr>
        <p:spPr>
          <a:xfrm>
            <a:off x="2167128" y="3813048"/>
            <a:ext cx="365760" cy="0"/>
          </a:xfrm>
          <a:prstGeom prst="line">
            <a:avLst/>
          </a:prstGeom>
          <a:noFill/>
          <a:ln w="22225">
            <a:solidFill>
              <a:schemeClr val="tx1"/>
            </a:solidFill>
            <a:prstDash val="solid"/>
            <a:tailEnd type="triangle"/>
          </a:ln>
        </p:spPr>
      </p:sp>
      <p:sp>
        <p:nvSpPr>
          <p:cNvPr id="46" name="arrow"/>
          <p:cNvSpPr/>
          <p:nvPr/>
        </p:nvSpPr>
        <p:spPr>
          <a:xfrm>
            <a:off x="4041648" y="3813048"/>
            <a:ext cx="365760" cy="0"/>
          </a:xfrm>
          <a:prstGeom prst="line">
            <a:avLst/>
          </a:prstGeom>
          <a:noFill/>
          <a:ln w="22225">
            <a:solidFill>
              <a:schemeClr val="tx1"/>
            </a:solidFill>
            <a:prstDash val="solid"/>
            <a:tailEnd type="triangle"/>
          </a:ln>
        </p:spPr>
      </p:sp>
      <p:sp>
        <p:nvSpPr>
          <p:cNvPr id="47" name="arrow"/>
          <p:cNvSpPr/>
          <p:nvPr/>
        </p:nvSpPr>
        <p:spPr>
          <a:xfrm>
            <a:off x="5916168" y="3813048"/>
            <a:ext cx="365760" cy="0"/>
          </a:xfrm>
          <a:prstGeom prst="line">
            <a:avLst/>
          </a:prstGeom>
          <a:noFill/>
          <a:ln w="22225">
            <a:solidFill>
              <a:schemeClr val="tx1"/>
            </a:solidFill>
            <a:prstDash val="solid"/>
            <a:tailEnd type="triangle"/>
          </a:ln>
        </p:spPr>
      </p:sp>
      <p:sp>
        <p:nvSpPr>
          <p:cNvPr id="48" name="arrow"/>
          <p:cNvSpPr/>
          <p:nvPr/>
        </p:nvSpPr>
        <p:spPr>
          <a:xfrm>
            <a:off x="7790688" y="3813048"/>
            <a:ext cx="365760" cy="0"/>
          </a:xfrm>
          <a:prstGeom prst="line">
            <a:avLst/>
          </a:prstGeom>
          <a:noFill/>
          <a:ln w="38100">
            <a:solidFill>
              <a:schemeClr val="accent1"/>
            </a:solidFill>
            <a:prstDash val="solid"/>
            <a:tailEnd type="triangle"/>
          </a:ln>
        </p:spPr>
      </p:sp>
      <p:sp>
        <p:nvSpPr>
          <p:cNvPr id="49" name="arrow"/>
          <p:cNvSpPr/>
          <p:nvPr/>
        </p:nvSpPr>
        <p:spPr>
          <a:xfrm>
            <a:off x="9665208" y="3813048"/>
            <a:ext cx="365760" cy="0"/>
          </a:xfrm>
          <a:prstGeom prst="line">
            <a:avLst/>
          </a:prstGeom>
          <a:noFill/>
          <a:ln w="22225">
            <a:solidFill>
              <a:schemeClr val="accent2"/>
            </a:solidFill>
            <a:prstDash val="dash"/>
            <a:headEnd type="triangle"/>
            <a:tailEnd type="triangle"/>
          </a:ln>
        </p:spPr>
      </p:sp>
      <p:sp>
        <p:nvSpPr>
          <p:cNvPr id="50" name="arrow"/>
          <p:cNvSpPr/>
          <p:nvPr/>
        </p:nvSpPr>
        <p:spPr>
          <a:xfrm>
            <a:off x="8910828" y="4251960"/>
            <a:ext cx="0" cy="274320"/>
          </a:xfrm>
          <a:prstGeom prst="line">
            <a:avLst/>
          </a:prstGeom>
          <a:noFill/>
          <a:ln w="19050">
            <a:solidFill>
              <a:schemeClr val="accent1"/>
            </a:solidFill>
            <a:prstDash val="solid"/>
            <a:tailEnd type="triangle"/>
          </a:ln>
        </p:spPr>
      </p:sp>
      <p:sp>
        <p:nvSpPr>
          <p:cNvPr id="51" name="card"/>
          <p:cNvSpPr/>
          <p:nvPr/>
        </p:nvSpPr>
        <p:spPr>
          <a:xfrm>
            <a:off x="6949440" y="4526280"/>
            <a:ext cx="3749040" cy="1051560"/>
          </a:xfrm>
          <a:prstGeom prst="roundRect">
            <a:avLst>
              <a:gd name="adj" fmla="val 8696"/>
            </a:avLst>
          </a:prstGeom>
          <a:solidFill>
            <a:schemeClr val="accent6"/>
          </a:solidFill>
          <a:ln w="19050">
            <a:solidFill>
              <a:schemeClr val="accent1"/>
            </a:solidFill>
            <a:prstDash val="solid"/>
          </a:ln>
        </p:spPr>
      </p:sp>
      <p:sp>
        <p:nvSpPr>
          <p:cNvPr id="52" name="Text 50"/>
          <p:cNvSpPr txBox="1"/>
          <p:nvPr/>
        </p:nvSpPr>
        <p:spPr>
          <a:xfrm>
            <a:off x="7132320" y="4590288"/>
            <a:ext cx="3474720" cy="292608"/>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GET /api/participants</a:t>
            </a:r>
            <a:endParaRPr lang="en-US" sz="1200" dirty="0"/>
          </a:p>
        </p:txBody>
      </p:sp>
      <p:sp>
        <p:nvSpPr>
          <p:cNvPr id="53" name="Text 51"/>
          <p:cNvSpPr txBox="1"/>
          <p:nvPr/>
        </p:nvSpPr>
        <p:spPr>
          <a:xfrm>
            <a:off x="7132320" y="4901184"/>
            <a:ext cx="3474720" cy="292608"/>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GET /api/cgm/&lt;participant_id&gt;</a:t>
            </a:r>
            <a:endParaRPr lang="en-US" sz="1200" dirty="0"/>
          </a:p>
        </p:txBody>
      </p:sp>
      <p:sp>
        <p:nvSpPr>
          <p:cNvPr id="54" name="Text 52"/>
          <p:cNvSpPr txBox="1"/>
          <p:nvPr/>
        </p:nvSpPr>
        <p:spPr>
          <a:xfrm>
            <a:off x="7132320" y="5212080"/>
            <a:ext cx="3474720" cy="292608"/>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GET /api/predict/&lt;participant_id&gt;</a:t>
            </a:r>
            <a:endParaRPr lang="en-US" sz="1200" dirty="0"/>
          </a:p>
        </p:txBody>
      </p:sp>
      <p:sp>
        <p:nvSpPr>
          <p:cNvPr id="55" name="Text 53"/>
          <p:cNvSpPr txBox="1"/>
          <p:nvPr/>
        </p:nvSpPr>
        <p:spPr>
          <a:xfrm>
            <a:off x="685800" y="4434840"/>
            <a:ext cx="914400" cy="274320"/>
          </a:xfrm>
          <a:prstGeom prst="rect">
            <a:avLst/>
          </a:prstGeom>
          <a:noFill/>
          <a:ln/>
        </p:spPr>
        <p:txBody>
          <a:bodyPr wrap="square" lIns="0" tIns="0" rIns="0" bIns="0" rtlCol="0" anchor="t"/>
          <a:lstStyle/>
          <a:p>
            <a:pPr indent="0" marL="0">
              <a:buNone/>
            </a:pPr>
            <a:r>
              <a:rPr lang="en-US" sz="1200" b="1" dirty="0">
                <a:solidFill>
                  <a:schemeClr val="tx1"/>
                </a:solidFill>
              </a:rPr>
              <a:t>Legend</a:t>
            </a:r>
            <a:endParaRPr lang="en-US" sz="1200" dirty="0"/>
          </a:p>
        </p:txBody>
      </p:sp>
      <p:sp>
        <p:nvSpPr>
          <p:cNvPr id="56" name="arrow"/>
          <p:cNvSpPr/>
          <p:nvPr/>
        </p:nvSpPr>
        <p:spPr>
          <a:xfrm>
            <a:off x="685800" y="4910328"/>
            <a:ext cx="640080" cy="0"/>
          </a:xfrm>
          <a:prstGeom prst="line">
            <a:avLst/>
          </a:prstGeom>
          <a:noFill/>
          <a:ln w="22225">
            <a:solidFill>
              <a:schemeClr val="tx1"/>
            </a:solidFill>
            <a:prstDash val="solid"/>
            <a:tailEnd type="triangle"/>
          </a:ln>
        </p:spPr>
      </p:sp>
      <p:sp>
        <p:nvSpPr>
          <p:cNvPr id="57" name="Text 55"/>
          <p:cNvSpPr txBox="1"/>
          <p:nvPr/>
        </p:nvSpPr>
        <p:spPr>
          <a:xfrm>
            <a:off x="1463040" y="4773168"/>
            <a:ext cx="2743200" cy="274320"/>
          </a:xfrm>
          <a:prstGeom prst="rect">
            <a:avLst/>
          </a:prstGeom>
          <a:noFill/>
          <a:ln/>
        </p:spPr>
        <p:txBody>
          <a:bodyPr wrap="square" lIns="0" tIns="0" rIns="0" bIns="0" rtlCol="0" anchor="ctr"/>
          <a:lstStyle/>
          <a:p>
            <a:pPr indent="0" marL="0">
              <a:buNone/>
            </a:pPr>
            <a:r>
              <a:rPr lang="en-US" sz="1200" dirty="0">
                <a:solidFill>
                  <a:schemeClr val="tx2"/>
                </a:solidFill>
              </a:rPr>
              <a:t>Data flow</a:t>
            </a:r>
            <a:endParaRPr lang="en-US" sz="1200" dirty="0"/>
          </a:p>
        </p:txBody>
      </p:sp>
      <p:sp>
        <p:nvSpPr>
          <p:cNvPr id="58" name="arrow"/>
          <p:cNvSpPr/>
          <p:nvPr/>
        </p:nvSpPr>
        <p:spPr>
          <a:xfrm>
            <a:off x="685800" y="5184648"/>
            <a:ext cx="640080" cy="0"/>
          </a:xfrm>
          <a:prstGeom prst="line">
            <a:avLst/>
          </a:prstGeom>
          <a:noFill/>
          <a:ln w="38100">
            <a:solidFill>
              <a:schemeClr val="accent1"/>
            </a:solidFill>
            <a:prstDash val="solid"/>
            <a:tailEnd type="triangle"/>
          </a:ln>
        </p:spPr>
      </p:sp>
      <p:sp>
        <p:nvSpPr>
          <p:cNvPr id="59" name="Text 57"/>
          <p:cNvSpPr txBox="1"/>
          <p:nvPr/>
        </p:nvSpPr>
        <p:spPr>
          <a:xfrm>
            <a:off x="1463040" y="5047488"/>
            <a:ext cx="2743200" cy="274320"/>
          </a:xfrm>
          <a:prstGeom prst="rect">
            <a:avLst/>
          </a:prstGeom>
          <a:noFill/>
          <a:ln/>
        </p:spPr>
        <p:txBody>
          <a:bodyPr wrap="square" lIns="0" tIns="0" rIns="0" bIns="0" rtlCol="0" anchor="ctr"/>
          <a:lstStyle/>
          <a:p>
            <a:pPr indent="0" marL="0">
              <a:buNone/>
            </a:pPr>
            <a:r>
              <a:rPr lang="en-US" sz="1200" dirty="0">
                <a:solidFill>
                  <a:schemeClr val="tx2"/>
                </a:solidFill>
              </a:rPr>
              <a:t>Model inference flow</a:t>
            </a:r>
            <a:endParaRPr lang="en-US" sz="1200" dirty="0"/>
          </a:p>
        </p:txBody>
      </p:sp>
      <p:sp>
        <p:nvSpPr>
          <p:cNvPr id="60" name="arrow"/>
          <p:cNvSpPr/>
          <p:nvPr/>
        </p:nvSpPr>
        <p:spPr>
          <a:xfrm>
            <a:off x="685800" y="5458968"/>
            <a:ext cx="640080" cy="0"/>
          </a:xfrm>
          <a:prstGeom prst="line">
            <a:avLst/>
          </a:prstGeom>
          <a:noFill/>
          <a:ln w="22225">
            <a:solidFill>
              <a:schemeClr val="accent2"/>
            </a:solidFill>
            <a:prstDash val="dash"/>
            <a:headEnd type="triangle"/>
            <a:tailEnd type="triangle"/>
          </a:ln>
        </p:spPr>
      </p:sp>
      <p:sp>
        <p:nvSpPr>
          <p:cNvPr id="61" name="Text 59"/>
          <p:cNvSpPr txBox="1"/>
          <p:nvPr/>
        </p:nvSpPr>
        <p:spPr>
          <a:xfrm>
            <a:off x="1463040" y="5321808"/>
            <a:ext cx="2743200" cy="274320"/>
          </a:xfrm>
          <a:prstGeom prst="rect">
            <a:avLst/>
          </a:prstGeom>
          <a:noFill/>
          <a:ln/>
        </p:spPr>
        <p:txBody>
          <a:bodyPr wrap="square" lIns="0" tIns="0" rIns="0" bIns="0" rtlCol="0" anchor="ctr"/>
          <a:lstStyle/>
          <a:p>
            <a:pPr indent="0" marL="0">
              <a:buNone/>
            </a:pPr>
            <a:r>
              <a:rPr lang="en-US" sz="1200" dirty="0">
                <a:solidFill>
                  <a:schemeClr val="tx2"/>
                </a:solidFill>
              </a:rPr>
              <a:t>API communication</a:t>
            </a:r>
            <a:endParaRPr lang="en-US" sz="1200" dirty="0"/>
          </a:p>
        </p:txBody>
      </p:sp>
      <p:sp>
        <p:nvSpPr>
          <p:cNvPr id="62" name="card"/>
          <p:cNvSpPr/>
          <p:nvPr/>
        </p:nvSpPr>
        <p:spPr>
          <a:xfrm>
            <a:off x="457200" y="5806440"/>
            <a:ext cx="11274552" cy="548640"/>
          </a:xfrm>
          <a:prstGeom prst="roundRect">
            <a:avLst>
              <a:gd name="adj" fmla="val 16667"/>
            </a:avLst>
          </a:prstGeom>
          <a:solidFill>
            <a:schemeClr val="accent3">
              <a:alpha val="15000"/>
            </a:schemeClr>
          </a:solidFill>
          <a:ln w="19050">
            <a:solidFill>
              <a:schemeClr val="accent3"/>
            </a:solidFill>
            <a:prstDash val="solid"/>
          </a:ln>
        </p:spPr>
      </p:sp>
      <p:sp>
        <p:nvSpPr>
          <p:cNvPr id="63" name="Text 61"/>
          <p:cNvSpPr txBox="1"/>
          <p:nvPr/>
        </p:nvSpPr>
        <p:spPr>
          <a:xfrm>
            <a:off x="731520" y="5806440"/>
            <a:ext cx="10789920" cy="548640"/>
          </a:xfrm>
          <a:prstGeom prst="rect">
            <a:avLst/>
          </a:prstGeom>
          <a:noFill/>
          <a:ln/>
        </p:spPr>
        <p:txBody>
          <a:bodyPr wrap="square" lIns="0" tIns="0" rIns="0" bIns="0" rtlCol="0" anchor="ctr"/>
          <a:lstStyle/>
          <a:p>
            <a:pPr indent="0" marL="0">
              <a:buNone/>
            </a:pPr>
            <a:r>
              <a:rPr lang="en-US" sz="1400" b="1" dirty="0">
                <a:solidFill>
                  <a:schemeClr val="tx1"/>
                </a:solidFill>
              </a:rPr>
              <a:t>EHR and wearable datasets are processed separately. Individual-level mapping has not been established.</a:t>
            </a:r>
            <a:endParaRPr lang="en-US" sz="1400" dirty="0"/>
          </a:p>
        </p:txBody>
      </p:sp>
      <p:sp>
        <p:nvSpPr>
          <p:cNvPr id="25" name="Slide Number Placeholder 0"/>
          <p:cNvSpPr>
            <a:spLocks noGrp="1"/>
          </p:cNvSpPr>
          <p:nvPr>
            <p:ph type="sldNum" sz="quarter" idx="4294967295"/>
          </p:nvPr>
        </p:nvSpPr>
        <p:spPr>
          <a:xfrm>
            <a:off x="10972800" y="6446520"/>
            <a:ext cx="75895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ctr"/>
          <a:lstStyle/>
          <a:p>
            <a:pPr algn="l" indent="0" marL="0">
              <a:buNone/>
            </a:pPr>
            <a:r>
              <a:rPr lang="en-US" sz="3200" b="1" dirty="0">
                <a:solidFill>
                  <a:schemeClr val="tx1"/>
                </a:solidFill>
              </a:rPr>
              <a:t>Forecasting model and baseline</a:t>
            </a:r>
            <a:endParaRPr lang="en-US" sz="3200" dirty="0"/>
          </a:p>
        </p:txBody>
      </p:sp>
      <p:sp>
        <p:nvSpPr>
          <p:cNvPr id="3" name="node"/>
          <p:cNvSpPr/>
          <p:nvPr/>
        </p:nvSpPr>
        <p:spPr>
          <a:xfrm>
            <a:off x="457200" y="1280160"/>
            <a:ext cx="3108960" cy="1097280"/>
          </a:xfrm>
          <a:prstGeom prst="roundRect">
            <a:avLst>
              <a:gd name="adj" fmla="val 8333"/>
            </a:avLst>
          </a:prstGeom>
          <a:solidFill>
            <a:schemeClr val="accent6"/>
          </a:solidFill>
          <a:ln w="19050">
            <a:solidFill>
              <a:schemeClr val="accent2"/>
            </a:solidFill>
            <a:prstDash val="solid"/>
          </a:ln>
        </p:spPr>
      </p:sp>
      <p:sp>
        <p:nvSpPr>
          <p:cNvPr id="4" name="Text 2"/>
          <p:cNvSpPr txBox="1"/>
          <p:nvPr/>
        </p:nvSpPr>
        <p:spPr>
          <a:xfrm>
            <a:off x="530352" y="1371600"/>
            <a:ext cx="2962656" cy="548640"/>
          </a:xfrm>
          <a:prstGeom prst="rect">
            <a:avLst/>
          </a:prstGeom>
          <a:noFill/>
          <a:ln/>
        </p:spPr>
        <p:txBody>
          <a:bodyPr wrap="square" lIns="0" tIns="0" rIns="0" bIns="0" rtlCol="0" anchor="ctr"/>
          <a:lstStyle/>
          <a:p>
            <a:pPr algn="ctr" indent="0" marL="0">
              <a:buNone/>
            </a:pPr>
            <a:r>
              <a:rPr lang="en-US" sz="1500" b="1" dirty="0">
                <a:solidFill>
                  <a:schemeClr val="tx1"/>
                </a:solidFill>
              </a:rPr>
              <a:t>Engineered wearable features</a:t>
            </a:r>
            <a:endParaRPr lang="en-US" sz="1500" dirty="0"/>
          </a:p>
        </p:txBody>
      </p:sp>
      <p:sp>
        <p:nvSpPr>
          <p:cNvPr id="5" name="Text 3"/>
          <p:cNvSpPr txBox="1"/>
          <p:nvPr/>
        </p:nvSpPr>
        <p:spPr>
          <a:xfrm>
            <a:off x="530352" y="1847088"/>
            <a:ext cx="2962656" cy="493776"/>
          </a:xfrm>
          <a:prstGeom prst="rect">
            <a:avLst/>
          </a:prstGeom>
          <a:noFill/>
          <a:ln/>
        </p:spPr>
        <p:txBody>
          <a:bodyPr wrap="square" lIns="0" tIns="0" rIns="0" bIns="0" rtlCol="0" anchor="t"/>
          <a:lstStyle/>
          <a:p>
            <a:pPr algn="ctr" indent="0" marL="0">
              <a:buNone/>
            </a:pPr>
            <a:r>
              <a:rPr lang="en-US" sz="1200" dirty="0">
                <a:solidFill>
                  <a:schemeClr val="tx2"/>
                </a:solidFill>
              </a:rPr>
              <a:t>lags, rolling stats, changes, activity</a:t>
            </a:r>
            <a:endParaRPr lang="en-US" sz="1200" dirty="0"/>
          </a:p>
        </p:txBody>
      </p:sp>
      <p:sp>
        <p:nvSpPr>
          <p:cNvPr id="6" name="node"/>
          <p:cNvSpPr/>
          <p:nvPr/>
        </p:nvSpPr>
        <p:spPr>
          <a:xfrm>
            <a:off x="4206240" y="1280160"/>
            <a:ext cx="3840480" cy="1097280"/>
          </a:xfrm>
          <a:prstGeom prst="roundRect">
            <a:avLst>
              <a:gd name="adj" fmla="val 8333"/>
            </a:avLst>
          </a:prstGeom>
          <a:solidFill>
            <a:schemeClr val="accent6"/>
          </a:solidFill>
          <a:ln w="19050">
            <a:solidFill>
              <a:schemeClr val="accent1"/>
            </a:solidFill>
            <a:prstDash val="solid"/>
          </a:ln>
        </p:spPr>
      </p:sp>
      <p:sp>
        <p:nvSpPr>
          <p:cNvPr id="7" name="Text 5"/>
          <p:cNvSpPr txBox="1"/>
          <p:nvPr/>
        </p:nvSpPr>
        <p:spPr>
          <a:xfrm>
            <a:off x="4279392" y="1371600"/>
            <a:ext cx="3694176" cy="548640"/>
          </a:xfrm>
          <a:prstGeom prst="rect">
            <a:avLst/>
          </a:prstGeom>
          <a:noFill/>
          <a:ln/>
        </p:spPr>
        <p:txBody>
          <a:bodyPr wrap="square" lIns="0" tIns="0" rIns="0" bIns="0" rtlCol="0" anchor="ctr"/>
          <a:lstStyle/>
          <a:p>
            <a:pPr algn="ctr" indent="0" marL="0">
              <a:buNone/>
            </a:pPr>
            <a:r>
              <a:rPr lang="en-US" sz="1500" b="1" dirty="0">
                <a:solidFill>
                  <a:schemeClr val="tx1"/>
                </a:solidFill>
              </a:rPr>
              <a:t>HistGradientBoostingRegressor</a:t>
            </a:r>
            <a:endParaRPr lang="en-US" sz="1500" dirty="0"/>
          </a:p>
        </p:txBody>
      </p:sp>
      <p:sp>
        <p:nvSpPr>
          <p:cNvPr id="8" name="Text 6"/>
          <p:cNvSpPr txBox="1"/>
          <p:nvPr/>
        </p:nvSpPr>
        <p:spPr>
          <a:xfrm>
            <a:off x="4279392" y="1847088"/>
            <a:ext cx="3694176" cy="493776"/>
          </a:xfrm>
          <a:prstGeom prst="rect">
            <a:avLst/>
          </a:prstGeom>
          <a:noFill/>
          <a:ln/>
        </p:spPr>
        <p:txBody>
          <a:bodyPr wrap="square" lIns="0" tIns="0" rIns="0" bIns="0" rtlCol="0" anchor="t"/>
          <a:lstStyle/>
          <a:p>
            <a:pPr algn="ctr" indent="0" marL="0">
              <a:buNone/>
            </a:pPr>
            <a:r>
              <a:rPr lang="en-US" sz="1200" dirty="0">
                <a:solidFill>
                  <a:schemeClr val="tx2"/>
                </a:solidFill>
              </a:rPr>
              <a:t>scikit-learn, persisted with Joblib</a:t>
            </a:r>
            <a:endParaRPr lang="en-US" sz="1200" dirty="0"/>
          </a:p>
        </p:txBody>
      </p:sp>
      <p:sp>
        <p:nvSpPr>
          <p:cNvPr id="9" name="node"/>
          <p:cNvSpPr/>
          <p:nvPr/>
        </p:nvSpPr>
        <p:spPr>
          <a:xfrm>
            <a:off x="8686800" y="1280160"/>
            <a:ext cx="3044952" cy="1097280"/>
          </a:xfrm>
          <a:prstGeom prst="roundRect">
            <a:avLst>
              <a:gd name="adj" fmla="val 8333"/>
            </a:avLst>
          </a:prstGeom>
          <a:solidFill>
            <a:schemeClr val="accent6"/>
          </a:solidFill>
          <a:ln w="19050">
            <a:solidFill>
              <a:schemeClr val="accent2"/>
            </a:solidFill>
            <a:prstDash val="solid"/>
          </a:ln>
        </p:spPr>
      </p:sp>
      <p:sp>
        <p:nvSpPr>
          <p:cNvPr id="10" name="Text 8"/>
          <p:cNvSpPr txBox="1"/>
          <p:nvPr/>
        </p:nvSpPr>
        <p:spPr>
          <a:xfrm>
            <a:off x="8759952" y="1371600"/>
            <a:ext cx="2898648" cy="548640"/>
          </a:xfrm>
          <a:prstGeom prst="rect">
            <a:avLst/>
          </a:prstGeom>
          <a:noFill/>
          <a:ln/>
        </p:spPr>
        <p:txBody>
          <a:bodyPr wrap="square" lIns="0" tIns="0" rIns="0" bIns="0" rtlCol="0" anchor="ctr"/>
          <a:lstStyle/>
          <a:p>
            <a:pPr algn="ctr" indent="0" marL="0">
              <a:buNone/>
            </a:pPr>
            <a:r>
              <a:rPr lang="en-US" sz="1500" b="1" dirty="0">
                <a:solidFill>
                  <a:schemeClr val="tx1"/>
                </a:solidFill>
              </a:rPr>
              <a:t>Glucose at t + 120 min</a:t>
            </a:r>
            <a:endParaRPr lang="en-US" sz="1500" dirty="0"/>
          </a:p>
        </p:txBody>
      </p:sp>
      <p:sp>
        <p:nvSpPr>
          <p:cNvPr id="11" name="Text 9"/>
          <p:cNvSpPr txBox="1"/>
          <p:nvPr/>
        </p:nvSpPr>
        <p:spPr>
          <a:xfrm>
            <a:off x="8759952" y="1847088"/>
            <a:ext cx="2898648" cy="493776"/>
          </a:xfrm>
          <a:prstGeom prst="rect">
            <a:avLst/>
          </a:prstGeom>
          <a:noFill/>
          <a:ln/>
        </p:spPr>
        <p:txBody>
          <a:bodyPr wrap="square" lIns="0" tIns="0" rIns="0" bIns="0" rtlCol="0" anchor="t"/>
          <a:lstStyle/>
          <a:p>
            <a:pPr algn="ctr" indent="0" marL="0">
              <a:buNone/>
            </a:pPr>
            <a:r>
              <a:rPr lang="en-US" sz="1200" dirty="0">
                <a:solidFill>
                  <a:schemeClr val="tx2"/>
                </a:solidFill>
              </a:rPr>
              <a:t>experimental forecast</a:t>
            </a:r>
            <a:endParaRPr lang="en-US" sz="1200" dirty="0"/>
          </a:p>
        </p:txBody>
      </p:sp>
      <p:sp>
        <p:nvSpPr>
          <p:cNvPr id="12" name="arrow"/>
          <p:cNvSpPr/>
          <p:nvPr/>
        </p:nvSpPr>
        <p:spPr>
          <a:xfrm>
            <a:off x="3611880" y="1828800"/>
            <a:ext cx="548640" cy="0"/>
          </a:xfrm>
          <a:prstGeom prst="line">
            <a:avLst/>
          </a:prstGeom>
          <a:noFill/>
          <a:ln w="25400">
            <a:solidFill>
              <a:schemeClr val="tx1"/>
            </a:solidFill>
            <a:prstDash val="solid"/>
            <a:tailEnd type="triangle"/>
          </a:ln>
        </p:spPr>
      </p:sp>
      <p:sp>
        <p:nvSpPr>
          <p:cNvPr id="13" name="arrow"/>
          <p:cNvSpPr/>
          <p:nvPr/>
        </p:nvSpPr>
        <p:spPr>
          <a:xfrm>
            <a:off x="8092440" y="1828800"/>
            <a:ext cx="548640" cy="0"/>
          </a:xfrm>
          <a:prstGeom prst="line">
            <a:avLst/>
          </a:prstGeom>
          <a:noFill/>
          <a:ln w="38100">
            <a:solidFill>
              <a:schemeClr val="accent1"/>
            </a:solidFill>
            <a:prstDash val="solid"/>
            <a:tailEnd type="triangle"/>
          </a:ln>
        </p:spPr>
      </p:sp>
      <p:sp>
        <p:nvSpPr>
          <p:cNvPr id="14" name="card"/>
          <p:cNvSpPr/>
          <p:nvPr/>
        </p:nvSpPr>
        <p:spPr>
          <a:xfrm>
            <a:off x="457200" y="2743200"/>
            <a:ext cx="5532120" cy="2468880"/>
          </a:xfrm>
          <a:prstGeom prst="roundRect">
            <a:avLst>
              <a:gd name="adj" fmla="val 3704"/>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15" name="icon-circle"/>
          <p:cNvSpPr/>
          <p:nvPr/>
        </p:nvSpPr>
        <p:spPr>
          <a:xfrm>
            <a:off x="731520" y="2971800"/>
            <a:ext cx="548640" cy="548640"/>
          </a:xfrm>
          <a:prstGeom prst="ellipse">
            <a:avLst/>
          </a:prstGeom>
          <a:solidFill>
            <a:schemeClr val="accent1"/>
          </a:solidFill>
          <a:ln w="12700">
            <a:solidFill>
              <a:schemeClr val="accent1"/>
            </a:solidFill>
            <a:prstDash val="solid"/>
          </a:ln>
        </p:spPr>
      </p:sp>
      <p:pic>
        <p:nvPicPr>
          <p:cNvPr id="16" name="Image 0" descr="Tree icon">    </p:cNvPr>
          <p:cNvPicPr>
            <a:picLocks noChangeAspect="1"/>
          </p:cNvPicPr>
          <p:nvPr/>
        </p:nvPicPr>
        <p:blipFill>
          <a:blip r:embed="rId1"/>
          <a:stretch>
            <a:fillRect/>
          </a:stretch>
        </p:blipFill>
        <p:spPr>
          <a:xfrm>
            <a:off x="868680" y="3108960"/>
            <a:ext cx="274320" cy="274320"/>
          </a:xfrm>
          <a:prstGeom prst="rect">
            <a:avLst/>
          </a:prstGeom>
        </p:spPr>
      </p:pic>
      <p:sp>
        <p:nvSpPr>
          <p:cNvPr id="17" name="Text 14"/>
          <p:cNvSpPr txBox="1"/>
          <p:nvPr/>
        </p:nvSpPr>
        <p:spPr>
          <a:xfrm>
            <a:off x="1463040" y="2971800"/>
            <a:ext cx="4389120" cy="548640"/>
          </a:xfrm>
          <a:prstGeom prst="rect">
            <a:avLst/>
          </a:prstGeom>
          <a:noFill/>
          <a:ln/>
        </p:spPr>
        <p:txBody>
          <a:bodyPr wrap="square" lIns="0" tIns="0" rIns="0" bIns="0" rtlCol="0" anchor="ctr"/>
          <a:lstStyle/>
          <a:p>
            <a:pPr indent="0" marL="0">
              <a:buNone/>
            </a:pPr>
            <a:r>
              <a:rPr lang="en-US" sz="1800" b="1" dirty="0">
                <a:solidFill>
                  <a:schemeClr val="tx1"/>
                </a:solidFill>
              </a:rPr>
              <a:t>HistGradientBoostingRegressor</a:t>
            </a:r>
            <a:endParaRPr lang="en-US" sz="1800" dirty="0"/>
          </a:p>
        </p:txBody>
      </p:sp>
      <p:sp>
        <p:nvSpPr>
          <p:cNvPr id="18" name="Text 15"/>
          <p:cNvSpPr txBox="1"/>
          <p:nvPr/>
        </p:nvSpPr>
        <p:spPr>
          <a:xfrm>
            <a:off x="731520" y="3703320"/>
            <a:ext cx="5029200" cy="1371600"/>
          </a:xfrm>
          <a:prstGeom prst="rect">
            <a:avLst/>
          </a:prstGeom>
          <a:noFill/>
          <a:ln/>
        </p:spPr>
        <p:txBody>
          <a:bodyPr wrap="square" lIns="0" tIns="0" rIns="0" bIns="0" rtlCol="0" anchor="t"/>
          <a:lstStyle/>
          <a:p>
            <a:pPr indent="0" marL="0">
              <a:buNone/>
            </a:pPr>
            <a:r>
              <a:rPr lang="en-US" sz="1400" dirty="0">
                <a:solidFill>
                  <a:schemeClr val="tx2"/>
                </a:solidFill>
              </a:rPr>
              <a:t>A scikit-learn model that builds many small decision trees one after another. Each new tree corrects the errors of the earlier ones. Here it learns from the engineered features to predict glucose 120 minutes ahead.</a:t>
            </a:r>
            <a:endParaRPr lang="en-US" sz="1400" dirty="0"/>
          </a:p>
        </p:txBody>
      </p:sp>
      <p:sp>
        <p:nvSpPr>
          <p:cNvPr id="19" name="card"/>
          <p:cNvSpPr/>
          <p:nvPr/>
        </p:nvSpPr>
        <p:spPr>
          <a:xfrm>
            <a:off x="6199632" y="2743200"/>
            <a:ext cx="5532120" cy="2468880"/>
          </a:xfrm>
          <a:prstGeom prst="roundRect">
            <a:avLst>
              <a:gd name="adj" fmla="val 3704"/>
            </a:avLst>
          </a:prstGeom>
          <a:solidFill>
            <a:schemeClr val="bg2"/>
          </a:solidFill>
          <a:ln w="12700">
            <a:solidFill>
              <a:schemeClr val="bg1"/>
            </a:solidFill>
            <a:prstDash val="solid"/>
          </a:ln>
          <a:effectLst>
            <a:outerShdw sx="100000" sy="100000" kx="0" ky="0" algn="bl" rotWithShape="0" blurRad="76200" dist="19050" dir="5400000">
              <a:srgbClr val="000000">
                <a:alpha val="12000"/>
              </a:srgbClr>
            </a:outerShdw>
          </a:effectLst>
        </p:spPr>
      </p:sp>
      <p:sp>
        <p:nvSpPr>
          <p:cNvPr id="20" name="icon-circle"/>
          <p:cNvSpPr/>
          <p:nvPr/>
        </p:nvSpPr>
        <p:spPr>
          <a:xfrm>
            <a:off x="6473952" y="2971800"/>
            <a:ext cx="548640" cy="548640"/>
          </a:xfrm>
          <a:prstGeom prst="ellipse">
            <a:avLst/>
          </a:prstGeom>
          <a:solidFill>
            <a:schemeClr val="accent4"/>
          </a:solidFill>
          <a:ln w="12700">
            <a:solidFill>
              <a:schemeClr val="accent4"/>
            </a:solidFill>
            <a:prstDash val="solid"/>
          </a:ln>
        </p:spPr>
      </p:sp>
      <p:pic>
        <p:nvPicPr>
          <p:cNvPr id="21" name="Image 1" descr="Equals icon">    </p:cNvPr>
          <p:cNvPicPr>
            <a:picLocks noChangeAspect="1"/>
          </p:cNvPicPr>
          <p:nvPr/>
        </p:nvPicPr>
        <p:blipFill>
          <a:blip r:embed="rId2"/>
          <a:stretch>
            <a:fillRect/>
          </a:stretch>
        </p:blipFill>
        <p:spPr>
          <a:xfrm>
            <a:off x="6611112" y="3108960"/>
            <a:ext cx="274320" cy="274320"/>
          </a:xfrm>
          <a:prstGeom prst="rect">
            <a:avLst/>
          </a:prstGeom>
        </p:spPr>
      </p:pic>
      <p:sp>
        <p:nvSpPr>
          <p:cNvPr id="22" name="Text 18"/>
          <p:cNvSpPr txBox="1"/>
          <p:nvPr/>
        </p:nvSpPr>
        <p:spPr>
          <a:xfrm>
            <a:off x="7205472" y="2971800"/>
            <a:ext cx="4389120" cy="548640"/>
          </a:xfrm>
          <a:prstGeom prst="rect">
            <a:avLst/>
          </a:prstGeom>
          <a:noFill/>
          <a:ln/>
        </p:spPr>
        <p:txBody>
          <a:bodyPr wrap="square" lIns="0" tIns="0" rIns="0" bIns="0" rtlCol="0" anchor="ctr"/>
          <a:lstStyle/>
          <a:p>
            <a:pPr indent="0" marL="0">
              <a:buNone/>
            </a:pPr>
            <a:r>
              <a:rPr lang="en-US" sz="1800" b="1" dirty="0">
                <a:solidFill>
                  <a:schemeClr val="tx1"/>
                </a:solidFill>
              </a:rPr>
              <a:t>Persistence baseline</a:t>
            </a:r>
            <a:endParaRPr lang="en-US" sz="1800" dirty="0"/>
          </a:p>
        </p:txBody>
      </p:sp>
      <p:sp>
        <p:nvSpPr>
          <p:cNvPr id="23" name="Text 19"/>
          <p:cNvSpPr txBox="1"/>
          <p:nvPr/>
        </p:nvSpPr>
        <p:spPr>
          <a:xfrm>
            <a:off x="6473952" y="3703320"/>
            <a:ext cx="5029200" cy="1371600"/>
          </a:xfrm>
          <a:prstGeom prst="rect">
            <a:avLst/>
          </a:prstGeom>
          <a:noFill/>
          <a:ln/>
        </p:spPr>
        <p:txBody>
          <a:bodyPr wrap="square" lIns="0" tIns="0" rIns="0" bIns="0" rtlCol="0" anchor="t"/>
          <a:lstStyle/>
          <a:p>
            <a:pPr indent="0" marL="0">
              <a:buNone/>
            </a:pPr>
            <a:r>
              <a:rPr lang="en-US" sz="1400" dirty="0">
                <a:solidFill>
                  <a:schemeClr val="tx2"/>
                </a:solidFill>
              </a:rPr>
              <a:t>The simplest forecast: carry the current glucose value forward as the prediction. It gives a reference that the machine-learning model has to beat.</a:t>
            </a:r>
            <a:endParaRPr lang="en-US" sz="1400" dirty="0"/>
          </a:p>
        </p:txBody>
      </p:sp>
      <p:sp>
        <p:nvSpPr>
          <p:cNvPr id="24" name="card"/>
          <p:cNvSpPr/>
          <p:nvPr/>
        </p:nvSpPr>
        <p:spPr>
          <a:xfrm>
            <a:off x="457200" y="5440680"/>
            <a:ext cx="11274552" cy="548640"/>
          </a:xfrm>
          <a:prstGeom prst="roundRect">
            <a:avLst>
              <a:gd name="adj" fmla="val 16667"/>
            </a:avLst>
          </a:prstGeom>
          <a:solidFill>
            <a:schemeClr val="accent3">
              <a:alpha val="15000"/>
            </a:schemeClr>
          </a:solidFill>
          <a:ln w="15875">
            <a:solidFill>
              <a:schemeClr val="accent3"/>
            </a:solidFill>
            <a:prstDash val="solid"/>
          </a:ln>
        </p:spPr>
      </p:sp>
      <p:sp>
        <p:nvSpPr>
          <p:cNvPr id="25" name="Text 21"/>
          <p:cNvSpPr txBox="1"/>
          <p:nvPr/>
        </p:nvSpPr>
        <p:spPr>
          <a:xfrm>
            <a:off x="731520" y="5440680"/>
            <a:ext cx="10789920" cy="548640"/>
          </a:xfrm>
          <a:prstGeom prst="rect">
            <a:avLst/>
          </a:prstGeom>
          <a:noFill/>
          <a:ln/>
        </p:spPr>
        <p:txBody>
          <a:bodyPr wrap="square" lIns="0" tIns="0" rIns="0" bIns="0" rtlCol="0" anchor="ctr"/>
          <a:lstStyle/>
          <a:p>
            <a:pPr indent="0" marL="0">
              <a:buNone/>
            </a:pPr>
            <a:r>
              <a:rPr lang="en-US" sz="1400" b="1" dirty="0">
                <a:solidFill>
                  <a:schemeClr val="tx1"/>
                </a:solidFill>
              </a:rPr>
              <a:t>Experimental model. No clinical validation is claimed.</a:t>
            </a:r>
            <a:endParaRPr lang="en-US" sz="1400" dirty="0"/>
          </a:p>
        </p:txBody>
      </p:sp>
      <p:sp>
        <p:nvSpPr>
          <p:cNvPr id="25" name="Slide Number Placeholder 0"/>
          <p:cNvSpPr>
            <a:spLocks noGrp="1"/>
          </p:cNvSpPr>
          <p:nvPr>
            <p:ph type="sldNum" sz="quarter" idx="4294967295"/>
          </p:nvPr>
        </p:nvSpPr>
        <p:spPr>
          <a:xfrm>
            <a:off x="10972800" y="6446520"/>
            <a:ext cx="75895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ctr"/>
          <a:lstStyle/>
          <a:p>
            <a:pPr algn="l" indent="0" marL="0">
              <a:buNone/>
            </a:pPr>
            <a:r>
              <a:rPr lang="en-US" sz="3200" b="1" dirty="0">
                <a:solidFill>
                  <a:schemeClr val="tx1"/>
                </a:solidFill>
              </a:rPr>
              <a:t>Recorded model evaluation</a:t>
            </a:r>
            <a:endParaRPr lang="en-US" sz="3200" dirty="0"/>
          </a:p>
        </p:txBody>
      </p:sp>
      <p:graphicFrame>
        <p:nvGraphicFramePr>
          <p:cNvPr id="3" name="Chart 0" descr=""/>
          <p:cNvGraphicFramePr/>
          <p:nvPr/>
        </p:nvGraphicFramePr>
        <p:xfrm>
          <a:off x="457200" y="1234440"/>
          <a:ext cx="594360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evaluation-table"/>
          <p:cNvGraphicFramePr>
            <a:graphicFrameLocks noGrp="1"/>
          </p:cNvGraphicFramePr>
          <p:nvPr>
            <p:extLst>
              <p:ext uri="{D42A27DB-BD31-4B8C-83A1-F6EECF244321}">
                <p14:modId xmlns:p14="http://schemas.microsoft.com/office/powerpoint/2010/main" val="1579011935"/>
              </p:ext>
            </p:extLst>
          </p:nvPr>
        </p:nvGraphicFramePr>
        <p:xfrm>
          <a:off x="6675120" y="1325880"/>
          <a:ext cx="5056632" cy="914400"/>
        </p:xfrm>
        <a:graphic>
          <a:graphicData uri="http://schemas.openxmlformats.org/drawingml/2006/table">
            <a:tbl>
              <a:tblPr/>
              <a:tblGrid>
                <a:gridCol w="1097280"/>
                <a:gridCol w="1828800"/>
                <a:gridCol w="2130552"/>
              </a:tblGrid>
              <a:tr h="640080">
                <a:tc>
                  <a:txBody>
                    <a:bodyPr/>
                    <a:lstStyle/>
                    <a:p>
                      <a:pPr algn="l" indent="0" marL="0">
                        <a:buNone/>
                      </a:pPr>
                      <a:r>
                        <a:rPr lang="en-US" sz="1400" b="1" dirty="0">
                          <a:solidFill>
                            <a:srgbClr val="FFFFFF"/>
                          </a:solidFill>
                        </a:rPr>
                        <a:t>Metric</a:t>
                      </a:r>
                      <a:endParaRPr lang="en-US" sz="1400" dirty="0"/>
                    </a:p>
                  </a:txBody>
                  <a:tcPr marL="91440" marR="91440" marT="45720" marB="45720" anchor="ctr">
                    <a:lnL w="12700" cap="flat" cmpd="sng" algn="ctr">
                      <a:solidFill>
                        <a:srgbClr val="B8C6D3"/>
                      </a:solidFill>
                      <a:prstDash val="solid"/>
                      <a:round/>
                      <a:headEnd type="none" w="med" len="med"/>
                      <a:tailEnd type="none" w="med" len="med"/>
                    </a:lnL>
                    <a:lnR w="12700" cap="flat" cmpd="sng" algn="ctr">
                      <a:solidFill>
                        <a:srgbClr val="B8C6D3"/>
                      </a:solidFill>
                      <a:prstDash val="solid"/>
                      <a:round/>
                      <a:headEnd type="none" w="med" len="med"/>
                      <a:tailEnd type="none" w="med" len="med"/>
                    </a:lnR>
                    <a:lnT w="12700" cap="flat" cmpd="sng" algn="ctr">
                      <a:solidFill>
                        <a:srgbClr val="B8C6D3"/>
                      </a:solidFill>
                      <a:prstDash val="solid"/>
                      <a:round/>
                      <a:headEnd type="none" w="med" len="med"/>
                      <a:tailEnd type="none" w="med" len="med"/>
                    </a:lnT>
                    <a:lnB w="12700" cap="flat" cmpd="sng" algn="ctr">
                      <a:solidFill>
                        <a:srgbClr val="B8C6D3"/>
                      </a:solidFill>
                      <a:prstDash val="solid"/>
                      <a:round/>
                      <a:headEnd type="none" w="med" len="med"/>
                      <a:tailEnd type="none" w="med" len="med"/>
                    </a:lnB>
                    <a:solidFill>
                      <a:srgbClr val="0B1F3A"/>
                    </a:solidFill>
                  </a:tcPr>
                </a:tc>
                <a:tc>
                  <a:txBody>
                    <a:bodyPr/>
                    <a:lstStyle/>
                    <a:p>
                      <a:pPr algn="ctr" indent="0" marL="0">
                        <a:buNone/>
                      </a:pPr>
                      <a:r>
                        <a:rPr lang="en-US" sz="1400" b="1" dirty="0">
                          <a:solidFill>
                            <a:srgbClr val="FFFFFF"/>
                          </a:solidFill>
                        </a:rPr>
                        <a:t>Persistence baseline</a:t>
                      </a:r>
                      <a:endParaRPr lang="en-US" sz="1400" dirty="0"/>
                    </a:p>
                  </a:txBody>
                  <a:tcPr marL="91440" marR="91440" marT="45720" marB="45720" anchor="ctr">
                    <a:lnL w="12700" cap="flat" cmpd="sng" algn="ctr">
                      <a:solidFill>
                        <a:srgbClr val="B8C6D3"/>
                      </a:solidFill>
                      <a:prstDash val="solid"/>
                      <a:round/>
                      <a:headEnd type="none" w="med" len="med"/>
                      <a:tailEnd type="none" w="med" len="med"/>
                    </a:lnL>
                    <a:lnR w="12700" cap="flat" cmpd="sng" algn="ctr">
                      <a:solidFill>
                        <a:srgbClr val="B8C6D3"/>
                      </a:solidFill>
                      <a:prstDash val="solid"/>
                      <a:round/>
                      <a:headEnd type="none" w="med" len="med"/>
                      <a:tailEnd type="none" w="med" len="med"/>
                    </a:lnR>
                    <a:lnT w="12700" cap="flat" cmpd="sng" algn="ctr">
                      <a:solidFill>
                        <a:srgbClr val="B8C6D3"/>
                      </a:solidFill>
                      <a:prstDash val="solid"/>
                      <a:round/>
                      <a:headEnd type="none" w="med" len="med"/>
                      <a:tailEnd type="none" w="med" len="med"/>
                    </a:lnT>
                    <a:lnB w="12700" cap="flat" cmpd="sng" algn="ctr">
                      <a:solidFill>
                        <a:srgbClr val="B8C6D3"/>
                      </a:solidFill>
                      <a:prstDash val="solid"/>
                      <a:round/>
                      <a:headEnd type="none" w="med" len="med"/>
                      <a:tailEnd type="none" w="med" len="med"/>
                    </a:lnB>
                    <a:solidFill>
                      <a:srgbClr val="0B1F3A"/>
                    </a:solidFill>
                  </a:tcPr>
                </a:tc>
                <a:tc>
                  <a:txBody>
                    <a:bodyPr/>
                    <a:lstStyle/>
                    <a:p>
                      <a:pPr algn="ctr" indent="0" marL="0">
                        <a:buNone/>
                      </a:pPr>
                      <a:r>
                        <a:rPr lang="en-US" sz="1400" b="1" dirty="0">
                          <a:solidFill>
                            <a:srgbClr val="FFFFFF"/>
                          </a:solidFill>
                        </a:rPr>
                        <a:t>HistGradient-BoostingRegressor</a:t>
                      </a:r>
                      <a:endParaRPr lang="en-US" sz="1400" dirty="0"/>
                    </a:p>
                  </a:txBody>
                  <a:tcPr marL="91440" marR="91440" marT="45720" marB="45720" anchor="ctr">
                    <a:lnL w="12700" cap="flat" cmpd="sng" algn="ctr">
                      <a:solidFill>
                        <a:srgbClr val="B8C6D3"/>
                      </a:solidFill>
                      <a:prstDash val="solid"/>
                      <a:round/>
                      <a:headEnd type="none" w="med" len="med"/>
                      <a:tailEnd type="none" w="med" len="med"/>
                    </a:lnL>
                    <a:lnR w="12700" cap="flat" cmpd="sng" algn="ctr">
                      <a:solidFill>
                        <a:srgbClr val="B8C6D3"/>
                      </a:solidFill>
                      <a:prstDash val="solid"/>
                      <a:round/>
                      <a:headEnd type="none" w="med" len="med"/>
                      <a:tailEnd type="none" w="med" len="med"/>
                    </a:lnR>
                    <a:lnT w="12700" cap="flat" cmpd="sng" algn="ctr">
                      <a:solidFill>
                        <a:srgbClr val="B8C6D3"/>
                      </a:solidFill>
                      <a:prstDash val="solid"/>
                      <a:round/>
                      <a:headEnd type="none" w="med" len="med"/>
                      <a:tailEnd type="none" w="med" len="med"/>
                    </a:lnT>
                    <a:lnB w="12700" cap="flat" cmpd="sng" algn="ctr">
                      <a:solidFill>
                        <a:srgbClr val="B8C6D3"/>
                      </a:solidFill>
                      <a:prstDash val="solid"/>
                      <a:round/>
                      <a:headEnd type="none" w="med" len="med"/>
                      <a:tailEnd type="none" w="med" len="med"/>
                    </a:lnB>
                    <a:solidFill>
                      <a:srgbClr val="0B1F3A"/>
                    </a:solidFill>
                  </a:tcPr>
                </a:tc>
              </a:tr>
              <a:tr h="457200">
                <a:tc>
                  <a:txBody>
                    <a:bodyPr/>
                    <a:lstStyle/>
                    <a:p>
                      <a:pPr algn="l" indent="0" marL="0">
                        <a:buNone/>
                      </a:pPr>
                      <a:r>
                        <a:rPr lang="en-US" sz="1400" b="1" dirty="0">
                          <a:solidFill>
                            <a:srgbClr val="333B45"/>
                          </a:solidFill>
                        </a:rPr>
                        <a:t>MAE</a:t>
                      </a:r>
                      <a:endParaRPr lang="en-US" sz="1400" dirty="0"/>
                    </a:p>
                  </a:txBody>
                  <a:tcPr marL="91440" marR="91440" marT="45720" marB="45720" anchor="ctr">
                    <a:lnL w="12700" cap="flat" cmpd="sng" algn="ctr">
                      <a:solidFill>
                        <a:srgbClr val="B8C6D3"/>
                      </a:solidFill>
                      <a:prstDash val="solid"/>
                      <a:round/>
                      <a:headEnd type="none" w="med" len="med"/>
                      <a:tailEnd type="none" w="med" len="med"/>
                    </a:lnL>
                    <a:lnR w="12700" cap="flat" cmpd="sng" algn="ctr">
                      <a:solidFill>
                        <a:srgbClr val="B8C6D3"/>
                      </a:solidFill>
                      <a:prstDash val="solid"/>
                      <a:round/>
                      <a:headEnd type="none" w="med" len="med"/>
                      <a:tailEnd type="none" w="med" len="med"/>
                    </a:lnR>
                    <a:lnT w="12700" cap="flat" cmpd="sng" algn="ctr">
                      <a:solidFill>
                        <a:srgbClr val="B8C6D3"/>
                      </a:solidFill>
                      <a:prstDash val="solid"/>
                      <a:round/>
                      <a:headEnd type="none" w="med" len="med"/>
                      <a:tailEnd type="none" w="med" len="med"/>
                    </a:lnT>
                    <a:lnB w="12700" cap="flat" cmpd="sng" algn="ctr">
                      <a:solidFill>
                        <a:srgbClr val="B8C6D3"/>
                      </a:solidFill>
                      <a:prstDash val="solid"/>
                      <a:round/>
                      <a:headEnd type="none" w="med" len="med"/>
                      <a:tailEnd type="none" w="med" len="med"/>
                    </a:lnB>
                  </a:tcPr>
                </a:tc>
                <a:tc>
                  <a:txBody>
                    <a:bodyPr/>
                    <a:lstStyle/>
                    <a:p>
                      <a:pPr algn="ctr" indent="0" marL="0">
                        <a:buNone/>
                      </a:pPr>
                      <a:r>
                        <a:rPr lang="en-US" sz="1400" dirty="0">
                          <a:solidFill>
                            <a:srgbClr val="333B45"/>
                          </a:solidFill>
                        </a:rPr>
                        <a:t>33.474</a:t>
                      </a:r>
                      <a:endParaRPr lang="en-US" sz="1400" dirty="0"/>
                    </a:p>
                  </a:txBody>
                  <a:tcPr marL="91440" marR="91440" marT="45720" marB="45720" anchor="ctr">
                    <a:lnL w="12700" cap="flat" cmpd="sng" algn="ctr">
                      <a:solidFill>
                        <a:srgbClr val="B8C6D3"/>
                      </a:solidFill>
                      <a:prstDash val="solid"/>
                      <a:round/>
                      <a:headEnd type="none" w="med" len="med"/>
                      <a:tailEnd type="none" w="med" len="med"/>
                    </a:lnL>
                    <a:lnR w="12700" cap="flat" cmpd="sng" algn="ctr">
                      <a:solidFill>
                        <a:srgbClr val="B8C6D3"/>
                      </a:solidFill>
                      <a:prstDash val="solid"/>
                      <a:round/>
                      <a:headEnd type="none" w="med" len="med"/>
                      <a:tailEnd type="none" w="med" len="med"/>
                    </a:lnR>
                    <a:lnT w="12700" cap="flat" cmpd="sng" algn="ctr">
                      <a:solidFill>
                        <a:srgbClr val="B8C6D3"/>
                      </a:solidFill>
                      <a:prstDash val="solid"/>
                      <a:round/>
                      <a:headEnd type="none" w="med" len="med"/>
                      <a:tailEnd type="none" w="med" len="med"/>
                    </a:lnT>
                    <a:lnB w="12700" cap="flat" cmpd="sng" algn="ctr">
                      <a:solidFill>
                        <a:srgbClr val="B8C6D3"/>
                      </a:solidFill>
                      <a:prstDash val="solid"/>
                      <a:round/>
                      <a:headEnd type="none" w="med" len="med"/>
                      <a:tailEnd type="none" w="med" len="med"/>
                    </a:lnB>
                  </a:tcPr>
                </a:tc>
                <a:tc>
                  <a:txBody>
                    <a:bodyPr/>
                    <a:lstStyle/>
                    <a:p>
                      <a:pPr algn="ctr" indent="0" marL="0">
                        <a:buNone/>
                      </a:pPr>
                      <a:r>
                        <a:rPr lang="en-US" sz="1400" b="1" dirty="0">
                          <a:solidFill>
                            <a:srgbClr val="0B1F3A"/>
                          </a:solidFill>
                        </a:rPr>
                        <a:t>30.234</a:t>
                      </a:r>
                      <a:endParaRPr lang="en-US" sz="1400" dirty="0"/>
                    </a:p>
                  </a:txBody>
                  <a:tcPr marL="91440" marR="91440" marT="45720" marB="45720" anchor="ctr">
                    <a:lnL w="12700" cap="flat" cmpd="sng" algn="ctr">
                      <a:solidFill>
                        <a:srgbClr val="B8C6D3"/>
                      </a:solidFill>
                      <a:prstDash val="solid"/>
                      <a:round/>
                      <a:headEnd type="none" w="med" len="med"/>
                      <a:tailEnd type="none" w="med" len="med"/>
                    </a:lnL>
                    <a:lnR w="12700" cap="flat" cmpd="sng" algn="ctr">
                      <a:solidFill>
                        <a:srgbClr val="B8C6D3"/>
                      </a:solidFill>
                      <a:prstDash val="solid"/>
                      <a:round/>
                      <a:headEnd type="none" w="med" len="med"/>
                      <a:tailEnd type="none" w="med" len="med"/>
                    </a:lnR>
                    <a:lnT w="12700" cap="flat" cmpd="sng" algn="ctr">
                      <a:solidFill>
                        <a:srgbClr val="B8C6D3"/>
                      </a:solidFill>
                      <a:prstDash val="solid"/>
                      <a:round/>
                      <a:headEnd type="none" w="med" len="med"/>
                      <a:tailEnd type="none" w="med" len="med"/>
                    </a:lnT>
                    <a:lnB w="12700" cap="flat" cmpd="sng" algn="ctr">
                      <a:solidFill>
                        <a:srgbClr val="B8C6D3"/>
                      </a:solidFill>
                      <a:prstDash val="solid"/>
                      <a:round/>
                      <a:headEnd type="none" w="med" len="med"/>
                      <a:tailEnd type="none" w="med" len="med"/>
                    </a:lnB>
                    <a:solidFill>
                      <a:srgbClr val="E6F4F6"/>
                    </a:solidFill>
                  </a:tcPr>
                </a:tc>
              </a:tr>
              <a:tr h="457200">
                <a:tc>
                  <a:txBody>
                    <a:bodyPr/>
                    <a:lstStyle/>
                    <a:p>
                      <a:pPr algn="l" indent="0" marL="0">
                        <a:buNone/>
                      </a:pPr>
                      <a:r>
                        <a:rPr lang="en-US" sz="1400" b="1" dirty="0">
                          <a:solidFill>
                            <a:srgbClr val="333B45"/>
                          </a:solidFill>
                        </a:rPr>
                        <a:t>RMSE</a:t>
                      </a:r>
                      <a:endParaRPr lang="en-US" sz="1400" dirty="0"/>
                    </a:p>
                  </a:txBody>
                  <a:tcPr marL="91440" marR="91440" marT="45720" marB="45720" anchor="ctr">
                    <a:lnL w="12700" cap="flat" cmpd="sng" algn="ctr">
                      <a:solidFill>
                        <a:srgbClr val="B8C6D3"/>
                      </a:solidFill>
                      <a:prstDash val="solid"/>
                      <a:round/>
                      <a:headEnd type="none" w="med" len="med"/>
                      <a:tailEnd type="none" w="med" len="med"/>
                    </a:lnL>
                    <a:lnR w="12700" cap="flat" cmpd="sng" algn="ctr">
                      <a:solidFill>
                        <a:srgbClr val="B8C6D3"/>
                      </a:solidFill>
                      <a:prstDash val="solid"/>
                      <a:round/>
                      <a:headEnd type="none" w="med" len="med"/>
                      <a:tailEnd type="none" w="med" len="med"/>
                    </a:lnR>
                    <a:lnT w="12700" cap="flat" cmpd="sng" algn="ctr">
                      <a:solidFill>
                        <a:srgbClr val="B8C6D3"/>
                      </a:solidFill>
                      <a:prstDash val="solid"/>
                      <a:round/>
                      <a:headEnd type="none" w="med" len="med"/>
                      <a:tailEnd type="none" w="med" len="med"/>
                    </a:lnT>
                    <a:lnB w="12700" cap="flat" cmpd="sng" algn="ctr">
                      <a:solidFill>
                        <a:srgbClr val="B8C6D3"/>
                      </a:solidFill>
                      <a:prstDash val="solid"/>
                      <a:round/>
                      <a:headEnd type="none" w="med" len="med"/>
                      <a:tailEnd type="none" w="med" len="med"/>
                    </a:lnB>
                  </a:tcPr>
                </a:tc>
                <a:tc>
                  <a:txBody>
                    <a:bodyPr/>
                    <a:lstStyle/>
                    <a:p>
                      <a:pPr algn="ctr" indent="0" marL="0">
                        <a:buNone/>
                      </a:pPr>
                      <a:r>
                        <a:rPr lang="en-US" sz="1400" dirty="0">
                          <a:solidFill>
                            <a:srgbClr val="333B45"/>
                          </a:solidFill>
                        </a:rPr>
                        <a:t>46.229</a:t>
                      </a:r>
                      <a:endParaRPr lang="en-US" sz="1400" dirty="0"/>
                    </a:p>
                  </a:txBody>
                  <a:tcPr marL="91440" marR="91440" marT="45720" marB="45720" anchor="ctr">
                    <a:lnL w="12700" cap="flat" cmpd="sng" algn="ctr">
                      <a:solidFill>
                        <a:srgbClr val="B8C6D3"/>
                      </a:solidFill>
                      <a:prstDash val="solid"/>
                      <a:round/>
                      <a:headEnd type="none" w="med" len="med"/>
                      <a:tailEnd type="none" w="med" len="med"/>
                    </a:lnL>
                    <a:lnR w="12700" cap="flat" cmpd="sng" algn="ctr">
                      <a:solidFill>
                        <a:srgbClr val="B8C6D3"/>
                      </a:solidFill>
                      <a:prstDash val="solid"/>
                      <a:round/>
                      <a:headEnd type="none" w="med" len="med"/>
                      <a:tailEnd type="none" w="med" len="med"/>
                    </a:lnR>
                    <a:lnT w="12700" cap="flat" cmpd="sng" algn="ctr">
                      <a:solidFill>
                        <a:srgbClr val="B8C6D3"/>
                      </a:solidFill>
                      <a:prstDash val="solid"/>
                      <a:round/>
                      <a:headEnd type="none" w="med" len="med"/>
                      <a:tailEnd type="none" w="med" len="med"/>
                    </a:lnT>
                    <a:lnB w="12700" cap="flat" cmpd="sng" algn="ctr">
                      <a:solidFill>
                        <a:srgbClr val="B8C6D3"/>
                      </a:solidFill>
                      <a:prstDash val="solid"/>
                      <a:round/>
                      <a:headEnd type="none" w="med" len="med"/>
                      <a:tailEnd type="none" w="med" len="med"/>
                    </a:lnB>
                  </a:tcPr>
                </a:tc>
                <a:tc>
                  <a:txBody>
                    <a:bodyPr/>
                    <a:lstStyle/>
                    <a:p>
                      <a:pPr algn="ctr" indent="0" marL="0">
                        <a:buNone/>
                      </a:pPr>
                      <a:r>
                        <a:rPr lang="en-US" sz="1400" b="1" dirty="0">
                          <a:solidFill>
                            <a:srgbClr val="0B1F3A"/>
                          </a:solidFill>
                        </a:rPr>
                        <a:t>39.879</a:t>
                      </a:r>
                      <a:endParaRPr lang="en-US" sz="1400" dirty="0"/>
                    </a:p>
                  </a:txBody>
                  <a:tcPr marL="91440" marR="91440" marT="45720" marB="45720" anchor="ctr">
                    <a:lnL w="12700" cap="flat" cmpd="sng" algn="ctr">
                      <a:solidFill>
                        <a:srgbClr val="B8C6D3"/>
                      </a:solidFill>
                      <a:prstDash val="solid"/>
                      <a:round/>
                      <a:headEnd type="none" w="med" len="med"/>
                      <a:tailEnd type="none" w="med" len="med"/>
                    </a:lnL>
                    <a:lnR w="12700" cap="flat" cmpd="sng" algn="ctr">
                      <a:solidFill>
                        <a:srgbClr val="B8C6D3"/>
                      </a:solidFill>
                      <a:prstDash val="solid"/>
                      <a:round/>
                      <a:headEnd type="none" w="med" len="med"/>
                      <a:tailEnd type="none" w="med" len="med"/>
                    </a:lnR>
                    <a:lnT w="12700" cap="flat" cmpd="sng" algn="ctr">
                      <a:solidFill>
                        <a:srgbClr val="B8C6D3"/>
                      </a:solidFill>
                      <a:prstDash val="solid"/>
                      <a:round/>
                      <a:headEnd type="none" w="med" len="med"/>
                      <a:tailEnd type="none" w="med" len="med"/>
                    </a:lnT>
                    <a:lnB w="12700" cap="flat" cmpd="sng" algn="ctr">
                      <a:solidFill>
                        <a:srgbClr val="B8C6D3"/>
                      </a:solidFill>
                      <a:prstDash val="solid"/>
                      <a:round/>
                      <a:headEnd type="none" w="med" len="med"/>
                      <a:tailEnd type="none" w="med" len="med"/>
                    </a:lnB>
                    <a:solidFill>
                      <a:srgbClr val="E6F4F6"/>
                    </a:solidFill>
                  </a:tcPr>
                </a:tc>
              </a:tr>
              <a:tr h="457200">
                <a:tc>
                  <a:txBody>
                    <a:bodyPr/>
                    <a:lstStyle/>
                    <a:p>
                      <a:pPr algn="l" indent="0" marL="0">
                        <a:buNone/>
                      </a:pPr>
                      <a:r>
                        <a:rPr lang="en-US" sz="1400" b="1" dirty="0">
                          <a:solidFill>
                            <a:srgbClr val="333B45"/>
                          </a:solidFill>
                        </a:rPr>
                        <a:t>R²</a:t>
                      </a:r>
                      <a:endParaRPr lang="en-US" sz="1400" dirty="0"/>
                    </a:p>
                  </a:txBody>
                  <a:tcPr marL="91440" marR="91440" marT="45720" marB="45720" anchor="ctr">
                    <a:lnL w="12700" cap="flat" cmpd="sng" algn="ctr">
                      <a:solidFill>
                        <a:srgbClr val="B8C6D3"/>
                      </a:solidFill>
                      <a:prstDash val="solid"/>
                      <a:round/>
                      <a:headEnd type="none" w="med" len="med"/>
                      <a:tailEnd type="none" w="med" len="med"/>
                    </a:lnL>
                    <a:lnR w="12700" cap="flat" cmpd="sng" algn="ctr">
                      <a:solidFill>
                        <a:srgbClr val="B8C6D3"/>
                      </a:solidFill>
                      <a:prstDash val="solid"/>
                      <a:round/>
                      <a:headEnd type="none" w="med" len="med"/>
                      <a:tailEnd type="none" w="med" len="med"/>
                    </a:lnR>
                    <a:lnT w="12700" cap="flat" cmpd="sng" algn="ctr">
                      <a:solidFill>
                        <a:srgbClr val="B8C6D3"/>
                      </a:solidFill>
                      <a:prstDash val="solid"/>
                      <a:round/>
                      <a:headEnd type="none" w="med" len="med"/>
                      <a:tailEnd type="none" w="med" len="med"/>
                    </a:lnT>
                    <a:lnB w="12700" cap="flat" cmpd="sng" algn="ctr">
                      <a:solidFill>
                        <a:srgbClr val="B8C6D3"/>
                      </a:solidFill>
                      <a:prstDash val="solid"/>
                      <a:round/>
                      <a:headEnd type="none" w="med" len="med"/>
                      <a:tailEnd type="none" w="med" len="med"/>
                    </a:lnB>
                  </a:tcPr>
                </a:tc>
                <a:tc>
                  <a:txBody>
                    <a:bodyPr/>
                    <a:lstStyle/>
                    <a:p>
                      <a:pPr algn="ctr" indent="0" marL="0">
                        <a:buNone/>
                      </a:pPr>
                      <a:r>
                        <a:rPr lang="en-US" sz="1400" dirty="0">
                          <a:solidFill>
                            <a:srgbClr val="333B45"/>
                          </a:solidFill>
                        </a:rPr>
                        <a:t>0.1376</a:t>
                      </a:r>
                      <a:endParaRPr lang="en-US" sz="1400" dirty="0"/>
                    </a:p>
                  </a:txBody>
                  <a:tcPr marL="91440" marR="91440" marT="45720" marB="45720" anchor="ctr">
                    <a:lnL w="12700" cap="flat" cmpd="sng" algn="ctr">
                      <a:solidFill>
                        <a:srgbClr val="B8C6D3"/>
                      </a:solidFill>
                      <a:prstDash val="solid"/>
                      <a:round/>
                      <a:headEnd type="none" w="med" len="med"/>
                      <a:tailEnd type="none" w="med" len="med"/>
                    </a:lnL>
                    <a:lnR w="12700" cap="flat" cmpd="sng" algn="ctr">
                      <a:solidFill>
                        <a:srgbClr val="B8C6D3"/>
                      </a:solidFill>
                      <a:prstDash val="solid"/>
                      <a:round/>
                      <a:headEnd type="none" w="med" len="med"/>
                      <a:tailEnd type="none" w="med" len="med"/>
                    </a:lnR>
                    <a:lnT w="12700" cap="flat" cmpd="sng" algn="ctr">
                      <a:solidFill>
                        <a:srgbClr val="B8C6D3"/>
                      </a:solidFill>
                      <a:prstDash val="solid"/>
                      <a:round/>
                      <a:headEnd type="none" w="med" len="med"/>
                      <a:tailEnd type="none" w="med" len="med"/>
                    </a:lnT>
                    <a:lnB w="12700" cap="flat" cmpd="sng" algn="ctr">
                      <a:solidFill>
                        <a:srgbClr val="B8C6D3"/>
                      </a:solidFill>
                      <a:prstDash val="solid"/>
                      <a:round/>
                      <a:headEnd type="none" w="med" len="med"/>
                      <a:tailEnd type="none" w="med" len="med"/>
                    </a:lnB>
                  </a:tcPr>
                </a:tc>
                <a:tc>
                  <a:txBody>
                    <a:bodyPr/>
                    <a:lstStyle/>
                    <a:p>
                      <a:pPr algn="ctr" indent="0" marL="0">
                        <a:buNone/>
                      </a:pPr>
                      <a:r>
                        <a:rPr lang="en-US" sz="1400" b="1" dirty="0">
                          <a:solidFill>
                            <a:srgbClr val="0B1F3A"/>
                          </a:solidFill>
                        </a:rPr>
                        <a:t>0.3583</a:t>
                      </a:r>
                      <a:endParaRPr lang="en-US" sz="1400" dirty="0"/>
                    </a:p>
                  </a:txBody>
                  <a:tcPr marL="91440" marR="91440" marT="45720" marB="45720" anchor="ctr">
                    <a:lnL w="12700" cap="flat" cmpd="sng" algn="ctr">
                      <a:solidFill>
                        <a:srgbClr val="B8C6D3"/>
                      </a:solidFill>
                      <a:prstDash val="solid"/>
                      <a:round/>
                      <a:headEnd type="none" w="med" len="med"/>
                      <a:tailEnd type="none" w="med" len="med"/>
                    </a:lnL>
                    <a:lnR w="12700" cap="flat" cmpd="sng" algn="ctr">
                      <a:solidFill>
                        <a:srgbClr val="B8C6D3"/>
                      </a:solidFill>
                      <a:prstDash val="solid"/>
                      <a:round/>
                      <a:headEnd type="none" w="med" len="med"/>
                      <a:tailEnd type="none" w="med" len="med"/>
                    </a:lnR>
                    <a:lnT w="12700" cap="flat" cmpd="sng" algn="ctr">
                      <a:solidFill>
                        <a:srgbClr val="B8C6D3"/>
                      </a:solidFill>
                      <a:prstDash val="solid"/>
                      <a:round/>
                      <a:headEnd type="none" w="med" len="med"/>
                      <a:tailEnd type="none" w="med" len="med"/>
                    </a:lnT>
                    <a:lnB w="12700" cap="flat" cmpd="sng" algn="ctr">
                      <a:solidFill>
                        <a:srgbClr val="B8C6D3"/>
                      </a:solidFill>
                      <a:prstDash val="solid"/>
                      <a:round/>
                      <a:headEnd type="none" w="med" len="med"/>
                      <a:tailEnd type="none" w="med" len="med"/>
                    </a:lnB>
                    <a:solidFill>
                      <a:srgbClr val="E6F4F6"/>
                    </a:solidFill>
                  </a:tcPr>
                </a:tc>
              </a:tr>
            </a:tbl>
          </a:graphicData>
        </a:graphic>
      </p:graphicFrame>
      <p:sp>
        <p:nvSpPr>
          <p:cNvPr id="5" name="card"/>
          <p:cNvSpPr/>
          <p:nvPr/>
        </p:nvSpPr>
        <p:spPr>
          <a:xfrm>
            <a:off x="6675120" y="3657600"/>
            <a:ext cx="5056632" cy="1691640"/>
          </a:xfrm>
          <a:prstGeom prst="roundRect">
            <a:avLst>
              <a:gd name="adj" fmla="val 5405"/>
            </a:avLst>
          </a:prstGeom>
          <a:solidFill>
            <a:schemeClr val="accent6"/>
          </a:solidFill>
          <a:ln w="19050">
            <a:solidFill>
              <a:schemeClr val="accent1"/>
            </a:solidFill>
            <a:prstDash val="solid"/>
          </a:ln>
        </p:spPr>
      </p:sp>
      <p:sp>
        <p:nvSpPr>
          <p:cNvPr id="6" name="Text 2"/>
          <p:cNvSpPr txBox="1"/>
          <p:nvPr/>
        </p:nvSpPr>
        <p:spPr>
          <a:xfrm>
            <a:off x="6858000" y="3767328"/>
            <a:ext cx="4663440" cy="731520"/>
          </a:xfrm>
          <a:prstGeom prst="rect">
            <a:avLst/>
          </a:prstGeom>
          <a:noFill/>
          <a:ln/>
        </p:spPr>
        <p:txBody>
          <a:bodyPr wrap="square" lIns="0" tIns="0" rIns="0" bIns="0" rtlCol="0" anchor="ctr"/>
          <a:lstStyle/>
          <a:p>
            <a:pPr algn="ctr" indent="0" marL="0">
              <a:buNone/>
            </a:pPr>
            <a:r>
              <a:rPr lang="en-US" sz="4000" b="1" dirty="0">
                <a:solidFill>
                  <a:schemeClr val="accent1"/>
                </a:solidFill>
              </a:rPr>
              <a:t>approx. 9.7%</a:t>
            </a:r>
            <a:endParaRPr lang="en-US" sz="4000" dirty="0"/>
          </a:p>
        </p:txBody>
      </p:sp>
      <p:sp>
        <p:nvSpPr>
          <p:cNvPr id="7" name="Text 3"/>
          <p:cNvSpPr txBox="1"/>
          <p:nvPr/>
        </p:nvSpPr>
        <p:spPr>
          <a:xfrm>
            <a:off x="6903720" y="4526280"/>
            <a:ext cx="4572000" cy="685800"/>
          </a:xfrm>
          <a:prstGeom prst="rect">
            <a:avLst/>
          </a:prstGeom>
          <a:noFill/>
          <a:ln/>
        </p:spPr>
        <p:txBody>
          <a:bodyPr wrap="square" lIns="0" tIns="0" rIns="0" bIns="0" rtlCol="0" anchor="t"/>
          <a:lstStyle/>
          <a:p>
            <a:pPr algn="ctr" indent="0" marL="0">
              <a:buNone/>
            </a:pPr>
            <a:r>
              <a:rPr lang="en-US" sz="1400" dirty="0">
                <a:solidFill>
                  <a:schemeClr val="tx2"/>
                </a:solidFill>
              </a:rPr>
              <a:t>lower MAE than the persistence baseline in the recorded evaluation</a:t>
            </a:r>
            <a:endParaRPr lang="en-US" sz="1400" dirty="0"/>
          </a:p>
        </p:txBody>
      </p:sp>
      <p:sp>
        <p:nvSpPr>
          <p:cNvPr id="8" name="Text 4"/>
          <p:cNvSpPr txBox="1"/>
          <p:nvPr/>
        </p:nvSpPr>
        <p:spPr>
          <a:xfrm>
            <a:off x="457200" y="5577840"/>
            <a:ext cx="11274552" cy="640080"/>
          </a:xfrm>
          <a:prstGeom prst="rect">
            <a:avLst/>
          </a:prstGeom>
          <a:noFill/>
          <a:ln/>
        </p:spPr>
        <p:txBody>
          <a:bodyPr wrap="square" lIns="0" tIns="0" rIns="0" bIns="0" rtlCol="0" anchor="t"/>
          <a:lstStyle/>
          <a:p>
            <a:pPr indent="0" marL="0">
              <a:buNone/>
            </a:pPr>
            <a:r>
              <a:rPr lang="en-US" sz="1200" dirty="0">
                <a:solidFill>
                  <a:schemeClr val="accent4"/>
                </a:solidFill>
              </a:rPr>
              <a:t>Recorded experimental evaluation results. Measurement units are not documented and are not stated. These results do not establish clinical usefulness or guaranteed generalization.</a:t>
            </a:r>
            <a:endParaRPr lang="en-US" sz="1200" dirty="0"/>
          </a:p>
        </p:txBody>
      </p:sp>
      <p:sp>
        <p:nvSpPr>
          <p:cNvPr id="25" name="Slide Number Placeholder 0"/>
          <p:cNvSpPr>
            <a:spLocks noGrp="1"/>
          </p:cNvSpPr>
          <p:nvPr>
            <p:ph type="sldNum" sz="quarter" idx="4294967295"/>
          </p:nvPr>
        </p:nvSpPr>
        <p:spPr>
          <a:xfrm>
            <a:off x="10972800" y="6446520"/>
            <a:ext cx="75895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ctr"/>
          <a:lstStyle/>
          <a:p>
            <a:pPr algn="l" indent="0" marL="0">
              <a:buNone/>
            </a:pPr>
            <a:r>
              <a:rPr lang="en-US" sz="3200" b="1" dirty="0">
                <a:solidFill>
                  <a:schemeClr val="tx1"/>
                </a:solidFill>
              </a:rPr>
              <a:t>Working prototype: the web dashboard</a:t>
            </a:r>
            <a:endParaRPr lang="en-US" sz="3200" dirty="0"/>
          </a:p>
        </p:txBody>
      </p:sp>
      <p:pic>
        <p:nvPicPr>
          <p:cNvPr id="3" name="Image 0" descr="Dashboard overview screenshot for participant HUPA0015P">    </p:cNvPr>
          <p:cNvPicPr>
            <a:picLocks noChangeAspect="1"/>
          </p:cNvPicPr>
          <p:nvPr/>
        </p:nvPicPr>
        <p:blipFill>
          <a:blip r:embed="rId1"/>
          <a:stretch>
            <a:fillRect/>
          </a:stretch>
        </p:blipFill>
        <p:spPr>
          <a:xfrm>
            <a:off x="457200" y="1188720"/>
            <a:ext cx="5669280" cy="1671168"/>
          </a:xfrm>
          <a:prstGeom prst="rect">
            <a:avLst/>
          </a:prstGeom>
        </p:spPr>
      </p:pic>
      <p:sp>
        <p:nvSpPr>
          <p:cNvPr id="4" name="image-frame"/>
          <p:cNvSpPr/>
          <p:nvPr/>
        </p:nvSpPr>
        <p:spPr>
          <a:xfrm>
            <a:off x="457200" y="1188720"/>
            <a:ext cx="5669280" cy="1671168"/>
          </a:xfrm>
          <a:prstGeom prst="rect">
            <a:avLst/>
          </a:prstGeom>
          <a:ln w="12700">
            <a:solidFill>
              <a:schemeClr val="accent5"/>
            </a:solidFill>
            <a:prstDash val="solid"/>
          </a:ln>
        </p:spPr>
      </p:sp>
      <p:sp>
        <p:nvSpPr>
          <p:cNvPr id="5" name="Text 2"/>
          <p:cNvSpPr txBox="1"/>
          <p:nvPr/>
        </p:nvSpPr>
        <p:spPr>
          <a:xfrm>
            <a:off x="457200" y="2914752"/>
            <a:ext cx="5760720" cy="256032"/>
          </a:xfrm>
          <a:prstGeom prst="rect">
            <a:avLst/>
          </a:prstGeom>
          <a:noFill/>
          <a:ln/>
        </p:spPr>
        <p:txBody>
          <a:bodyPr wrap="square" lIns="0" tIns="0" rIns="0" bIns="0" rtlCol="0" anchor="t"/>
          <a:lstStyle/>
          <a:p>
            <a:pPr indent="0" marL="0">
              <a:buNone/>
            </a:pPr>
            <a:r>
              <a:rPr lang="en-US" sz="1100" dirty="0">
                <a:solidFill>
                  <a:schemeClr val="accent4"/>
                </a:solidFill>
              </a:rPr>
              <a:t>Overview, participant HUPA0015P: current glucose 241.0, 2-hour forecast 209.8 (as displayed).</a:t>
            </a:r>
            <a:endParaRPr lang="en-US" sz="1100" dirty="0"/>
          </a:p>
        </p:txBody>
      </p:sp>
      <p:pic>
        <p:nvPicPr>
          <p:cNvPr id="6" name="Image 1" descr="Dashboard glucose monitor with historical glucose chart">    </p:cNvPr>
          <p:cNvPicPr>
            <a:picLocks noChangeAspect="1"/>
          </p:cNvPicPr>
          <p:nvPr/>
        </p:nvPicPr>
        <p:blipFill>
          <a:blip r:embed="rId2"/>
          <a:stretch>
            <a:fillRect/>
          </a:stretch>
        </p:blipFill>
        <p:spPr>
          <a:xfrm>
            <a:off x="457200" y="3271368"/>
            <a:ext cx="5669280" cy="2554989"/>
          </a:xfrm>
          <a:prstGeom prst="rect">
            <a:avLst/>
          </a:prstGeom>
        </p:spPr>
      </p:pic>
      <p:sp>
        <p:nvSpPr>
          <p:cNvPr id="7" name="image-frame"/>
          <p:cNvSpPr/>
          <p:nvPr/>
        </p:nvSpPr>
        <p:spPr>
          <a:xfrm>
            <a:off x="457200" y="3271368"/>
            <a:ext cx="5669280" cy="2554989"/>
          </a:xfrm>
          <a:prstGeom prst="rect">
            <a:avLst/>
          </a:prstGeom>
          <a:ln w="12700">
            <a:solidFill>
              <a:schemeClr val="accent5"/>
            </a:solidFill>
            <a:prstDash val="solid"/>
          </a:ln>
        </p:spPr>
      </p:sp>
      <p:sp>
        <p:nvSpPr>
          <p:cNvPr id="8" name="Text 4"/>
          <p:cNvSpPr txBox="1"/>
          <p:nvPr/>
        </p:nvSpPr>
        <p:spPr>
          <a:xfrm>
            <a:off x="457200" y="5862934"/>
            <a:ext cx="5669280" cy="256032"/>
          </a:xfrm>
          <a:prstGeom prst="rect">
            <a:avLst/>
          </a:prstGeom>
          <a:noFill/>
          <a:ln/>
        </p:spPr>
        <p:txBody>
          <a:bodyPr wrap="square" lIns="0" tIns="0" rIns="0" bIns="0" rtlCol="0" anchor="t"/>
          <a:lstStyle/>
          <a:p>
            <a:pPr indent="0" marL="0">
              <a:buNone/>
            </a:pPr>
            <a:r>
              <a:rPr lang="en-US" sz="1100" dirty="0">
                <a:solidFill>
                  <a:schemeClr val="accent4"/>
                </a:solidFill>
              </a:rPr>
              <a:t>Participant selector and historical glucose chart (288 readings loaded).</a:t>
            </a:r>
            <a:endParaRPr lang="en-US" sz="1100" dirty="0"/>
          </a:p>
        </p:txBody>
      </p:sp>
      <p:pic>
        <p:nvPicPr>
          <p:cNvPr id="9" name="Image 2" descr="Dashboard ML forecast panel">    </p:cNvPr>
          <p:cNvPicPr>
            <a:picLocks noChangeAspect="1"/>
          </p:cNvPicPr>
          <p:nvPr/>
        </p:nvPicPr>
        <p:blipFill>
          <a:blip r:embed="rId3"/>
          <a:stretch>
            <a:fillRect/>
          </a:stretch>
        </p:blipFill>
        <p:spPr>
          <a:xfrm>
            <a:off x="6400800" y="1188720"/>
            <a:ext cx="5330952" cy="2261252"/>
          </a:xfrm>
          <a:prstGeom prst="rect">
            <a:avLst/>
          </a:prstGeom>
        </p:spPr>
      </p:pic>
      <p:sp>
        <p:nvSpPr>
          <p:cNvPr id="10" name="image-frame"/>
          <p:cNvSpPr/>
          <p:nvPr/>
        </p:nvSpPr>
        <p:spPr>
          <a:xfrm>
            <a:off x="6400800" y="1188720"/>
            <a:ext cx="5330952" cy="2261252"/>
          </a:xfrm>
          <a:prstGeom prst="rect">
            <a:avLst/>
          </a:prstGeom>
          <a:ln w="12700">
            <a:solidFill>
              <a:schemeClr val="accent5"/>
            </a:solidFill>
            <a:prstDash val="solid"/>
          </a:ln>
        </p:spPr>
      </p:sp>
      <p:sp>
        <p:nvSpPr>
          <p:cNvPr id="11" name="Text 6"/>
          <p:cNvSpPr txBox="1"/>
          <p:nvPr/>
        </p:nvSpPr>
        <p:spPr>
          <a:xfrm>
            <a:off x="6400800" y="3504836"/>
            <a:ext cx="5330952" cy="274320"/>
          </a:xfrm>
          <a:prstGeom prst="rect">
            <a:avLst/>
          </a:prstGeom>
          <a:noFill/>
          <a:ln/>
        </p:spPr>
        <p:txBody>
          <a:bodyPr wrap="square" lIns="0" tIns="0" rIns="0" bIns="0" rtlCol="0" anchor="t"/>
          <a:lstStyle/>
          <a:p>
            <a:pPr indent="0" marL="0">
              <a:buNone/>
            </a:pPr>
            <a:r>
              <a:rPr lang="en-US" sz="1100" dirty="0">
                <a:solidFill>
                  <a:schemeClr val="accent4"/>
                </a:solidFill>
              </a:rPr>
              <a:t>ML Forecast panel: latest observed reading and the model's single two-hour forecast.</a:t>
            </a:r>
            <a:endParaRPr lang="en-US" sz="1100" dirty="0"/>
          </a:p>
        </p:txBody>
      </p:sp>
      <p:sp>
        <p:nvSpPr>
          <p:cNvPr id="12" name="Shape 7"/>
          <p:cNvSpPr/>
          <p:nvPr/>
        </p:nvSpPr>
        <p:spPr>
          <a:xfrm>
            <a:off x="6400800" y="4142232"/>
            <a:ext cx="384048" cy="384048"/>
          </a:xfrm>
          <a:prstGeom prst="ellipse">
            <a:avLst/>
          </a:prstGeom>
          <a:solidFill>
            <a:schemeClr val="accent1"/>
          </a:solidFill>
          <a:ln w="12700">
            <a:solidFill>
              <a:schemeClr val="accent1"/>
            </a:solidFill>
            <a:prstDash val="solid"/>
          </a:ln>
        </p:spPr>
      </p:sp>
      <p:sp>
        <p:nvSpPr>
          <p:cNvPr id="13" name="Text 8"/>
          <p:cNvSpPr txBox="1"/>
          <p:nvPr/>
        </p:nvSpPr>
        <p:spPr>
          <a:xfrm>
            <a:off x="6400800" y="41422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4" name="Text 9"/>
          <p:cNvSpPr txBox="1"/>
          <p:nvPr/>
        </p:nvSpPr>
        <p:spPr>
          <a:xfrm>
            <a:off x="6949440" y="4069080"/>
            <a:ext cx="4754880" cy="658368"/>
          </a:xfrm>
          <a:prstGeom prst="rect">
            <a:avLst/>
          </a:prstGeom>
          <a:noFill/>
          <a:ln/>
        </p:spPr>
        <p:txBody>
          <a:bodyPr wrap="square" lIns="0" tIns="0" rIns="0" bIns="0" rtlCol="0" anchor="ctr"/>
          <a:lstStyle/>
          <a:p>
            <a:pPr indent="0" marL="0">
              <a:buNone/>
            </a:pPr>
            <a:r>
              <a:rPr lang="en-US" sz="1400" b="1" dirty="0">
                <a:solidFill>
                  <a:schemeClr val="tx1"/>
                </a:solidFill>
              </a:rPr>
              <a:t>Participant selection: </a:t>
            </a:r>
            <a:pPr indent="0" marL="0">
              <a:buNone/>
            </a:pPr>
            <a:r>
              <a:rPr lang="en-US" sz="1400" dirty="0">
                <a:solidFill>
                  <a:schemeClr val="tx2"/>
                </a:solidFill>
              </a:rPr>
              <a:t>Pick a participant ID from the dropdown and press Load Participant.</a:t>
            </a:r>
            <a:endParaRPr lang="en-US" sz="1400" dirty="0"/>
          </a:p>
        </p:txBody>
      </p:sp>
      <p:sp>
        <p:nvSpPr>
          <p:cNvPr id="15" name="Shape 10"/>
          <p:cNvSpPr/>
          <p:nvPr/>
        </p:nvSpPr>
        <p:spPr>
          <a:xfrm>
            <a:off x="6400800" y="4855464"/>
            <a:ext cx="384048" cy="384048"/>
          </a:xfrm>
          <a:prstGeom prst="ellipse">
            <a:avLst/>
          </a:prstGeom>
          <a:solidFill>
            <a:schemeClr val="accent1"/>
          </a:solidFill>
          <a:ln w="12700">
            <a:solidFill>
              <a:schemeClr val="accent1"/>
            </a:solidFill>
            <a:prstDash val="solid"/>
          </a:ln>
        </p:spPr>
      </p:sp>
      <p:sp>
        <p:nvSpPr>
          <p:cNvPr id="16" name="Text 11"/>
          <p:cNvSpPr txBox="1"/>
          <p:nvPr/>
        </p:nvSpPr>
        <p:spPr>
          <a:xfrm>
            <a:off x="6400800" y="485546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7" name="Text 12"/>
          <p:cNvSpPr txBox="1"/>
          <p:nvPr/>
        </p:nvSpPr>
        <p:spPr>
          <a:xfrm>
            <a:off x="6949440" y="4782312"/>
            <a:ext cx="4754880" cy="658368"/>
          </a:xfrm>
          <a:prstGeom prst="rect">
            <a:avLst/>
          </a:prstGeom>
          <a:noFill/>
          <a:ln/>
        </p:spPr>
        <p:txBody>
          <a:bodyPr wrap="square" lIns="0" tIns="0" rIns="0" bIns="0" rtlCol="0" anchor="ctr"/>
          <a:lstStyle/>
          <a:p>
            <a:pPr indent="0" marL="0">
              <a:buNone/>
            </a:pPr>
            <a:r>
              <a:rPr lang="en-US" sz="1400" b="1" dirty="0">
                <a:solidFill>
                  <a:schemeClr val="tx1"/>
                </a:solidFill>
              </a:rPr>
              <a:t>Historical glucose: </a:t>
            </a:r>
            <a:pPr indent="0" marL="0">
              <a:buNone/>
            </a:pPr>
            <a:r>
              <a:rPr lang="en-US" sz="1400" dirty="0">
                <a:solidFill>
                  <a:schemeClr val="tx2"/>
                </a:solidFill>
              </a:rPr>
              <a:t>A line chart shows the observed readings for that participant.</a:t>
            </a:r>
            <a:endParaRPr lang="en-US" sz="1400" dirty="0"/>
          </a:p>
        </p:txBody>
      </p:sp>
      <p:sp>
        <p:nvSpPr>
          <p:cNvPr id="18" name="Shape 13"/>
          <p:cNvSpPr/>
          <p:nvPr/>
        </p:nvSpPr>
        <p:spPr>
          <a:xfrm>
            <a:off x="6400800" y="5568696"/>
            <a:ext cx="384048" cy="384048"/>
          </a:xfrm>
          <a:prstGeom prst="ellipse">
            <a:avLst/>
          </a:prstGeom>
          <a:solidFill>
            <a:schemeClr val="accent1"/>
          </a:solidFill>
          <a:ln w="12700">
            <a:solidFill>
              <a:schemeClr val="accent1"/>
            </a:solidFill>
            <a:prstDash val="solid"/>
          </a:ln>
        </p:spPr>
      </p:sp>
      <p:sp>
        <p:nvSpPr>
          <p:cNvPr id="19" name="Text 14"/>
          <p:cNvSpPr txBox="1"/>
          <p:nvPr/>
        </p:nvSpPr>
        <p:spPr>
          <a:xfrm>
            <a:off x="6400800" y="55686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Text 15"/>
          <p:cNvSpPr txBox="1"/>
          <p:nvPr/>
        </p:nvSpPr>
        <p:spPr>
          <a:xfrm>
            <a:off x="6949440" y="5495544"/>
            <a:ext cx="4754880" cy="658368"/>
          </a:xfrm>
          <a:prstGeom prst="rect">
            <a:avLst/>
          </a:prstGeom>
          <a:noFill/>
          <a:ln/>
        </p:spPr>
        <p:txBody>
          <a:bodyPr wrap="square" lIns="0" tIns="0" rIns="0" bIns="0" rtlCol="0" anchor="ctr"/>
          <a:lstStyle/>
          <a:p>
            <a:pPr indent="0" marL="0">
              <a:buNone/>
            </a:pPr>
            <a:r>
              <a:rPr lang="en-US" sz="1400" b="1" dirty="0">
                <a:solidFill>
                  <a:schemeClr val="tx1"/>
                </a:solidFill>
              </a:rPr>
              <a:t>Forecast: </a:t>
            </a:r>
            <a:pPr indent="0" marL="0">
              <a:buNone/>
            </a:pPr>
            <a:r>
              <a:rPr lang="en-US" sz="1400" dirty="0">
                <a:solidFill>
                  <a:schemeClr val="tx2"/>
                </a:solidFill>
              </a:rPr>
              <a:t>Shows the latest observed value and one two-hour forecast, with no intermediate predictions.</a:t>
            </a:r>
            <a:endParaRPr lang="en-US" sz="1400" dirty="0"/>
          </a:p>
        </p:txBody>
      </p:sp>
      <p:sp>
        <p:nvSpPr>
          <p:cNvPr id="25" name="Slide Number Placeholder 0"/>
          <p:cNvSpPr>
            <a:spLocks noGrp="1"/>
          </p:cNvSpPr>
          <p:nvPr>
            <p:ph type="sldNum" sz="quarter" idx="4294967295"/>
          </p:nvPr>
        </p:nvSpPr>
        <p:spPr>
          <a:xfrm>
            <a:off x="10972800" y="6446520"/>
            <a:ext cx="75895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ctr"/>
          <a:lstStyle/>
          <a:p>
            <a:pPr algn="l" indent="0" marL="0">
              <a:buNone/>
            </a:pPr>
            <a:r>
              <a:rPr lang="en-US" sz="3200" b="1" dirty="0">
                <a:solidFill>
                  <a:schemeClr val="tx1"/>
                </a:solidFill>
              </a:rPr>
              <a:t>Flask API and a recorded prediction example</a:t>
            </a:r>
            <a:endParaRPr lang="en-US" sz="3200" dirty="0"/>
          </a:p>
        </p:txBody>
      </p:sp>
      <p:pic>
        <p:nvPicPr>
          <p:cNvPr id="3" name="Image 0" descr="Flask API root page in the browser">    </p:cNvPr>
          <p:cNvPicPr>
            <a:picLocks noChangeAspect="1"/>
          </p:cNvPicPr>
          <p:nvPr/>
        </p:nvPicPr>
        <p:blipFill>
          <a:blip r:embed="rId1"/>
          <a:stretch>
            <a:fillRect/>
          </a:stretch>
        </p:blipFill>
        <p:spPr>
          <a:xfrm>
            <a:off x="457200" y="1280160"/>
            <a:ext cx="5486400" cy="2862470"/>
          </a:xfrm>
          <a:prstGeom prst="rect">
            <a:avLst/>
          </a:prstGeom>
        </p:spPr>
      </p:pic>
      <p:sp>
        <p:nvSpPr>
          <p:cNvPr id="4" name="image-frame"/>
          <p:cNvSpPr/>
          <p:nvPr/>
        </p:nvSpPr>
        <p:spPr>
          <a:xfrm>
            <a:off x="457200" y="1280160"/>
            <a:ext cx="5486400" cy="2862470"/>
          </a:xfrm>
          <a:prstGeom prst="rect">
            <a:avLst/>
          </a:prstGeom>
          <a:ln w="12700">
            <a:solidFill>
              <a:schemeClr val="accent5"/>
            </a:solidFill>
            <a:prstDash val="solid"/>
          </a:ln>
        </p:spPr>
      </p:sp>
      <p:sp>
        <p:nvSpPr>
          <p:cNvPr id="5" name="Text 2"/>
          <p:cNvSpPr txBox="1"/>
          <p:nvPr/>
        </p:nvSpPr>
        <p:spPr>
          <a:xfrm>
            <a:off x="457200" y="4234070"/>
            <a:ext cx="5486400" cy="548640"/>
          </a:xfrm>
          <a:prstGeom prst="rect">
            <a:avLst/>
          </a:prstGeom>
          <a:noFill/>
          <a:ln/>
        </p:spPr>
        <p:txBody>
          <a:bodyPr wrap="square" lIns="0" tIns="0" rIns="0" bIns="0" rtlCol="0" anchor="t"/>
          <a:lstStyle/>
          <a:p>
            <a:pPr indent="0" marL="0">
              <a:buNone/>
            </a:pPr>
            <a:r>
              <a:rPr lang="en-US" sz="1200" dirty="0">
                <a:solidFill>
                  <a:schemeClr val="accent4"/>
                </a:solidFill>
              </a:rPr>
              <a:t>Screenshot of the running API root page (127.0.0.1:5000): service name, status "running" and the endpoint listing.</a:t>
            </a:r>
            <a:endParaRPr lang="en-US" sz="1200" dirty="0"/>
          </a:p>
        </p:txBody>
      </p:sp>
      <p:sp>
        <p:nvSpPr>
          <p:cNvPr id="6" name="card"/>
          <p:cNvSpPr/>
          <p:nvPr/>
        </p:nvSpPr>
        <p:spPr>
          <a:xfrm>
            <a:off x="6217920" y="1280160"/>
            <a:ext cx="5513832" cy="3977640"/>
          </a:xfrm>
          <a:prstGeom prst="roundRect">
            <a:avLst>
              <a:gd name="adj" fmla="val 2299"/>
            </a:avLst>
          </a:prstGeom>
          <a:solidFill>
            <a:schemeClr val="bg2"/>
          </a:solidFill>
          <a:ln w="19050">
            <a:solidFill>
              <a:schemeClr val="accent2"/>
            </a:solidFill>
            <a:prstDash val="solid"/>
          </a:ln>
        </p:spPr>
      </p:sp>
      <p:sp>
        <p:nvSpPr>
          <p:cNvPr id="7" name="Text 4"/>
          <p:cNvSpPr txBox="1"/>
          <p:nvPr/>
        </p:nvSpPr>
        <p:spPr>
          <a:xfrm>
            <a:off x="6446520" y="1389888"/>
            <a:ext cx="5029200" cy="411480"/>
          </a:xfrm>
          <a:prstGeom prst="rect">
            <a:avLst/>
          </a:prstGeom>
          <a:noFill/>
          <a:ln/>
        </p:spPr>
        <p:txBody>
          <a:bodyPr wrap="square" lIns="0" tIns="0" rIns="0" bIns="0" rtlCol="0" anchor="t"/>
          <a:lstStyle/>
          <a:p>
            <a:pPr indent="0" marL="0">
              <a:buNone/>
            </a:pPr>
            <a:r>
              <a:rPr lang="en-US" sz="2000" b="1" dirty="0">
                <a:solidFill>
                  <a:schemeClr val="tx1"/>
                </a:solidFill>
              </a:rPr>
              <a:t>Recorded example: HUPA0001P</a:t>
            </a:r>
            <a:endParaRPr lang="en-US" sz="2000" dirty="0"/>
          </a:p>
        </p:txBody>
      </p:sp>
      <p:sp>
        <p:nvSpPr>
          <p:cNvPr id="8" name="card"/>
          <p:cNvSpPr/>
          <p:nvPr/>
        </p:nvSpPr>
        <p:spPr>
          <a:xfrm>
            <a:off x="6446520" y="1847088"/>
            <a:ext cx="5056632" cy="384048"/>
          </a:xfrm>
          <a:prstGeom prst="roundRect">
            <a:avLst>
              <a:gd name="adj" fmla="val 23810"/>
            </a:avLst>
          </a:prstGeom>
          <a:solidFill>
            <a:schemeClr val="accent3">
              <a:alpha val="20000"/>
            </a:schemeClr>
          </a:solidFill>
          <a:ln w="12700">
            <a:solidFill>
              <a:schemeClr val="accent3"/>
            </a:solidFill>
            <a:prstDash val="solid"/>
          </a:ln>
        </p:spPr>
      </p:sp>
      <p:sp>
        <p:nvSpPr>
          <p:cNvPr id="9" name="Text 6"/>
          <p:cNvSpPr txBox="1"/>
          <p:nvPr/>
        </p:nvSpPr>
        <p:spPr>
          <a:xfrm>
            <a:off x="6446520" y="1847088"/>
            <a:ext cx="5056632" cy="384048"/>
          </a:xfrm>
          <a:prstGeom prst="rect">
            <a:avLst/>
          </a:prstGeom>
          <a:noFill/>
          <a:ln/>
        </p:spPr>
        <p:txBody>
          <a:bodyPr wrap="square" lIns="0" tIns="0" rIns="0" bIns="0" rtlCol="0" anchor="ctr"/>
          <a:lstStyle/>
          <a:p>
            <a:pPr algn="ctr" indent="0" marL="0">
              <a:buNone/>
            </a:pPr>
            <a:r>
              <a:rPr lang="en-US" sz="1200" b="1" dirty="0">
                <a:solidFill>
                  <a:schemeClr val="tx1"/>
                </a:solidFill>
              </a:rPr>
              <a:t>Historical-dataset example, not a real-time clinical prediction</a:t>
            </a:r>
            <a:endParaRPr lang="en-US" sz="1200" dirty="0"/>
          </a:p>
        </p:txBody>
      </p:sp>
      <p:sp>
        <p:nvSpPr>
          <p:cNvPr id="10" name="Text 7"/>
          <p:cNvSpPr txBox="1"/>
          <p:nvPr/>
        </p:nvSpPr>
        <p:spPr>
          <a:xfrm>
            <a:off x="6446520" y="2377440"/>
            <a:ext cx="2743200" cy="411480"/>
          </a:xfrm>
          <a:prstGeom prst="rect">
            <a:avLst/>
          </a:prstGeom>
          <a:noFill/>
          <a:ln/>
        </p:spPr>
        <p:txBody>
          <a:bodyPr wrap="square" lIns="0" tIns="0" rIns="0" bIns="0" rtlCol="0" anchor="ctr"/>
          <a:lstStyle/>
          <a:p>
            <a:pPr indent="0" marL="0">
              <a:buNone/>
            </a:pPr>
            <a:r>
              <a:rPr lang="en-US" sz="1200" dirty="0">
                <a:solidFill>
                  <a:schemeClr val="accent4"/>
                </a:solidFill>
              </a:rPr>
              <a:t>Current glucose</a:t>
            </a:r>
            <a:endParaRPr lang="en-US" sz="1200" dirty="0"/>
          </a:p>
        </p:txBody>
      </p:sp>
      <p:sp>
        <p:nvSpPr>
          <p:cNvPr id="11" name="Text 8"/>
          <p:cNvSpPr txBox="1"/>
          <p:nvPr/>
        </p:nvSpPr>
        <p:spPr>
          <a:xfrm>
            <a:off x="9144000" y="2377440"/>
            <a:ext cx="2359152" cy="411480"/>
          </a:xfrm>
          <a:prstGeom prst="rect">
            <a:avLst/>
          </a:prstGeom>
          <a:noFill/>
          <a:ln/>
        </p:spPr>
        <p:txBody>
          <a:bodyPr wrap="square" lIns="0" tIns="0" rIns="0" bIns="0" rtlCol="0" anchor="ctr"/>
          <a:lstStyle/>
          <a:p>
            <a:pPr algn="r" indent="0" marL="0">
              <a:buNone/>
            </a:pPr>
            <a:r>
              <a:rPr lang="en-US" sz="1300" b="1" dirty="0">
                <a:solidFill>
                  <a:schemeClr val="tx1"/>
                </a:solidFill>
                <a:latin typeface="Courier New" pitchFamily="34" charset="0"/>
                <a:ea typeface="Courier New" pitchFamily="34" charset="-122"/>
                <a:cs typeface="Courier New" pitchFamily="34" charset="-120"/>
              </a:rPr>
              <a:t>326.0</a:t>
            </a:r>
            <a:endParaRPr lang="en-US" sz="1300" dirty="0"/>
          </a:p>
        </p:txBody>
      </p:sp>
      <p:sp>
        <p:nvSpPr>
          <p:cNvPr id="12" name="Shape 9"/>
          <p:cNvSpPr/>
          <p:nvPr/>
        </p:nvSpPr>
        <p:spPr>
          <a:xfrm>
            <a:off x="6446520" y="2825496"/>
            <a:ext cx="5056632" cy="0"/>
          </a:xfrm>
          <a:prstGeom prst="line">
            <a:avLst/>
          </a:prstGeom>
          <a:noFill/>
          <a:ln w="9525">
            <a:solidFill>
              <a:schemeClr val="accent5"/>
            </a:solidFill>
            <a:prstDash val="solid"/>
          </a:ln>
        </p:spPr>
      </p:sp>
      <p:sp>
        <p:nvSpPr>
          <p:cNvPr id="13" name="Text 10"/>
          <p:cNvSpPr txBox="1"/>
          <p:nvPr/>
        </p:nvSpPr>
        <p:spPr>
          <a:xfrm>
            <a:off x="6446520" y="2852928"/>
            <a:ext cx="2743200" cy="411480"/>
          </a:xfrm>
          <a:prstGeom prst="rect">
            <a:avLst/>
          </a:prstGeom>
          <a:noFill/>
          <a:ln/>
        </p:spPr>
        <p:txBody>
          <a:bodyPr wrap="square" lIns="0" tIns="0" rIns="0" bIns="0" rtlCol="0" anchor="ctr"/>
          <a:lstStyle/>
          <a:p>
            <a:pPr indent="0" marL="0">
              <a:buNone/>
            </a:pPr>
            <a:r>
              <a:rPr lang="en-US" sz="1200" dirty="0">
                <a:solidFill>
                  <a:schemeClr val="accent4"/>
                </a:solidFill>
              </a:rPr>
              <a:t>Predicted glucose after two hours</a:t>
            </a:r>
            <a:endParaRPr lang="en-US" sz="1200" dirty="0"/>
          </a:p>
        </p:txBody>
      </p:sp>
      <p:sp>
        <p:nvSpPr>
          <p:cNvPr id="14" name="Text 11"/>
          <p:cNvSpPr txBox="1"/>
          <p:nvPr/>
        </p:nvSpPr>
        <p:spPr>
          <a:xfrm>
            <a:off x="9144000" y="2852928"/>
            <a:ext cx="2359152" cy="411480"/>
          </a:xfrm>
          <a:prstGeom prst="rect">
            <a:avLst/>
          </a:prstGeom>
          <a:noFill/>
          <a:ln/>
        </p:spPr>
        <p:txBody>
          <a:bodyPr wrap="square" lIns="0" tIns="0" rIns="0" bIns="0" rtlCol="0" anchor="ctr"/>
          <a:lstStyle/>
          <a:p>
            <a:pPr algn="r" indent="0" marL="0">
              <a:buNone/>
            </a:pPr>
            <a:r>
              <a:rPr lang="en-US" sz="1300" b="1" dirty="0">
                <a:solidFill>
                  <a:schemeClr val="tx1"/>
                </a:solidFill>
                <a:latin typeface="Courier New" pitchFamily="34" charset="0"/>
                <a:ea typeface="Courier New" pitchFamily="34" charset="-122"/>
                <a:cs typeface="Courier New" pitchFamily="34" charset="-120"/>
              </a:rPr>
              <a:t>294.2235</a:t>
            </a:r>
            <a:endParaRPr lang="en-US" sz="1300" dirty="0"/>
          </a:p>
        </p:txBody>
      </p:sp>
      <p:sp>
        <p:nvSpPr>
          <p:cNvPr id="15" name="Shape 12"/>
          <p:cNvSpPr/>
          <p:nvPr/>
        </p:nvSpPr>
        <p:spPr>
          <a:xfrm>
            <a:off x="6446520" y="3300984"/>
            <a:ext cx="5056632" cy="0"/>
          </a:xfrm>
          <a:prstGeom prst="line">
            <a:avLst/>
          </a:prstGeom>
          <a:noFill/>
          <a:ln w="9525">
            <a:solidFill>
              <a:schemeClr val="accent5"/>
            </a:solidFill>
            <a:prstDash val="solid"/>
          </a:ln>
        </p:spPr>
      </p:sp>
      <p:sp>
        <p:nvSpPr>
          <p:cNvPr id="16" name="Text 13"/>
          <p:cNvSpPr txBox="1"/>
          <p:nvPr/>
        </p:nvSpPr>
        <p:spPr>
          <a:xfrm>
            <a:off x="6446520" y="3328416"/>
            <a:ext cx="2743200" cy="411480"/>
          </a:xfrm>
          <a:prstGeom prst="rect">
            <a:avLst/>
          </a:prstGeom>
          <a:noFill/>
          <a:ln/>
        </p:spPr>
        <p:txBody>
          <a:bodyPr wrap="square" lIns="0" tIns="0" rIns="0" bIns="0" rtlCol="0" anchor="ctr"/>
          <a:lstStyle/>
          <a:p>
            <a:pPr indent="0" marL="0">
              <a:buNone/>
            </a:pPr>
            <a:r>
              <a:rPr lang="en-US" sz="1200" dirty="0">
                <a:solidFill>
                  <a:schemeClr val="accent4"/>
                </a:solidFill>
              </a:rPr>
              <a:t>Forecast horizon</a:t>
            </a:r>
            <a:endParaRPr lang="en-US" sz="1200" dirty="0"/>
          </a:p>
        </p:txBody>
      </p:sp>
      <p:sp>
        <p:nvSpPr>
          <p:cNvPr id="17" name="Text 14"/>
          <p:cNvSpPr txBox="1"/>
          <p:nvPr/>
        </p:nvSpPr>
        <p:spPr>
          <a:xfrm>
            <a:off x="9144000" y="3328416"/>
            <a:ext cx="2359152" cy="411480"/>
          </a:xfrm>
          <a:prstGeom prst="rect">
            <a:avLst/>
          </a:prstGeom>
          <a:noFill/>
          <a:ln/>
        </p:spPr>
        <p:txBody>
          <a:bodyPr wrap="square" lIns="0" tIns="0" rIns="0" bIns="0" rtlCol="0" anchor="ctr"/>
          <a:lstStyle/>
          <a:p>
            <a:pPr algn="r" indent="0" marL="0">
              <a:buNone/>
            </a:pPr>
            <a:r>
              <a:rPr lang="en-US" sz="1300" b="1" dirty="0">
                <a:solidFill>
                  <a:schemeClr val="tx1"/>
                </a:solidFill>
                <a:latin typeface="Courier New" pitchFamily="34" charset="0"/>
                <a:ea typeface="Courier New" pitchFamily="34" charset="-122"/>
                <a:cs typeface="Courier New" pitchFamily="34" charset="-120"/>
              </a:rPr>
              <a:t>120 minutes</a:t>
            </a:r>
            <a:endParaRPr lang="en-US" sz="1300" dirty="0"/>
          </a:p>
        </p:txBody>
      </p:sp>
      <p:sp>
        <p:nvSpPr>
          <p:cNvPr id="18" name="Shape 15"/>
          <p:cNvSpPr/>
          <p:nvPr/>
        </p:nvSpPr>
        <p:spPr>
          <a:xfrm>
            <a:off x="6446520" y="3776472"/>
            <a:ext cx="5056632" cy="0"/>
          </a:xfrm>
          <a:prstGeom prst="line">
            <a:avLst/>
          </a:prstGeom>
          <a:noFill/>
          <a:ln w="9525">
            <a:solidFill>
              <a:schemeClr val="accent5"/>
            </a:solidFill>
            <a:prstDash val="solid"/>
          </a:ln>
        </p:spPr>
      </p:sp>
      <p:sp>
        <p:nvSpPr>
          <p:cNvPr id="19" name="Text 16"/>
          <p:cNvSpPr txBox="1"/>
          <p:nvPr/>
        </p:nvSpPr>
        <p:spPr>
          <a:xfrm>
            <a:off x="6446520" y="3803904"/>
            <a:ext cx="2743200" cy="411480"/>
          </a:xfrm>
          <a:prstGeom prst="rect">
            <a:avLst/>
          </a:prstGeom>
          <a:noFill/>
          <a:ln/>
        </p:spPr>
        <p:txBody>
          <a:bodyPr wrap="square" lIns="0" tIns="0" rIns="0" bIns="0" rtlCol="0" anchor="ctr"/>
          <a:lstStyle/>
          <a:p>
            <a:pPr indent="0" marL="0">
              <a:buNone/>
            </a:pPr>
            <a:r>
              <a:rPr lang="en-US" sz="1200" dirty="0">
                <a:solidFill>
                  <a:schemeClr val="accent4"/>
                </a:solidFill>
              </a:rPr>
              <a:t>Latest source timestamp</a:t>
            </a:r>
            <a:endParaRPr lang="en-US" sz="1200" dirty="0"/>
          </a:p>
        </p:txBody>
      </p:sp>
      <p:sp>
        <p:nvSpPr>
          <p:cNvPr id="20" name="Text 17"/>
          <p:cNvSpPr txBox="1"/>
          <p:nvPr/>
        </p:nvSpPr>
        <p:spPr>
          <a:xfrm>
            <a:off x="9144000" y="3803904"/>
            <a:ext cx="2359152" cy="411480"/>
          </a:xfrm>
          <a:prstGeom prst="rect">
            <a:avLst/>
          </a:prstGeom>
          <a:noFill/>
          <a:ln/>
        </p:spPr>
        <p:txBody>
          <a:bodyPr wrap="square" lIns="0" tIns="0" rIns="0" bIns="0" rtlCol="0" anchor="ctr"/>
          <a:lstStyle/>
          <a:p>
            <a:pPr algn="r" indent="0" marL="0">
              <a:buNone/>
            </a:pPr>
            <a:r>
              <a:rPr lang="en-US" sz="1300" b="1" dirty="0">
                <a:solidFill>
                  <a:schemeClr val="tx1"/>
                </a:solidFill>
                <a:latin typeface="Courier New" pitchFamily="34" charset="0"/>
                <a:ea typeface="Courier New" pitchFamily="34" charset="-122"/>
                <a:cs typeface="Courier New" pitchFamily="34" charset="-120"/>
              </a:rPr>
              <a:t>2018-06-27T23:55:00</a:t>
            </a:r>
            <a:endParaRPr lang="en-US" sz="1300" dirty="0"/>
          </a:p>
        </p:txBody>
      </p:sp>
      <p:sp>
        <p:nvSpPr>
          <p:cNvPr id="21" name="Shape 18"/>
          <p:cNvSpPr/>
          <p:nvPr/>
        </p:nvSpPr>
        <p:spPr>
          <a:xfrm>
            <a:off x="6446520" y="4251960"/>
            <a:ext cx="5056632" cy="0"/>
          </a:xfrm>
          <a:prstGeom prst="line">
            <a:avLst/>
          </a:prstGeom>
          <a:noFill/>
          <a:ln w="9525">
            <a:solidFill>
              <a:schemeClr val="accent5"/>
            </a:solidFill>
            <a:prstDash val="solid"/>
          </a:ln>
        </p:spPr>
      </p:sp>
      <p:sp>
        <p:nvSpPr>
          <p:cNvPr id="22" name="Text 19"/>
          <p:cNvSpPr txBox="1"/>
          <p:nvPr/>
        </p:nvSpPr>
        <p:spPr>
          <a:xfrm>
            <a:off x="6446520" y="4279392"/>
            <a:ext cx="2743200" cy="411480"/>
          </a:xfrm>
          <a:prstGeom prst="rect">
            <a:avLst/>
          </a:prstGeom>
          <a:noFill/>
          <a:ln/>
        </p:spPr>
        <p:txBody>
          <a:bodyPr wrap="square" lIns="0" tIns="0" rIns="0" bIns="0" rtlCol="0" anchor="ctr"/>
          <a:lstStyle/>
          <a:p>
            <a:pPr indent="0" marL="0">
              <a:buNone/>
            </a:pPr>
            <a:r>
              <a:rPr lang="en-US" sz="1200" dirty="0">
                <a:solidFill>
                  <a:schemeClr val="accent4"/>
                </a:solidFill>
              </a:rPr>
              <a:t>Dataset status</a:t>
            </a:r>
            <a:endParaRPr lang="en-US" sz="1200" dirty="0"/>
          </a:p>
        </p:txBody>
      </p:sp>
      <p:sp>
        <p:nvSpPr>
          <p:cNvPr id="23" name="Text 20"/>
          <p:cNvSpPr txBox="1"/>
          <p:nvPr/>
        </p:nvSpPr>
        <p:spPr>
          <a:xfrm>
            <a:off x="9144000" y="4279392"/>
            <a:ext cx="2359152" cy="411480"/>
          </a:xfrm>
          <a:prstGeom prst="rect">
            <a:avLst/>
          </a:prstGeom>
          <a:noFill/>
          <a:ln/>
        </p:spPr>
        <p:txBody>
          <a:bodyPr wrap="square" lIns="0" tIns="0" rIns="0" bIns="0" rtlCol="0" anchor="ctr"/>
          <a:lstStyle/>
          <a:p>
            <a:pPr algn="r" indent="0" marL="0">
              <a:buNone/>
            </a:pPr>
            <a:r>
              <a:rPr lang="en-US" sz="1300" b="1" dirty="0">
                <a:solidFill>
                  <a:schemeClr val="tx1"/>
                </a:solidFill>
                <a:latin typeface="Courier New" pitchFamily="34" charset="0"/>
                <a:ea typeface="Courier New" pitchFamily="34" charset="-122"/>
                <a:cs typeface="Courier New" pitchFamily="34" charset="-120"/>
              </a:rPr>
              <a:t>historical_dataset</a:t>
            </a:r>
            <a:endParaRPr lang="en-US" sz="1300" dirty="0"/>
          </a:p>
        </p:txBody>
      </p:sp>
      <p:sp>
        <p:nvSpPr>
          <p:cNvPr id="24" name="Shape 21"/>
          <p:cNvSpPr/>
          <p:nvPr/>
        </p:nvSpPr>
        <p:spPr>
          <a:xfrm>
            <a:off x="6446520" y="4727448"/>
            <a:ext cx="5056632" cy="0"/>
          </a:xfrm>
          <a:prstGeom prst="line">
            <a:avLst/>
          </a:prstGeom>
          <a:noFill/>
          <a:ln w="9525">
            <a:solidFill>
              <a:schemeClr val="accent5"/>
            </a:solidFill>
            <a:prstDash val="solid"/>
          </a:ln>
        </p:spPr>
      </p:sp>
      <p:sp>
        <p:nvSpPr>
          <p:cNvPr id="25" name="Text 22"/>
          <p:cNvSpPr txBox="1"/>
          <p:nvPr/>
        </p:nvSpPr>
        <p:spPr>
          <a:xfrm>
            <a:off x="6446520" y="4754880"/>
            <a:ext cx="2743200" cy="411480"/>
          </a:xfrm>
          <a:prstGeom prst="rect">
            <a:avLst/>
          </a:prstGeom>
          <a:noFill/>
          <a:ln/>
        </p:spPr>
        <p:txBody>
          <a:bodyPr wrap="square" lIns="0" tIns="0" rIns="0" bIns="0" rtlCol="0" anchor="ctr"/>
          <a:lstStyle/>
          <a:p>
            <a:pPr indent="0" marL="0">
              <a:buNone/>
            </a:pPr>
            <a:r>
              <a:rPr lang="en-US" sz="1200" dirty="0">
                <a:solidFill>
                  <a:schemeClr val="accent4"/>
                </a:solidFill>
              </a:rPr>
              <a:t>Model status</a:t>
            </a:r>
            <a:endParaRPr lang="en-US" sz="1200" dirty="0"/>
          </a:p>
        </p:txBody>
      </p:sp>
      <p:sp>
        <p:nvSpPr>
          <p:cNvPr id="26" name="Text 23"/>
          <p:cNvSpPr txBox="1"/>
          <p:nvPr/>
        </p:nvSpPr>
        <p:spPr>
          <a:xfrm>
            <a:off x="9144000" y="4754880"/>
            <a:ext cx="2359152" cy="411480"/>
          </a:xfrm>
          <a:prstGeom prst="rect">
            <a:avLst/>
          </a:prstGeom>
          <a:noFill/>
          <a:ln/>
        </p:spPr>
        <p:txBody>
          <a:bodyPr wrap="square" lIns="0" tIns="0" rIns="0" bIns="0" rtlCol="0" anchor="ctr"/>
          <a:lstStyle/>
          <a:p>
            <a:pPr algn="r" indent="0" marL="0">
              <a:buNone/>
            </a:pPr>
            <a:r>
              <a:rPr lang="en-US" sz="1300" b="1" dirty="0">
                <a:solidFill>
                  <a:schemeClr val="tx1"/>
                </a:solidFill>
                <a:latin typeface="Courier New" pitchFamily="34" charset="0"/>
                <a:ea typeface="Courier New" pitchFamily="34" charset="-122"/>
                <a:cs typeface="Courier New" pitchFamily="34" charset="-120"/>
              </a:rPr>
              <a:t>experimental_prototype</a:t>
            </a:r>
            <a:endParaRPr lang="en-US" sz="1300" dirty="0"/>
          </a:p>
        </p:txBody>
      </p:sp>
      <p:sp>
        <p:nvSpPr>
          <p:cNvPr id="27" name="card"/>
          <p:cNvSpPr/>
          <p:nvPr/>
        </p:nvSpPr>
        <p:spPr>
          <a:xfrm>
            <a:off x="457200" y="5486400"/>
            <a:ext cx="11274552" cy="731520"/>
          </a:xfrm>
          <a:prstGeom prst="roundRect">
            <a:avLst>
              <a:gd name="adj" fmla="val 12500"/>
            </a:avLst>
          </a:prstGeom>
          <a:solidFill>
            <a:schemeClr val="accent3">
              <a:alpha val="15000"/>
            </a:schemeClr>
          </a:solidFill>
          <a:ln w="15875">
            <a:solidFill>
              <a:schemeClr val="accent3"/>
            </a:solidFill>
            <a:prstDash val="solid"/>
          </a:ln>
        </p:spPr>
      </p:sp>
      <p:sp>
        <p:nvSpPr>
          <p:cNvPr id="28" name="Text 25"/>
          <p:cNvSpPr txBox="1"/>
          <p:nvPr/>
        </p:nvSpPr>
        <p:spPr>
          <a:xfrm>
            <a:off x="731520" y="5486400"/>
            <a:ext cx="10789920" cy="731520"/>
          </a:xfrm>
          <a:prstGeom prst="rect">
            <a:avLst/>
          </a:prstGeom>
          <a:noFill/>
          <a:ln/>
        </p:spPr>
        <p:txBody>
          <a:bodyPr wrap="square" lIns="0" tIns="0" rIns="0" bIns="0" rtlCol="0" anchor="ctr"/>
          <a:lstStyle/>
          <a:p>
            <a:pPr indent="0" marL="0">
              <a:buNone/>
            </a:pPr>
            <a:r>
              <a:rPr lang="en-US" sz="1400" b="1" dirty="0">
                <a:solidFill>
                  <a:schemeClr val="tx1"/>
                </a:solidFill>
              </a:rPr>
              <a:t>This HUPA0001P example comes from the architecture document and is separate from the HUPA0015P dashboard screenshots. It does not imply a medically meaningful result.</a:t>
            </a:r>
            <a:endParaRPr lang="en-US" sz="1400" dirty="0"/>
          </a:p>
        </p:txBody>
      </p:sp>
      <p:sp>
        <p:nvSpPr>
          <p:cNvPr id="25" name="Slide Number Placeholder 0"/>
          <p:cNvSpPr>
            <a:spLocks noGrp="1"/>
          </p:cNvSpPr>
          <p:nvPr>
            <p:ph type="sldNum" sz="quarter" idx="4294967295"/>
          </p:nvPr>
        </p:nvSpPr>
        <p:spPr>
          <a:xfrm>
            <a:off x="10972800" y="6446520"/>
            <a:ext cx="75895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ctr"/>
          <a:lstStyle/>
          <a:p>
            <a:pPr algn="l" indent="0" marL="0">
              <a:buNone/>
            </a:pPr>
            <a:r>
              <a:rPr lang="en-US" sz="3200" b="1" dirty="0">
                <a:solidFill>
                  <a:schemeClr val="tx1"/>
                </a:solidFill>
              </a:rPr>
              <a:t>Limitations and future work</a:t>
            </a:r>
            <a:endParaRPr lang="en-US" sz="3200" dirty="0"/>
          </a:p>
        </p:txBody>
      </p:sp>
      <p:sp>
        <p:nvSpPr>
          <p:cNvPr id="3" name="card"/>
          <p:cNvSpPr/>
          <p:nvPr/>
        </p:nvSpPr>
        <p:spPr>
          <a:xfrm>
            <a:off x="457200" y="1280160"/>
            <a:ext cx="6583680" cy="850392"/>
          </a:xfrm>
          <a:prstGeom prst="roundRect">
            <a:avLst>
              <a:gd name="adj" fmla="val 10753"/>
            </a:avLst>
          </a:prstGeom>
          <a:solidFill>
            <a:schemeClr val="bg2"/>
          </a:solidFill>
          <a:ln w="12700">
            <a:solidFill>
              <a:schemeClr val="bg1"/>
            </a:solidFill>
            <a:prstDash val="solid"/>
          </a:ln>
        </p:spPr>
      </p:sp>
      <p:sp>
        <p:nvSpPr>
          <p:cNvPr id="4" name="icon-circle"/>
          <p:cNvSpPr/>
          <p:nvPr/>
        </p:nvSpPr>
        <p:spPr>
          <a:xfrm>
            <a:off x="640080" y="1463040"/>
            <a:ext cx="475488" cy="475488"/>
          </a:xfrm>
          <a:prstGeom prst="ellipse">
            <a:avLst/>
          </a:prstGeom>
          <a:solidFill>
            <a:schemeClr val="accent3"/>
          </a:solidFill>
          <a:ln w="12700">
            <a:solidFill>
              <a:schemeClr val="accent3"/>
            </a:solidFill>
            <a:prstDash val="solid"/>
          </a:ln>
        </p:spPr>
      </p:sp>
      <p:pic>
        <p:nvPicPr>
          <p:cNvPr id="5" name="Image 0" descr="ExclamationTriangle icon">    </p:cNvPr>
          <p:cNvPicPr>
            <a:picLocks noChangeAspect="1"/>
          </p:cNvPicPr>
          <p:nvPr/>
        </p:nvPicPr>
        <p:blipFill>
          <a:blip r:embed="rId1"/>
          <a:stretch>
            <a:fillRect/>
          </a:stretch>
        </p:blipFill>
        <p:spPr>
          <a:xfrm>
            <a:off x="758952" y="1581912"/>
            <a:ext cx="237744" cy="237744"/>
          </a:xfrm>
          <a:prstGeom prst="rect">
            <a:avLst/>
          </a:prstGeom>
        </p:spPr>
      </p:pic>
      <p:sp>
        <p:nvSpPr>
          <p:cNvPr id="6" name="Text 3"/>
          <p:cNvSpPr txBox="1"/>
          <p:nvPr/>
        </p:nvSpPr>
        <p:spPr>
          <a:xfrm>
            <a:off x="1325880" y="1280160"/>
            <a:ext cx="5577840" cy="850392"/>
          </a:xfrm>
          <a:prstGeom prst="rect">
            <a:avLst/>
          </a:prstGeom>
          <a:noFill/>
          <a:ln/>
        </p:spPr>
        <p:txBody>
          <a:bodyPr wrap="square" lIns="0" tIns="0" rIns="0" bIns="0" rtlCol="0" anchor="ctr"/>
          <a:lstStyle/>
          <a:p>
            <a:pPr indent="0" marL="0">
              <a:buNone/>
            </a:pPr>
            <a:r>
              <a:rPr lang="en-US" sz="1400" b="1" dirty="0">
                <a:solidFill>
                  <a:schemeClr val="tx1"/>
                </a:solidFill>
              </a:rPr>
              <a:t>Not clinically validated.</a:t>
            </a:r>
            <a:endParaRPr lang="en-US" sz="1400" dirty="0"/>
          </a:p>
        </p:txBody>
      </p:sp>
      <p:sp>
        <p:nvSpPr>
          <p:cNvPr id="7" name="card"/>
          <p:cNvSpPr/>
          <p:nvPr/>
        </p:nvSpPr>
        <p:spPr>
          <a:xfrm>
            <a:off x="457200" y="2258568"/>
            <a:ext cx="6583680" cy="850392"/>
          </a:xfrm>
          <a:prstGeom prst="roundRect">
            <a:avLst>
              <a:gd name="adj" fmla="val 10753"/>
            </a:avLst>
          </a:prstGeom>
          <a:solidFill>
            <a:schemeClr val="bg2"/>
          </a:solidFill>
          <a:ln w="12700">
            <a:solidFill>
              <a:schemeClr val="bg1"/>
            </a:solidFill>
            <a:prstDash val="solid"/>
          </a:ln>
        </p:spPr>
      </p:sp>
      <p:sp>
        <p:nvSpPr>
          <p:cNvPr id="8" name="icon-circle"/>
          <p:cNvSpPr/>
          <p:nvPr/>
        </p:nvSpPr>
        <p:spPr>
          <a:xfrm>
            <a:off x="640080" y="2441448"/>
            <a:ext cx="475488" cy="475488"/>
          </a:xfrm>
          <a:prstGeom prst="ellipse">
            <a:avLst/>
          </a:prstGeom>
          <a:solidFill>
            <a:schemeClr val="accent3"/>
          </a:solidFill>
          <a:ln w="12700">
            <a:solidFill>
              <a:schemeClr val="accent3"/>
            </a:solidFill>
            <a:prstDash val="solid"/>
          </a:ln>
        </p:spPr>
      </p:sp>
      <p:pic>
        <p:nvPicPr>
          <p:cNvPr id="9" name="Image 1" descr="ExclamationTriangle icon">    </p:cNvPr>
          <p:cNvPicPr>
            <a:picLocks noChangeAspect="1"/>
          </p:cNvPicPr>
          <p:nvPr/>
        </p:nvPicPr>
        <p:blipFill>
          <a:blip r:embed="rId2"/>
          <a:stretch>
            <a:fillRect/>
          </a:stretch>
        </p:blipFill>
        <p:spPr>
          <a:xfrm>
            <a:off x="758952" y="2560320"/>
            <a:ext cx="237744" cy="237744"/>
          </a:xfrm>
          <a:prstGeom prst="rect">
            <a:avLst/>
          </a:prstGeom>
        </p:spPr>
      </p:pic>
      <p:sp>
        <p:nvSpPr>
          <p:cNvPr id="10" name="Text 6"/>
          <p:cNvSpPr txBox="1"/>
          <p:nvPr/>
        </p:nvSpPr>
        <p:spPr>
          <a:xfrm>
            <a:off x="1325880" y="2258568"/>
            <a:ext cx="5577840" cy="850392"/>
          </a:xfrm>
          <a:prstGeom prst="rect">
            <a:avLst/>
          </a:prstGeom>
          <a:noFill/>
          <a:ln/>
        </p:spPr>
        <p:txBody>
          <a:bodyPr wrap="square" lIns="0" tIns="0" rIns="0" bIns="0" rtlCol="0" anchor="ctr"/>
          <a:lstStyle/>
          <a:p>
            <a:pPr indent="0" marL="0">
              <a:buNone/>
            </a:pPr>
            <a:r>
              <a:rPr lang="en-US" sz="1400" dirty="0">
                <a:solidFill>
                  <a:schemeClr val="tx1"/>
                </a:solidFill>
              </a:rPr>
              <a:t>Data is historical; this is not real-time monitoring.</a:t>
            </a:r>
            <a:endParaRPr lang="en-US" sz="1400" dirty="0"/>
          </a:p>
        </p:txBody>
      </p:sp>
      <p:sp>
        <p:nvSpPr>
          <p:cNvPr id="11" name="card"/>
          <p:cNvSpPr/>
          <p:nvPr/>
        </p:nvSpPr>
        <p:spPr>
          <a:xfrm>
            <a:off x="457200" y="3236976"/>
            <a:ext cx="6583680" cy="850392"/>
          </a:xfrm>
          <a:prstGeom prst="roundRect">
            <a:avLst>
              <a:gd name="adj" fmla="val 10753"/>
            </a:avLst>
          </a:prstGeom>
          <a:solidFill>
            <a:schemeClr val="bg2"/>
          </a:solidFill>
          <a:ln w="12700">
            <a:solidFill>
              <a:schemeClr val="bg1"/>
            </a:solidFill>
            <a:prstDash val="solid"/>
          </a:ln>
        </p:spPr>
      </p:sp>
      <p:sp>
        <p:nvSpPr>
          <p:cNvPr id="12" name="icon-circle"/>
          <p:cNvSpPr/>
          <p:nvPr/>
        </p:nvSpPr>
        <p:spPr>
          <a:xfrm>
            <a:off x="640080" y="3419856"/>
            <a:ext cx="475488" cy="475488"/>
          </a:xfrm>
          <a:prstGeom prst="ellipse">
            <a:avLst/>
          </a:prstGeom>
          <a:solidFill>
            <a:schemeClr val="accent3"/>
          </a:solidFill>
          <a:ln w="12700">
            <a:solidFill>
              <a:schemeClr val="accent3"/>
            </a:solidFill>
            <a:prstDash val="solid"/>
          </a:ln>
        </p:spPr>
      </p:sp>
      <p:pic>
        <p:nvPicPr>
          <p:cNvPr id="13" name="Image 2" descr="ExclamationTriangle icon">    </p:cNvPr>
          <p:cNvPicPr>
            <a:picLocks noChangeAspect="1"/>
          </p:cNvPicPr>
          <p:nvPr/>
        </p:nvPicPr>
        <p:blipFill>
          <a:blip r:embed="rId3"/>
          <a:stretch>
            <a:fillRect/>
          </a:stretch>
        </p:blipFill>
        <p:spPr>
          <a:xfrm>
            <a:off x="758952" y="3538728"/>
            <a:ext cx="237744" cy="237744"/>
          </a:xfrm>
          <a:prstGeom prst="rect">
            <a:avLst/>
          </a:prstGeom>
        </p:spPr>
      </p:pic>
      <p:sp>
        <p:nvSpPr>
          <p:cNvPr id="14" name="Text 9"/>
          <p:cNvSpPr txBox="1"/>
          <p:nvPr/>
        </p:nvSpPr>
        <p:spPr>
          <a:xfrm>
            <a:off x="1325880" y="3236976"/>
            <a:ext cx="5577840" cy="850392"/>
          </a:xfrm>
          <a:prstGeom prst="rect">
            <a:avLst/>
          </a:prstGeom>
          <a:noFill/>
          <a:ln/>
        </p:spPr>
        <p:txBody>
          <a:bodyPr wrap="square" lIns="0" tIns="0" rIns="0" bIns="0" rtlCol="0" anchor="ctr"/>
          <a:lstStyle/>
          <a:p>
            <a:pPr indent="0" marL="0">
              <a:buNone/>
            </a:pPr>
            <a:r>
              <a:rPr lang="en-US" sz="1400" dirty="0">
                <a:solidFill>
                  <a:schemeClr val="tx1"/>
                </a:solidFill>
              </a:rPr>
              <a:t>Individual-level mapping between EHR and wearable datasets has not been established.</a:t>
            </a:r>
            <a:endParaRPr lang="en-US" sz="1400" dirty="0"/>
          </a:p>
        </p:txBody>
      </p:sp>
      <p:sp>
        <p:nvSpPr>
          <p:cNvPr id="15" name="card"/>
          <p:cNvSpPr/>
          <p:nvPr/>
        </p:nvSpPr>
        <p:spPr>
          <a:xfrm>
            <a:off x="457200" y="4215384"/>
            <a:ext cx="6583680" cy="850392"/>
          </a:xfrm>
          <a:prstGeom prst="roundRect">
            <a:avLst>
              <a:gd name="adj" fmla="val 10753"/>
            </a:avLst>
          </a:prstGeom>
          <a:solidFill>
            <a:schemeClr val="bg2"/>
          </a:solidFill>
          <a:ln w="12700">
            <a:solidFill>
              <a:schemeClr val="bg1"/>
            </a:solidFill>
            <a:prstDash val="solid"/>
          </a:ln>
        </p:spPr>
      </p:sp>
      <p:sp>
        <p:nvSpPr>
          <p:cNvPr id="16" name="icon-circle"/>
          <p:cNvSpPr/>
          <p:nvPr/>
        </p:nvSpPr>
        <p:spPr>
          <a:xfrm>
            <a:off x="640080" y="4398264"/>
            <a:ext cx="475488" cy="475488"/>
          </a:xfrm>
          <a:prstGeom prst="ellipse">
            <a:avLst/>
          </a:prstGeom>
          <a:solidFill>
            <a:schemeClr val="accent3"/>
          </a:solidFill>
          <a:ln w="12700">
            <a:solidFill>
              <a:schemeClr val="accent3"/>
            </a:solidFill>
            <a:prstDash val="solid"/>
          </a:ln>
        </p:spPr>
      </p:sp>
      <p:pic>
        <p:nvPicPr>
          <p:cNvPr id="17" name="Image 3" descr="ExclamationTriangle icon">    </p:cNvPr>
          <p:cNvPicPr>
            <a:picLocks noChangeAspect="1"/>
          </p:cNvPicPr>
          <p:nvPr/>
        </p:nvPicPr>
        <p:blipFill>
          <a:blip r:embed="rId4"/>
          <a:stretch>
            <a:fillRect/>
          </a:stretch>
        </p:blipFill>
        <p:spPr>
          <a:xfrm>
            <a:off x="758952" y="4517136"/>
            <a:ext cx="237744" cy="237744"/>
          </a:xfrm>
          <a:prstGeom prst="rect">
            <a:avLst/>
          </a:prstGeom>
        </p:spPr>
      </p:pic>
      <p:sp>
        <p:nvSpPr>
          <p:cNvPr id="18" name="Text 12"/>
          <p:cNvSpPr txBox="1"/>
          <p:nvPr/>
        </p:nvSpPr>
        <p:spPr>
          <a:xfrm>
            <a:off x="1325880" y="4215384"/>
            <a:ext cx="5577840" cy="850392"/>
          </a:xfrm>
          <a:prstGeom prst="rect">
            <a:avLst/>
          </a:prstGeom>
          <a:noFill/>
          <a:ln/>
        </p:spPr>
        <p:txBody>
          <a:bodyPr wrap="square" lIns="0" tIns="0" rIns="0" bIns="0" rtlCol="0" anchor="ctr"/>
          <a:lstStyle/>
          <a:p>
            <a:pPr indent="0" marL="0">
              <a:buNone/>
            </a:pPr>
            <a:r>
              <a:rPr lang="en-US" sz="1400" dirty="0">
                <a:solidFill>
                  <a:schemeClr val="tx1"/>
                </a:solidFill>
              </a:rPr>
              <a:t>The current glucose model does not use EHR variables.</a:t>
            </a:r>
            <a:endParaRPr lang="en-US" sz="1400" dirty="0"/>
          </a:p>
        </p:txBody>
      </p:sp>
      <p:sp>
        <p:nvSpPr>
          <p:cNvPr id="19" name="card"/>
          <p:cNvSpPr/>
          <p:nvPr/>
        </p:nvSpPr>
        <p:spPr>
          <a:xfrm>
            <a:off x="457200" y="5193792"/>
            <a:ext cx="6583680" cy="850392"/>
          </a:xfrm>
          <a:prstGeom prst="roundRect">
            <a:avLst>
              <a:gd name="adj" fmla="val 10753"/>
            </a:avLst>
          </a:prstGeom>
          <a:solidFill>
            <a:schemeClr val="bg2"/>
          </a:solidFill>
          <a:ln w="12700">
            <a:solidFill>
              <a:schemeClr val="bg1"/>
            </a:solidFill>
            <a:prstDash val="solid"/>
          </a:ln>
        </p:spPr>
      </p:sp>
      <p:sp>
        <p:nvSpPr>
          <p:cNvPr id="20" name="icon-circle"/>
          <p:cNvSpPr/>
          <p:nvPr/>
        </p:nvSpPr>
        <p:spPr>
          <a:xfrm>
            <a:off x="640080" y="5376672"/>
            <a:ext cx="475488" cy="475488"/>
          </a:xfrm>
          <a:prstGeom prst="ellipse">
            <a:avLst/>
          </a:prstGeom>
          <a:solidFill>
            <a:schemeClr val="accent3"/>
          </a:solidFill>
          <a:ln w="12700">
            <a:solidFill>
              <a:schemeClr val="accent3"/>
            </a:solidFill>
            <a:prstDash val="solid"/>
          </a:ln>
        </p:spPr>
      </p:sp>
      <p:pic>
        <p:nvPicPr>
          <p:cNvPr id="21" name="Image 4" descr="ExclamationTriangle icon">    </p:cNvPr>
          <p:cNvPicPr>
            <a:picLocks noChangeAspect="1"/>
          </p:cNvPicPr>
          <p:nvPr/>
        </p:nvPicPr>
        <p:blipFill>
          <a:blip r:embed="rId5"/>
          <a:stretch>
            <a:fillRect/>
          </a:stretch>
        </p:blipFill>
        <p:spPr>
          <a:xfrm>
            <a:off x="758952" y="5495544"/>
            <a:ext cx="237744" cy="237744"/>
          </a:xfrm>
          <a:prstGeom prst="rect">
            <a:avLst/>
          </a:prstGeom>
        </p:spPr>
      </p:pic>
      <p:sp>
        <p:nvSpPr>
          <p:cNvPr id="22" name="Text 15"/>
          <p:cNvSpPr txBox="1"/>
          <p:nvPr/>
        </p:nvSpPr>
        <p:spPr>
          <a:xfrm>
            <a:off x="1325880" y="5193792"/>
            <a:ext cx="5577840" cy="850392"/>
          </a:xfrm>
          <a:prstGeom prst="rect">
            <a:avLst/>
          </a:prstGeom>
          <a:noFill/>
          <a:ln/>
        </p:spPr>
        <p:txBody>
          <a:bodyPr wrap="square" lIns="0" tIns="0" rIns="0" bIns="0" rtlCol="0" anchor="ctr"/>
          <a:lstStyle/>
          <a:p>
            <a:pPr indent="0" marL="0">
              <a:buNone/>
            </a:pPr>
            <a:r>
              <a:rPr lang="en-US" sz="1400" dirty="0">
                <a:solidFill>
                  <a:schemeClr val="tx1"/>
                </a:solidFill>
              </a:rPr>
              <a:t>Recorded performance does not establish clinical usefulness or guaranteed generalization.</a:t>
            </a:r>
            <a:endParaRPr lang="en-US" sz="1400" dirty="0"/>
          </a:p>
        </p:txBody>
      </p:sp>
      <p:sp>
        <p:nvSpPr>
          <p:cNvPr id="23" name="card"/>
          <p:cNvSpPr/>
          <p:nvPr/>
        </p:nvSpPr>
        <p:spPr>
          <a:xfrm>
            <a:off x="7315200" y="1280160"/>
            <a:ext cx="4416552" cy="2697480"/>
          </a:xfrm>
          <a:prstGeom prst="roundRect">
            <a:avLst>
              <a:gd name="adj" fmla="val 3390"/>
            </a:avLst>
          </a:prstGeom>
          <a:solidFill>
            <a:schemeClr val="accent6"/>
          </a:solidFill>
          <a:ln w="19050">
            <a:solidFill>
              <a:schemeClr val="accent1"/>
            </a:solidFill>
            <a:prstDash val="solid"/>
          </a:ln>
        </p:spPr>
      </p:sp>
      <p:sp>
        <p:nvSpPr>
          <p:cNvPr id="24" name="Text 17"/>
          <p:cNvSpPr txBox="1"/>
          <p:nvPr/>
        </p:nvSpPr>
        <p:spPr>
          <a:xfrm>
            <a:off x="7543800" y="1417320"/>
            <a:ext cx="3931920" cy="365760"/>
          </a:xfrm>
          <a:prstGeom prst="rect">
            <a:avLst/>
          </a:prstGeom>
          <a:noFill/>
          <a:ln/>
        </p:spPr>
        <p:txBody>
          <a:bodyPr wrap="square" lIns="0" tIns="0" rIns="0" bIns="0" rtlCol="0" anchor="t"/>
          <a:lstStyle/>
          <a:p>
            <a:pPr indent="0" marL="0">
              <a:buNone/>
            </a:pPr>
            <a:r>
              <a:rPr lang="en-US" sz="2000" b="1" dirty="0">
                <a:solidFill>
                  <a:schemeClr val="tx1"/>
                </a:solidFill>
              </a:rPr>
              <a:t>Future work</a:t>
            </a:r>
            <a:endParaRPr lang="en-US" sz="2000" dirty="0"/>
          </a:p>
        </p:txBody>
      </p:sp>
      <p:sp>
        <p:nvSpPr>
          <p:cNvPr id="25" name="Shape 18"/>
          <p:cNvSpPr/>
          <p:nvPr/>
        </p:nvSpPr>
        <p:spPr>
          <a:xfrm>
            <a:off x="7589520" y="2075688"/>
            <a:ext cx="109728" cy="109728"/>
          </a:xfrm>
          <a:prstGeom prst="ellipse">
            <a:avLst/>
          </a:prstGeom>
          <a:solidFill>
            <a:schemeClr val="accent1"/>
          </a:solidFill>
          <a:ln w="12700">
            <a:solidFill>
              <a:schemeClr val="accent1"/>
            </a:solidFill>
            <a:prstDash val="solid"/>
          </a:ln>
        </p:spPr>
      </p:sp>
      <p:sp>
        <p:nvSpPr>
          <p:cNvPr id="26" name="Text 19"/>
          <p:cNvSpPr txBox="1"/>
          <p:nvPr/>
        </p:nvSpPr>
        <p:spPr>
          <a:xfrm>
            <a:off x="7818120" y="1920240"/>
            <a:ext cx="3703320" cy="566928"/>
          </a:xfrm>
          <a:prstGeom prst="rect">
            <a:avLst/>
          </a:prstGeom>
          <a:noFill/>
          <a:ln/>
        </p:spPr>
        <p:txBody>
          <a:bodyPr wrap="square" lIns="0" tIns="0" rIns="0" bIns="0" rtlCol="0" anchor="ctr"/>
          <a:lstStyle/>
          <a:p>
            <a:pPr indent="0" marL="0">
              <a:buNone/>
            </a:pPr>
            <a:r>
              <a:rPr lang="en-US" sz="1400" dirty="0">
                <a:solidFill>
                  <a:schemeClr val="tx2"/>
                </a:solidFill>
              </a:rPr>
              <a:t>Further validation</a:t>
            </a:r>
            <a:endParaRPr lang="en-US" sz="1400" dirty="0"/>
          </a:p>
        </p:txBody>
      </p:sp>
      <p:sp>
        <p:nvSpPr>
          <p:cNvPr id="27" name="Shape 20"/>
          <p:cNvSpPr/>
          <p:nvPr/>
        </p:nvSpPr>
        <p:spPr>
          <a:xfrm>
            <a:off x="7589520" y="2697480"/>
            <a:ext cx="109728" cy="109728"/>
          </a:xfrm>
          <a:prstGeom prst="ellipse">
            <a:avLst/>
          </a:prstGeom>
          <a:solidFill>
            <a:schemeClr val="accent1"/>
          </a:solidFill>
          <a:ln w="12700">
            <a:solidFill>
              <a:schemeClr val="accent1"/>
            </a:solidFill>
            <a:prstDash val="solid"/>
          </a:ln>
        </p:spPr>
      </p:sp>
      <p:sp>
        <p:nvSpPr>
          <p:cNvPr id="28" name="Text 21"/>
          <p:cNvSpPr txBox="1"/>
          <p:nvPr/>
        </p:nvSpPr>
        <p:spPr>
          <a:xfrm>
            <a:off x="7818120" y="2542032"/>
            <a:ext cx="3703320" cy="566928"/>
          </a:xfrm>
          <a:prstGeom prst="rect">
            <a:avLst/>
          </a:prstGeom>
          <a:noFill/>
          <a:ln/>
        </p:spPr>
        <p:txBody>
          <a:bodyPr wrap="square" lIns="0" tIns="0" rIns="0" bIns="0" rtlCol="0" anchor="ctr"/>
          <a:lstStyle/>
          <a:p>
            <a:pPr indent="0" marL="0">
              <a:buNone/>
            </a:pPr>
            <a:r>
              <a:rPr lang="en-US" sz="1400" dirty="0">
                <a:solidFill>
                  <a:schemeClr val="tx2"/>
                </a:solidFill>
              </a:rPr>
              <a:t>Data reconciliation, if valid patient-level linkage becomes available</a:t>
            </a:r>
            <a:endParaRPr lang="en-US" sz="1400" dirty="0"/>
          </a:p>
        </p:txBody>
      </p:sp>
      <p:sp>
        <p:nvSpPr>
          <p:cNvPr id="29" name="Shape 22"/>
          <p:cNvSpPr/>
          <p:nvPr/>
        </p:nvSpPr>
        <p:spPr>
          <a:xfrm>
            <a:off x="7589520" y="3319272"/>
            <a:ext cx="109728" cy="109728"/>
          </a:xfrm>
          <a:prstGeom prst="ellipse">
            <a:avLst/>
          </a:prstGeom>
          <a:solidFill>
            <a:schemeClr val="accent1"/>
          </a:solidFill>
          <a:ln w="12700">
            <a:solidFill>
              <a:schemeClr val="accent1"/>
            </a:solidFill>
            <a:prstDash val="solid"/>
          </a:ln>
        </p:spPr>
      </p:sp>
      <p:sp>
        <p:nvSpPr>
          <p:cNvPr id="30" name="Text 23"/>
          <p:cNvSpPr txBox="1"/>
          <p:nvPr/>
        </p:nvSpPr>
        <p:spPr>
          <a:xfrm>
            <a:off x="7818120" y="3163824"/>
            <a:ext cx="3703320" cy="566928"/>
          </a:xfrm>
          <a:prstGeom prst="rect">
            <a:avLst/>
          </a:prstGeom>
          <a:noFill/>
          <a:ln/>
        </p:spPr>
        <p:txBody>
          <a:bodyPr wrap="square" lIns="0" tIns="0" rIns="0" bIns="0" rtlCol="0" anchor="ctr"/>
          <a:lstStyle/>
          <a:p>
            <a:pPr indent="0" marL="0">
              <a:buNone/>
            </a:pPr>
            <a:r>
              <a:rPr lang="en-US" sz="1400" dirty="0">
                <a:solidFill>
                  <a:schemeClr val="tx2"/>
                </a:solidFill>
              </a:rPr>
              <a:t>Additional participant-level evaluation</a:t>
            </a:r>
            <a:endParaRPr lang="en-US" sz="1400" dirty="0"/>
          </a:p>
        </p:txBody>
      </p:sp>
      <p:pic>
        <p:nvPicPr>
          <p:cNvPr id="31" name="Image 5" descr="Limitations card from the dashboard About This Project section">    </p:cNvPr>
          <p:cNvPicPr>
            <a:picLocks noChangeAspect="1"/>
          </p:cNvPicPr>
          <p:nvPr/>
        </p:nvPicPr>
        <p:blipFill>
          <a:blip r:embed="rId6"/>
          <a:stretch>
            <a:fillRect/>
          </a:stretch>
        </p:blipFill>
        <p:spPr>
          <a:xfrm>
            <a:off x="7315200" y="4251960"/>
            <a:ext cx="4416552" cy="1075151"/>
          </a:xfrm>
          <a:prstGeom prst="rect">
            <a:avLst/>
          </a:prstGeom>
        </p:spPr>
      </p:pic>
      <p:sp>
        <p:nvSpPr>
          <p:cNvPr id="32" name="image-frame"/>
          <p:cNvSpPr/>
          <p:nvPr/>
        </p:nvSpPr>
        <p:spPr>
          <a:xfrm>
            <a:off x="7315200" y="4251960"/>
            <a:ext cx="4416552" cy="1075151"/>
          </a:xfrm>
          <a:prstGeom prst="rect">
            <a:avLst/>
          </a:prstGeom>
          <a:ln w="12700">
            <a:solidFill>
              <a:schemeClr val="accent5"/>
            </a:solidFill>
            <a:prstDash val="solid"/>
          </a:ln>
        </p:spPr>
      </p:sp>
      <p:sp>
        <p:nvSpPr>
          <p:cNvPr id="33" name="Text 25"/>
          <p:cNvSpPr txBox="1"/>
          <p:nvPr/>
        </p:nvSpPr>
        <p:spPr>
          <a:xfrm>
            <a:off x="7315200" y="5400263"/>
            <a:ext cx="4416552" cy="457200"/>
          </a:xfrm>
          <a:prstGeom prst="rect">
            <a:avLst/>
          </a:prstGeom>
          <a:noFill/>
          <a:ln/>
        </p:spPr>
        <p:txBody>
          <a:bodyPr wrap="square" lIns="0" tIns="0" rIns="0" bIns="0" rtlCol="0" anchor="t"/>
          <a:lstStyle/>
          <a:p>
            <a:pPr indent="0" marL="0">
              <a:buNone/>
            </a:pPr>
            <a:r>
              <a:rPr lang="en-US" sz="1200" dirty="0">
                <a:solidFill>
                  <a:schemeClr val="accent4"/>
                </a:solidFill>
              </a:rPr>
              <a:t>The dashboard shows the same caveat in its About This Project section.</a:t>
            </a:r>
            <a:endParaRPr lang="en-US" sz="1200" dirty="0"/>
          </a:p>
        </p:txBody>
      </p:sp>
      <p:sp>
        <p:nvSpPr>
          <p:cNvPr id="25" name="Slide Number Placeholder 0"/>
          <p:cNvSpPr>
            <a:spLocks noGrp="1"/>
          </p:cNvSpPr>
          <p:nvPr>
            <p:ph type="sldNum" sz="quarter" idx="4294967295"/>
          </p:nvPr>
        </p:nvSpPr>
        <p:spPr>
          <a:xfrm>
            <a:off x="10972800" y="6446520"/>
            <a:ext cx="75895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685800"/>
          </a:xfrm>
          <a:prstGeom prst="rect">
            <a:avLst/>
          </a:prstGeom>
          <a:noFill/>
          <a:ln/>
        </p:spPr>
        <p:txBody>
          <a:bodyPr wrap="square" lIns="0" tIns="0" rIns="0" bIns="0" rtlCol="0" anchor="ctr"/>
          <a:lstStyle/>
          <a:p>
            <a:pPr algn="l" indent="0" marL="0">
              <a:buNone/>
            </a:pPr>
            <a:r>
              <a:rPr lang="en-US" sz="3200" b="1" dirty="0">
                <a:solidFill>
                  <a:schemeClr val="bg1"/>
                </a:solidFill>
              </a:rPr>
              <a:t>Conclusion</a:t>
            </a:r>
            <a:endParaRPr lang="en-US" sz="3200" dirty="0"/>
          </a:p>
        </p:txBody>
      </p:sp>
      <p:sp>
        <p:nvSpPr>
          <p:cNvPr id="3" name="card"/>
          <p:cNvSpPr/>
          <p:nvPr/>
        </p:nvSpPr>
        <p:spPr>
          <a:xfrm>
            <a:off x="457200" y="1325880"/>
            <a:ext cx="2679192" cy="2331720"/>
          </a:xfrm>
          <a:prstGeom prst="roundRect">
            <a:avLst>
              <a:gd name="adj" fmla="val 3922"/>
            </a:avLst>
          </a:prstGeom>
          <a:solidFill>
            <a:srgbClr val="FFFFFF">
              <a:alpha val="8000"/>
            </a:srgbClr>
          </a:solidFill>
          <a:ln w="15875">
            <a:solidFill>
              <a:schemeClr val="accent1"/>
            </a:solidFill>
            <a:prstDash val="solid"/>
          </a:ln>
        </p:spPr>
      </p:sp>
      <p:sp>
        <p:nvSpPr>
          <p:cNvPr id="4" name="icon-circle"/>
          <p:cNvSpPr/>
          <p:nvPr/>
        </p:nvSpPr>
        <p:spPr>
          <a:xfrm>
            <a:off x="685800" y="1554480"/>
            <a:ext cx="566928" cy="566928"/>
          </a:xfrm>
          <a:prstGeom prst="ellipse">
            <a:avLst/>
          </a:prstGeom>
          <a:solidFill>
            <a:schemeClr val="accent1"/>
          </a:solidFill>
          <a:ln w="12700">
            <a:solidFill>
              <a:schemeClr val="accent1"/>
            </a:solidFill>
            <a:prstDash val="solid"/>
          </a:ln>
        </p:spPr>
      </p:sp>
      <p:pic>
        <p:nvPicPr>
          <p:cNvPr id="5" name="Image 0" descr="ClipboardCheck icon">    </p:cNvPr>
          <p:cNvPicPr>
            <a:picLocks noChangeAspect="1"/>
          </p:cNvPicPr>
          <p:nvPr/>
        </p:nvPicPr>
        <p:blipFill>
          <a:blip r:embed="rId1"/>
          <a:stretch>
            <a:fillRect/>
          </a:stretch>
        </p:blipFill>
        <p:spPr>
          <a:xfrm>
            <a:off x="827532" y="1696212"/>
            <a:ext cx="283464" cy="283464"/>
          </a:xfrm>
          <a:prstGeom prst="rect">
            <a:avLst/>
          </a:prstGeom>
        </p:spPr>
      </p:pic>
      <p:sp>
        <p:nvSpPr>
          <p:cNvPr id="6" name="Text 3"/>
          <p:cNvSpPr txBox="1"/>
          <p:nvPr/>
        </p:nvSpPr>
        <p:spPr>
          <a:xfrm>
            <a:off x="685800" y="2286000"/>
            <a:ext cx="2286000" cy="365760"/>
          </a:xfrm>
          <a:prstGeom prst="rect">
            <a:avLst/>
          </a:prstGeom>
          <a:noFill/>
          <a:ln/>
        </p:spPr>
        <p:txBody>
          <a:bodyPr wrap="square" lIns="0" tIns="0" rIns="0" bIns="0" rtlCol="0" anchor="t"/>
          <a:lstStyle/>
          <a:p>
            <a:pPr indent="0" marL="0">
              <a:buNone/>
            </a:pPr>
            <a:r>
              <a:rPr lang="en-US" sz="1800" b="1" dirty="0">
                <a:solidFill>
                  <a:schemeClr val="bg1"/>
                </a:solidFill>
              </a:rPr>
              <a:t>EHR quality pipeline</a:t>
            </a:r>
            <a:endParaRPr lang="en-US" sz="1800" dirty="0"/>
          </a:p>
        </p:txBody>
      </p:sp>
      <p:sp>
        <p:nvSpPr>
          <p:cNvPr id="7" name="Text 4"/>
          <p:cNvSpPr txBox="1"/>
          <p:nvPr/>
        </p:nvSpPr>
        <p:spPr>
          <a:xfrm>
            <a:off x="685800" y="2697480"/>
            <a:ext cx="2286000" cy="1188720"/>
          </a:xfrm>
          <a:prstGeom prst="rect">
            <a:avLst/>
          </a:prstGeom>
          <a:noFill/>
          <a:ln/>
        </p:spPr>
        <p:txBody>
          <a:bodyPr wrap="square" lIns="0" tIns="0" rIns="0" bIns="0" rtlCol="0" anchor="t"/>
          <a:lstStyle/>
          <a:p>
            <a:pPr indent="0" marL="0">
              <a:buNone/>
            </a:pPr>
            <a:r>
              <a:rPr lang="en-US" sz="1400" dirty="0">
                <a:solidFill>
                  <a:srgbClr val="CADCFC"/>
                </a:solidFill>
              </a:rPr>
              <a:t>Inspection, preprocessing and quality reports</a:t>
            </a:r>
            <a:endParaRPr lang="en-US" sz="1400" dirty="0"/>
          </a:p>
        </p:txBody>
      </p:sp>
      <p:sp>
        <p:nvSpPr>
          <p:cNvPr id="8" name="card"/>
          <p:cNvSpPr/>
          <p:nvPr/>
        </p:nvSpPr>
        <p:spPr>
          <a:xfrm>
            <a:off x="3291840" y="1325880"/>
            <a:ext cx="2679192" cy="2331720"/>
          </a:xfrm>
          <a:prstGeom prst="roundRect">
            <a:avLst>
              <a:gd name="adj" fmla="val 3922"/>
            </a:avLst>
          </a:prstGeom>
          <a:solidFill>
            <a:srgbClr val="FFFFFF">
              <a:alpha val="8000"/>
            </a:srgbClr>
          </a:solidFill>
          <a:ln w="15875">
            <a:solidFill>
              <a:schemeClr val="accent1"/>
            </a:solidFill>
            <a:prstDash val="solid"/>
          </a:ln>
        </p:spPr>
      </p:sp>
      <p:sp>
        <p:nvSpPr>
          <p:cNvPr id="9" name="icon-circle"/>
          <p:cNvSpPr/>
          <p:nvPr/>
        </p:nvSpPr>
        <p:spPr>
          <a:xfrm>
            <a:off x="3520440" y="1554480"/>
            <a:ext cx="566928" cy="566928"/>
          </a:xfrm>
          <a:prstGeom prst="ellipse">
            <a:avLst/>
          </a:prstGeom>
          <a:solidFill>
            <a:schemeClr val="accent1"/>
          </a:solidFill>
          <a:ln w="12700">
            <a:solidFill>
              <a:schemeClr val="accent1"/>
            </a:solidFill>
            <a:prstDash val="solid"/>
          </a:ln>
        </p:spPr>
      </p:sp>
      <p:pic>
        <p:nvPicPr>
          <p:cNvPr id="10" name="Image 1" descr="ChartLine icon">    </p:cNvPr>
          <p:cNvPicPr>
            <a:picLocks noChangeAspect="1"/>
          </p:cNvPicPr>
          <p:nvPr/>
        </p:nvPicPr>
        <p:blipFill>
          <a:blip r:embed="rId2"/>
          <a:stretch>
            <a:fillRect/>
          </a:stretch>
        </p:blipFill>
        <p:spPr>
          <a:xfrm>
            <a:off x="3662172" y="1696212"/>
            <a:ext cx="283464" cy="283464"/>
          </a:xfrm>
          <a:prstGeom prst="rect">
            <a:avLst/>
          </a:prstGeom>
        </p:spPr>
      </p:pic>
      <p:sp>
        <p:nvSpPr>
          <p:cNvPr id="11" name="Text 7"/>
          <p:cNvSpPr txBox="1"/>
          <p:nvPr/>
        </p:nvSpPr>
        <p:spPr>
          <a:xfrm>
            <a:off x="3520440" y="2286000"/>
            <a:ext cx="2286000" cy="365760"/>
          </a:xfrm>
          <a:prstGeom prst="rect">
            <a:avLst/>
          </a:prstGeom>
          <a:noFill/>
          <a:ln/>
        </p:spPr>
        <p:txBody>
          <a:bodyPr wrap="square" lIns="0" tIns="0" rIns="0" bIns="0" rtlCol="0" anchor="t"/>
          <a:lstStyle/>
          <a:p>
            <a:pPr indent="0" marL="0">
              <a:buNone/>
            </a:pPr>
            <a:r>
              <a:rPr lang="en-US" sz="1800" b="1" dirty="0">
                <a:solidFill>
                  <a:schemeClr val="bg1"/>
                </a:solidFill>
              </a:rPr>
              <a:t>Experimental forecast</a:t>
            </a:r>
            <a:endParaRPr lang="en-US" sz="1800" dirty="0"/>
          </a:p>
        </p:txBody>
      </p:sp>
      <p:sp>
        <p:nvSpPr>
          <p:cNvPr id="12" name="Text 8"/>
          <p:cNvSpPr txBox="1"/>
          <p:nvPr/>
        </p:nvSpPr>
        <p:spPr>
          <a:xfrm>
            <a:off x="3520440" y="2697480"/>
            <a:ext cx="2286000" cy="1188720"/>
          </a:xfrm>
          <a:prstGeom prst="rect">
            <a:avLst/>
          </a:prstGeom>
          <a:noFill/>
          <a:ln/>
        </p:spPr>
        <p:txBody>
          <a:bodyPr wrap="square" lIns="0" tIns="0" rIns="0" bIns="0" rtlCol="0" anchor="t"/>
          <a:lstStyle/>
          <a:p>
            <a:pPr indent="0" marL="0">
              <a:buNone/>
            </a:pPr>
            <a:r>
              <a:rPr lang="en-US" sz="1400" dirty="0">
                <a:solidFill>
                  <a:srgbClr val="CADCFC"/>
                </a:solidFill>
              </a:rPr>
              <a:t>Wearable features and HistGradientBoostingRegressor, 120 minutes ahead</a:t>
            </a:r>
            <a:endParaRPr lang="en-US" sz="1400" dirty="0"/>
          </a:p>
        </p:txBody>
      </p:sp>
      <p:sp>
        <p:nvSpPr>
          <p:cNvPr id="13" name="card"/>
          <p:cNvSpPr/>
          <p:nvPr/>
        </p:nvSpPr>
        <p:spPr>
          <a:xfrm>
            <a:off x="6126480" y="1325880"/>
            <a:ext cx="2679192" cy="2331720"/>
          </a:xfrm>
          <a:prstGeom prst="roundRect">
            <a:avLst>
              <a:gd name="adj" fmla="val 3922"/>
            </a:avLst>
          </a:prstGeom>
          <a:solidFill>
            <a:srgbClr val="FFFFFF">
              <a:alpha val="8000"/>
            </a:srgbClr>
          </a:solidFill>
          <a:ln w="15875">
            <a:solidFill>
              <a:schemeClr val="accent1"/>
            </a:solidFill>
            <a:prstDash val="solid"/>
          </a:ln>
        </p:spPr>
      </p:sp>
      <p:sp>
        <p:nvSpPr>
          <p:cNvPr id="14" name="icon-circle"/>
          <p:cNvSpPr/>
          <p:nvPr/>
        </p:nvSpPr>
        <p:spPr>
          <a:xfrm>
            <a:off x="6355080" y="1554480"/>
            <a:ext cx="566928" cy="566928"/>
          </a:xfrm>
          <a:prstGeom prst="ellipse">
            <a:avLst/>
          </a:prstGeom>
          <a:solidFill>
            <a:schemeClr val="accent1"/>
          </a:solidFill>
          <a:ln w="12700">
            <a:solidFill>
              <a:schemeClr val="accent1"/>
            </a:solidFill>
            <a:prstDash val="solid"/>
          </a:ln>
        </p:spPr>
      </p:sp>
      <p:pic>
        <p:nvPicPr>
          <p:cNvPr id="15" name="Image 2" descr="Server icon">    </p:cNvPr>
          <p:cNvPicPr>
            <a:picLocks noChangeAspect="1"/>
          </p:cNvPicPr>
          <p:nvPr/>
        </p:nvPicPr>
        <p:blipFill>
          <a:blip r:embed="rId3"/>
          <a:stretch>
            <a:fillRect/>
          </a:stretch>
        </p:blipFill>
        <p:spPr>
          <a:xfrm>
            <a:off x="6496812" y="1696212"/>
            <a:ext cx="283464" cy="283464"/>
          </a:xfrm>
          <a:prstGeom prst="rect">
            <a:avLst/>
          </a:prstGeom>
        </p:spPr>
      </p:pic>
      <p:sp>
        <p:nvSpPr>
          <p:cNvPr id="16" name="Text 11"/>
          <p:cNvSpPr txBox="1"/>
          <p:nvPr/>
        </p:nvSpPr>
        <p:spPr>
          <a:xfrm>
            <a:off x="6355080" y="2286000"/>
            <a:ext cx="2286000" cy="365760"/>
          </a:xfrm>
          <a:prstGeom prst="rect">
            <a:avLst/>
          </a:prstGeom>
          <a:noFill/>
          <a:ln/>
        </p:spPr>
        <p:txBody>
          <a:bodyPr wrap="square" lIns="0" tIns="0" rIns="0" bIns="0" rtlCol="0" anchor="t"/>
          <a:lstStyle/>
          <a:p>
            <a:pPr indent="0" marL="0">
              <a:buNone/>
            </a:pPr>
            <a:r>
              <a:rPr lang="en-US" sz="1800" b="1" dirty="0">
                <a:solidFill>
                  <a:schemeClr val="bg1"/>
                </a:solidFill>
              </a:rPr>
              <a:t>Flask API</a:t>
            </a:r>
            <a:endParaRPr lang="en-US" sz="1800" dirty="0"/>
          </a:p>
        </p:txBody>
      </p:sp>
      <p:sp>
        <p:nvSpPr>
          <p:cNvPr id="17" name="Text 12"/>
          <p:cNvSpPr txBox="1"/>
          <p:nvPr/>
        </p:nvSpPr>
        <p:spPr>
          <a:xfrm>
            <a:off x="6355080" y="2697480"/>
            <a:ext cx="2286000" cy="1188720"/>
          </a:xfrm>
          <a:prstGeom prst="rect">
            <a:avLst/>
          </a:prstGeom>
          <a:noFill/>
          <a:ln/>
        </p:spPr>
        <p:txBody>
          <a:bodyPr wrap="square" lIns="0" tIns="0" rIns="0" bIns="0" rtlCol="0" anchor="t"/>
          <a:lstStyle/>
          <a:p>
            <a:pPr indent="0" marL="0">
              <a:buNone/>
            </a:pPr>
            <a:r>
              <a:rPr lang="en-US" sz="1400" dirty="0">
                <a:solidFill>
                  <a:srgbClr val="CADCFC"/>
                </a:solidFill>
              </a:rPr>
              <a:t>Three GET routes for participants, history and prediction</a:t>
            </a:r>
            <a:endParaRPr lang="en-US" sz="1400" dirty="0"/>
          </a:p>
        </p:txBody>
      </p:sp>
      <p:sp>
        <p:nvSpPr>
          <p:cNvPr id="18" name="card"/>
          <p:cNvSpPr/>
          <p:nvPr/>
        </p:nvSpPr>
        <p:spPr>
          <a:xfrm>
            <a:off x="8961120" y="1325880"/>
            <a:ext cx="2679192" cy="2331720"/>
          </a:xfrm>
          <a:prstGeom prst="roundRect">
            <a:avLst>
              <a:gd name="adj" fmla="val 3922"/>
            </a:avLst>
          </a:prstGeom>
          <a:solidFill>
            <a:srgbClr val="FFFFFF">
              <a:alpha val="8000"/>
            </a:srgbClr>
          </a:solidFill>
          <a:ln w="15875">
            <a:solidFill>
              <a:schemeClr val="accent1"/>
            </a:solidFill>
            <a:prstDash val="solid"/>
          </a:ln>
        </p:spPr>
      </p:sp>
      <p:sp>
        <p:nvSpPr>
          <p:cNvPr id="19" name="icon-circle"/>
          <p:cNvSpPr/>
          <p:nvPr/>
        </p:nvSpPr>
        <p:spPr>
          <a:xfrm>
            <a:off x="9189720" y="1554480"/>
            <a:ext cx="566928" cy="566928"/>
          </a:xfrm>
          <a:prstGeom prst="ellipse">
            <a:avLst/>
          </a:prstGeom>
          <a:solidFill>
            <a:schemeClr val="accent1"/>
          </a:solidFill>
          <a:ln w="12700">
            <a:solidFill>
              <a:schemeClr val="accent1"/>
            </a:solidFill>
            <a:prstDash val="solid"/>
          </a:ln>
        </p:spPr>
      </p:sp>
      <p:pic>
        <p:nvPicPr>
          <p:cNvPr id="20" name="Image 3" descr="Desktop icon">    </p:cNvPr>
          <p:cNvPicPr>
            <a:picLocks noChangeAspect="1"/>
          </p:cNvPicPr>
          <p:nvPr/>
        </p:nvPicPr>
        <p:blipFill>
          <a:blip r:embed="rId4"/>
          <a:stretch>
            <a:fillRect/>
          </a:stretch>
        </p:blipFill>
        <p:spPr>
          <a:xfrm>
            <a:off x="9331452" y="1696212"/>
            <a:ext cx="283464" cy="283464"/>
          </a:xfrm>
          <a:prstGeom prst="rect">
            <a:avLst/>
          </a:prstGeom>
        </p:spPr>
      </p:pic>
      <p:sp>
        <p:nvSpPr>
          <p:cNvPr id="21" name="Text 15"/>
          <p:cNvSpPr txBox="1"/>
          <p:nvPr/>
        </p:nvSpPr>
        <p:spPr>
          <a:xfrm>
            <a:off x="9189720" y="2286000"/>
            <a:ext cx="2286000" cy="365760"/>
          </a:xfrm>
          <a:prstGeom prst="rect">
            <a:avLst/>
          </a:prstGeom>
          <a:noFill/>
          <a:ln/>
        </p:spPr>
        <p:txBody>
          <a:bodyPr wrap="square" lIns="0" tIns="0" rIns="0" bIns="0" rtlCol="0" anchor="t"/>
          <a:lstStyle/>
          <a:p>
            <a:pPr indent="0" marL="0">
              <a:buNone/>
            </a:pPr>
            <a:r>
              <a:rPr lang="en-US" sz="1800" b="1" dirty="0">
                <a:solidFill>
                  <a:schemeClr val="bg1"/>
                </a:solidFill>
              </a:rPr>
              <a:t>Web dashboard</a:t>
            </a:r>
            <a:endParaRPr lang="en-US" sz="1800" dirty="0"/>
          </a:p>
        </p:txBody>
      </p:sp>
      <p:sp>
        <p:nvSpPr>
          <p:cNvPr id="22" name="Text 16"/>
          <p:cNvSpPr txBox="1"/>
          <p:nvPr/>
        </p:nvSpPr>
        <p:spPr>
          <a:xfrm>
            <a:off x="9189720" y="2697480"/>
            <a:ext cx="2286000" cy="1188720"/>
          </a:xfrm>
          <a:prstGeom prst="rect">
            <a:avLst/>
          </a:prstGeom>
          <a:noFill/>
          <a:ln/>
        </p:spPr>
        <p:txBody>
          <a:bodyPr wrap="square" lIns="0" tIns="0" rIns="0" bIns="0" rtlCol="0" anchor="t"/>
          <a:lstStyle/>
          <a:p>
            <a:pPr indent="0" marL="0">
              <a:buNone/>
            </a:pPr>
            <a:r>
              <a:rPr lang="en-US" sz="1400" dirty="0">
                <a:solidFill>
                  <a:srgbClr val="CADCFC"/>
                </a:solidFill>
              </a:rPr>
              <a:t>Participant selection, historical readings and forecast view</a:t>
            </a:r>
            <a:endParaRPr lang="en-US" sz="1400" dirty="0"/>
          </a:p>
        </p:txBody>
      </p:sp>
      <p:sp>
        <p:nvSpPr>
          <p:cNvPr id="23" name="Text 17"/>
          <p:cNvSpPr txBox="1"/>
          <p:nvPr/>
        </p:nvSpPr>
        <p:spPr>
          <a:xfrm>
            <a:off x="457200" y="4023360"/>
            <a:ext cx="11274552" cy="411480"/>
          </a:xfrm>
          <a:prstGeom prst="rect">
            <a:avLst/>
          </a:prstGeom>
          <a:noFill/>
          <a:ln/>
        </p:spPr>
        <p:txBody>
          <a:bodyPr wrap="square" lIns="0" tIns="0" rIns="0" bIns="0" rtlCol="0" anchor="t"/>
          <a:lstStyle/>
          <a:p>
            <a:pPr indent="0" marL="0">
              <a:buNone/>
            </a:pPr>
            <a:r>
              <a:rPr lang="en-US" sz="1800" dirty="0">
                <a:solidFill>
                  <a:schemeClr val="bg1"/>
                </a:solidFill>
              </a:rPr>
              <a:t>A proof-of-concept workflow from data preparation to forecast visualization, built on historical datasets.</a:t>
            </a:r>
            <a:endParaRPr lang="en-US" sz="1800" dirty="0"/>
          </a:p>
        </p:txBody>
      </p:sp>
      <p:sp>
        <p:nvSpPr>
          <p:cNvPr id="24" name="Text 18"/>
          <p:cNvSpPr txBox="1"/>
          <p:nvPr/>
        </p:nvSpPr>
        <p:spPr>
          <a:xfrm>
            <a:off x="457200" y="4846320"/>
            <a:ext cx="1188720" cy="365760"/>
          </a:xfrm>
          <a:prstGeom prst="rect">
            <a:avLst/>
          </a:prstGeom>
          <a:noFill/>
          <a:ln/>
        </p:spPr>
        <p:txBody>
          <a:bodyPr wrap="square" lIns="0" tIns="0" rIns="0" bIns="0" rtlCol="0" anchor="ctr"/>
          <a:lstStyle/>
          <a:p>
            <a:pPr indent="0" marL="0">
              <a:buNone/>
            </a:pPr>
            <a:r>
              <a:rPr lang="en-US" sz="1600" b="1" dirty="0">
                <a:solidFill>
                  <a:srgbClr val="7FD6DE"/>
                </a:solidFill>
              </a:rPr>
              <a:t>Repository:</a:t>
            </a:r>
            <a:endParaRPr lang="en-US" sz="1600" dirty="0"/>
          </a:p>
        </p:txBody>
      </p:sp>
      <p:sp>
        <p:nvSpPr>
          <p:cNvPr id="25" name="Text 19"/>
          <p:cNvSpPr txBox="1"/>
          <p:nvPr/>
        </p:nvSpPr>
        <p:spPr>
          <a:xfrm>
            <a:off x="1645920" y="4846320"/>
            <a:ext cx="8229600" cy="365760"/>
          </a:xfrm>
          <a:prstGeom prst="rect">
            <a:avLst/>
          </a:prstGeom>
          <a:noFill/>
          <a:ln/>
        </p:spPr>
        <p:txBody>
          <a:bodyPr wrap="square" lIns="0" tIns="0" rIns="0" bIns="0" rtlCol="0" anchor="ctr"/>
          <a:lstStyle/>
          <a:p>
            <a:pPr indent="0" marL="0">
              <a:buNone/>
            </a:pPr>
            <a:r>
              <a:rPr lang="en-US" sz="1600" u="sng" dirty="0">
                <a:solidFill>
                  <a:srgbClr val="7FD6DE"/>
                </a:solidFill>
                <a:hlinkClick r:id="rId5" invalidUrl="" action="" tgtFrame="" tooltip="Open the GitHub repository" history="1" highlightClick="0" endSnd="0">
                  <a:extLst>
                    <a:ext uri="{A12FA001-AC4F-418D-AE19-62706E023703}">
                      <ahyp:hlinkClr xmlns:ahyp="http://schemas.microsoft.com/office/drawing/2018/hyperlinkcolor" val="tx"/>
                    </a:ext>
                  </a:extLst>
                </a:hlinkClick>
              </a:rPr>
              <a:t>https://github.com/shubhampanchal6376/digital-twin</a:t>
            </a:r>
            <a:endParaRPr lang="en-US" sz="1600" dirty="0"/>
          </a:p>
        </p:txBody>
      </p:sp>
      <p:sp>
        <p:nvSpPr>
          <p:cNvPr id="26" name="Text 20"/>
          <p:cNvSpPr txBox="1"/>
          <p:nvPr/>
        </p:nvSpPr>
        <p:spPr>
          <a:xfrm>
            <a:off x="457200" y="5303520"/>
            <a:ext cx="11274552" cy="365760"/>
          </a:xfrm>
          <a:prstGeom prst="rect">
            <a:avLst/>
          </a:prstGeom>
          <a:noFill/>
          <a:ln/>
        </p:spPr>
        <p:txBody>
          <a:bodyPr wrap="square" lIns="0" tIns="0" rIns="0" bIns="0" rtlCol="0" anchor="t"/>
          <a:lstStyle/>
          <a:p>
            <a:pPr indent="0" marL="0">
              <a:buNone/>
            </a:pPr>
            <a:r>
              <a:rPr lang="en-US" sz="1400" dirty="0">
                <a:solidFill>
                  <a:srgbClr val="CADCFC"/>
                </a:solidFill>
              </a:rPr>
              <a:t>Team Transcendental-Coders  |  Team leader: Madhav Kumar  |  Kamla Nehru Institute of Technology</a:t>
            </a:r>
            <a:endParaRPr lang="en-US" sz="1400" dirty="0"/>
          </a:p>
        </p:txBody>
      </p:sp>
      <p:sp>
        <p:nvSpPr>
          <p:cNvPr id="27" name="card"/>
          <p:cNvSpPr/>
          <p:nvPr/>
        </p:nvSpPr>
        <p:spPr>
          <a:xfrm>
            <a:off x="457200" y="5852160"/>
            <a:ext cx="11274552" cy="548640"/>
          </a:xfrm>
          <a:prstGeom prst="roundRect">
            <a:avLst>
              <a:gd name="adj" fmla="val 16667"/>
            </a:avLst>
          </a:prstGeom>
          <a:solidFill>
            <a:schemeClr val="accent3">
              <a:alpha val="25000"/>
            </a:schemeClr>
          </a:solidFill>
          <a:ln w="15875">
            <a:solidFill>
              <a:schemeClr val="accent3"/>
            </a:solidFill>
            <a:prstDash val="solid"/>
          </a:ln>
        </p:spPr>
      </p:sp>
      <p:sp>
        <p:nvSpPr>
          <p:cNvPr id="28" name="Text 22"/>
          <p:cNvSpPr txBox="1"/>
          <p:nvPr/>
        </p:nvSpPr>
        <p:spPr>
          <a:xfrm>
            <a:off x="731520" y="5852160"/>
            <a:ext cx="10789920" cy="548640"/>
          </a:xfrm>
          <a:prstGeom prst="rect">
            <a:avLst/>
          </a:prstGeom>
          <a:noFill/>
          <a:ln/>
        </p:spPr>
        <p:txBody>
          <a:bodyPr wrap="square" lIns="0" tIns="0" rIns="0" bIns="0" rtlCol="0" anchor="ctr"/>
          <a:lstStyle/>
          <a:p>
            <a:pPr indent="0" marL="0">
              <a:buNone/>
            </a:pPr>
            <a:r>
              <a:rPr lang="en-US" sz="1400" b="1" dirty="0">
                <a:solidFill>
                  <a:schemeClr val="bg1"/>
                </a:solidFill>
              </a:rPr>
              <a:t>Disclaimer: experimental prototype, not clinically validated, historical data, no clinical decision support.</a:t>
            </a:r>
            <a:endParaRPr lang="en-US" sz="1400" dirty="0"/>
          </a:p>
        </p:txBody>
      </p:sp>
    </p:spTree>
  </p:cSld>
  <p:clrMapOvr>
    <a:masterClrMapping/>
  </p:clrMapOvr>
</p:sld>
</file>

<file path=ppt/theme/theme1.xml><?xml version="1.0" encoding="utf-8"?>
<a:theme xmlns:a="http://schemas.openxmlformats.org/drawingml/2006/main" name="Transcendental Health AI">
  <a:themeElements>
    <a:clrScheme name="Transcendental Health AI">
      <a:dk1>
        <a:srgbClr val="0B1F3A"/>
      </a:dk1>
      <a:lt1>
        <a:srgbClr val="FFFFFF"/>
      </a:lt1>
      <a:dk2>
        <a:srgbClr val="333B45"/>
      </a:dk2>
      <a:lt2>
        <a:srgbClr val="F2F7FA"/>
      </a:lt2>
      <a:accent1>
        <a:srgbClr val="0E8C9A"/>
      </a:accent1>
      <a:accent2>
        <a:srgbClr val="1F5FA8"/>
      </a:accent2>
      <a:accent3>
        <a:srgbClr val="C77700"/>
      </a:accent3>
      <a:accent4>
        <a:srgbClr val="5B6775"/>
      </a:accent4>
      <a:accent5>
        <a:srgbClr val="B8C6D3"/>
      </a:accent5>
      <a:accent6>
        <a:srgbClr val="E6F4F6"/>
      </a:accent6>
      <a:hlink>
        <a:srgbClr val="1F5FA8"/>
      </a:hlink>
      <a:folHlink>
        <a:srgbClr val="5B6775"/>
      </a:folHlink>
    </a:clrScheme>
    <a:fontScheme name="Transcendental Health 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Digital Twin Prototype for Two-Hour Glucose Forecasting</dc:title>
  <dc:subject>Happiest Health Digital Twin Challenge 2026</dc:subject>
  <dc:creator>Transcendental-Coders</dc:creator>
  <cp:lastModifiedBy>Transcendental-Coders</cp:lastModifiedBy>
  <cp:revision>1</cp:revision>
  <dcterms:created xsi:type="dcterms:W3CDTF">2026-10-20T06:30:36Z</dcterms:created>
  <dcterms:modified xsi:type="dcterms:W3CDTF">2026-10-20T06:30:36Z</dcterms:modified>
</cp:coreProperties>
</file>